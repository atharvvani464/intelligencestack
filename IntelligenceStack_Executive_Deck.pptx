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'Every enterprise wants to point AI at its private data. The reason they hesitate is the same one every time — the moment an LLM can see the data, it can leak it or be tricked into destroying it. IntelligenceStack is a working answer to that, not a concept.'
Set expectations: ~12 minutes of story, then a live demo you can poke at. The whole thing runs on a laptop and computes real answers from real data — nothing on these slides is mocked.
Demo is already running: FastAPI backend on :8000, Streamlit control plane on :8501.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the three objections you personally hear in every AI review. They are not hypothetical — each has a real headline behind it.
The punchline is the last line: the industry's default answer (ship the data to the model) makes all three worse at once. That sets up the inversion on the next slide.
Don't dwell — 45 seconds. The audience already believes this problem; you're establishing shared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vending-machine analogy lands well here: 'We don't give the AI keys to the warehouse. We give it a vending machine with a fixed set of buttons. It's very good at choosing the right button — but it physically cannot reach behind the glass.'
The right-hand column is the whole thesis. Every later slide is evidence for one of those four lines.
Note the last bullet says 'here is the evidence', not 'here is the allowlist' — since the Trust Center, you can show the actual record of what the AI did, not just what it was permitted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but keep it to one sentence per numbered item — executives don't need the plumbing, they need to see there IS plumbing.
The one line to land: the boundary sits between the agent and the data. The agent never touches tables directly; it can only ask the catalog to run a named, pre-approved function. Item 4 extends that same rule to unstructured knowledge, and item 5 makes every one of those decisions durable evidence.
If someone asks 'is this really Databricks?' — yes: DLT, Unity Catalog, Liquid Clustering, Model Serving, Mosaic AI Vector Search. The sandbox swaps each for a local stand-in with the same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switch-to-live-app slide. Leave it up while you alt-tab to the control plane at localhost:8501.
Run order matters: lead with value (moves 1 and 2) so the room sees the point before the security material. Then 3, 4 and 5 answer 'but can I trust it?' — by trying to break it in front of them.
For each move, read the trace panel aloud. Move 2 is the one to linger on — the trace shows TWO governance checks, one per tool.
Then finish on the Trust Center: the five things you just did are already recorded. That closing beat is what turns a demo into an audit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the agent did not retrieve a canned sentence. It called the anomaly function, got rows back, and phrased them. The chart is the same data, drawn independently — three biased-cohort customers separate cleanly from ~57 normal ones.
The stat tiles are the 'so what': 82% of this customer's traffic is anomalous, at 6x normal latency. That is an actionable finding a business owner can act on today.
The italic line matters for credibility: these numbers are reproducible, not screenshots. Anyone can clone and verify. Swap CUST_404 for CUST_405 live and watch it drop to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architecture has matured beyond 'query a table'. A real operational question needs two different kinds of knowledge — a measurement and a procedure — and until now those lived in two different systems with two different access models.
The key governance point, and say it explicitly: retrieval did not get a special exemption. It is a registered function on the same allowlist, its question is passed as a bound value, and it produced its OWN governance check. In the live trace the room can count two 'Granted' entries — and both are separately recorded in the audit trail.
The closing line is the one to land: the number is from the lakehouse, the recommendation is from an approved document, and the model authored neither. It orchestrated.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aimed squarely at anyone who has been burned by a RAG pilot. Every one of them has seen a demo where the system cheerfully cites an irrelevant document, and it is the reason many of those pilots never shipped.
Walk the chart left to right. The left panel is the trap: if you rank purely by similarity — which is what most RAG implementations do — the off-topic question WINS. That is measured on this corpus, not hypothetical.
The right panel is the fix: require that the question's vocabulary is actually covered by the corpus. Off-topic falls below the line and the system declines.
The maturity signal is knowing a retrieval system needs an abstention policy at all. Most teams discover this in production, after a bad answer reaches a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CISO and Compliance slide, and it is the natural close to the live demo — you have just done five things, now show the room that all five are already on the record.
The framing that matters: a control you cannot evidence is a control you cannot pass an audit with. Most AI governance stories stop at 'we have a policy'. This one produces a queryable record of every decision the boundary made, including every refusal.
Call out the refusal count deliberately. A denial is not an error to be embarrassed about — it is the single best piece of evidence that the control is live and working, and auditors treat it that way.
If you want a memorable beat: kill the API in front of them, restart it, and reload the tab. The trail is unchanged. That is what separates evidence from logging.
Production note if asked: this is a Delta table with retention and access policy applied, or shipped to your SIEM — the record shape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technical people in the room. The histogram shows why the anomaly call is trustworthy: normal traffic clusters near 66ms, the 3σ line sits at 310ms, and the anomaly cohort lives in the far right tail. Nobody picked 310 — it's three standard deviations of the actual data.
The three bullets are the engineering credibility: statistical definition, bound parameters, durable tracing. If a CTO or architect is evaluating this, these are the words that say it was built by someone who has shipped production data systems.
Close on the tests: each claim on these slides has an automated test that fails loudly if it regresses — including one that asserts the agent keeps working when the audit sink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in tone here — you're done with how it works, now it's what it's worth. Four outcomes, each mapped to a number or a one-word promise the audience can repeat later.
Lead with the one that matters most to THIS room. For a CFO, cost. For a CISO, unblocked adoption. For a business unit, days-to-seconds.
The strongest strategic argument is the second tile: most enterprise GenAI initiatives don't fail on capability, they stall in security review. This architecture is what gets them unstuck — that's the real ROI, larger than any single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five — that's death by list. Name the two seats that are actually in the room and let the rest sit as evidence of breadth.
The meta-point: this isn't a security project OR a productivity project OR a cost project. It's one architecture where each stakeholder gets a different win from the same build. That's what makes it fundable — the cost is shared across five value cases.
Use this slide to hand off to whoever owns the next step: 'Whichever of these is your priority, the pilot looks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objection this slide kills: 'nice demo, but it's a toy — production is a rewrite.' No. The seams are deliberate and each is a one-line swap with an identical contract.
Two rows are worth calling out. The vector index: sandbox uses TF-IDF with in-engine cosine, production uses bge-large on Mosaic AI — same storage layout, same query contract, same citations. And the audit log: append-only JSON locally, a Delta table with retention in production — the record shape does not change.
So the pilot isn't 'rebuild for prod' — it's 'repoint at the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one sentence: the choice between AI capability and data governance was always a false one, and here's the proof running on a laptop.
Then make the ask concrete with the three NEXT options — pick the one that matches who you're talking to. Don't leave the meeting without agreeing which dataset a pilot would point at.
Invite them to break it: the repo is public and runs in four commands, and the figures on these slides reproduce exactly. An architecture you're willing to hand over and say 'try to get past the boundary' is a very different pitch from a slideware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148840"/>
            <a:ext cx="10058400" cy="365760"/>
          </a:xfrm>
          <a:prstGeom prst="rect">
            <a:avLst/>
          </a:prstGeom>
          <a:noFill/>
          <a:ln/>
        </p:spPr>
        <p:txBody>
          <a:bodyPr wrap="square" lIns="0" tIns="0" rIns="0" bIns="0" rtlCol="0" anchor="ctr"/>
          <a:lstStyle/>
          <a:p>
            <a:pPr indent="0" marL="0">
              <a:buNone/>
            </a:pPr>
            <a:r>
              <a:rPr lang="en-US" sz="1400" b="1" spc="300" kern="0" dirty="0">
                <a:solidFill>
                  <a:srgbClr val="FF8A3D"/>
                </a:solidFill>
                <a:latin typeface="Calibri" pitchFamily="34" charset="0"/>
                <a:ea typeface="Calibri" pitchFamily="34" charset="-122"/>
                <a:cs typeface="Calibri" pitchFamily="34" charset="-120"/>
              </a:rPr>
              <a:t>SECURE AGENTIC AI  ·  ENTERPRISE LAKEHOUSE</a:t>
            </a:r>
            <a:endParaRPr lang="en-US" sz="1400" dirty="0"/>
          </a:p>
        </p:txBody>
      </p:sp>
      <p:sp>
        <p:nvSpPr>
          <p:cNvPr id="6" name="Text 4"/>
          <p:cNvSpPr/>
          <p:nvPr/>
        </p:nvSpPr>
        <p:spPr>
          <a:xfrm>
            <a:off x="640080" y="2606040"/>
            <a:ext cx="10972800" cy="1188720"/>
          </a:xfrm>
          <a:prstGeom prst="rect">
            <a:avLst/>
          </a:prstGeom>
          <a:noFill/>
          <a:ln/>
        </p:spPr>
        <p:txBody>
          <a:bodyPr wrap="square" lIns="0" tIns="0" rIns="0" bIns="0" rtlCol="0" anchor="ctr"/>
          <a:lstStyle/>
          <a:p>
            <a:pPr indent="0" marL="0">
              <a:buNone/>
            </a:pPr>
            <a:r>
              <a:rPr lang="en-US" sz="6000" b="1" dirty="0">
                <a:solidFill>
                  <a:srgbClr val="E9EEF3"/>
                </a:solidFill>
                <a:latin typeface="Cambria" pitchFamily="34" charset="0"/>
                <a:ea typeface="Cambria" pitchFamily="34" charset="-122"/>
                <a:cs typeface="Cambria" pitchFamily="34" charset="-120"/>
              </a:rPr>
              <a:t>IntelligenceStack</a:t>
            </a:r>
            <a:endParaRPr lang="en-US" sz="6000" dirty="0"/>
          </a:p>
        </p:txBody>
      </p:sp>
      <p:sp>
        <p:nvSpPr>
          <p:cNvPr id="7" name="Text 5"/>
          <p:cNvSpPr/>
          <p:nvPr/>
        </p:nvSpPr>
        <p:spPr>
          <a:xfrm>
            <a:off x="640080" y="3886200"/>
            <a:ext cx="10424160" cy="914400"/>
          </a:xfrm>
          <a:prstGeom prst="rect">
            <a:avLst/>
          </a:prstGeom>
          <a:noFill/>
          <a:ln/>
        </p:spPr>
        <p:txBody>
          <a:bodyPr wrap="square" lIns="0" tIns="0" rIns="0" bIns="0" rtlCol="0" anchor="ctr"/>
          <a:lstStyle/>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Bringing Generative AI securely inside the enterprise data perimeter —</a:t>
            </a:r>
            <a:endParaRPr lang="en-US" sz="1900" dirty="0"/>
          </a:p>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with a governance boundary that is enforced in code, not asserted in a slide.</a:t>
            </a:r>
            <a:endParaRPr lang="en-US" sz="1900" dirty="0"/>
          </a:p>
        </p:txBody>
      </p:sp>
      <p:sp>
        <p:nvSpPr>
          <p:cNvPr id="8" name="Shape 6"/>
          <p:cNvSpPr/>
          <p:nvPr/>
        </p:nvSpPr>
        <p:spPr>
          <a:xfrm>
            <a:off x="640080" y="5212080"/>
            <a:ext cx="10972800" cy="0"/>
          </a:xfrm>
          <a:prstGeom prst="line">
            <a:avLst/>
          </a:prstGeom>
          <a:noFill/>
          <a:ln w="12700">
            <a:solidFill>
              <a:srgbClr val="2A3745"/>
            </a:solidFill>
            <a:prstDash val="solid"/>
          </a:ln>
        </p:spPr>
      </p:sp>
      <p:sp>
        <p:nvSpPr>
          <p:cNvPr id="9" name="Text 7"/>
          <p:cNvSpPr/>
          <p:nvPr/>
        </p:nvSpPr>
        <p:spPr>
          <a:xfrm>
            <a:off x="640080" y="5394960"/>
            <a:ext cx="10972800" cy="36576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Executive Briefing &amp; Live Demo</a:t>
            </a:r>
            <a:pPr indent="0" marL="0">
              <a:buNone/>
            </a:pPr>
            <a:r>
              <a:rPr lang="en-US" sz="1400" dirty="0">
                <a:solidFill>
                  <a:srgbClr val="93A1AF"/>
                </a:solidFill>
                <a:latin typeface="Calibri" pitchFamily="34" charset="0"/>
                <a:ea typeface="Calibri" pitchFamily="34" charset="-122"/>
                <a:cs typeface="Calibri" pitchFamily="34" charset="-120"/>
              </a:rPr>
              <a:t>     Reference architecture on the Databricks Data Intelligence Platform</a:t>
            </a:r>
            <a:endParaRPr lang="en-US" sz="1400" dirty="0"/>
          </a:p>
        </p:txBody>
      </p:sp>
      <p:sp>
        <p:nvSpPr>
          <p:cNvPr id="10" name="Text 8"/>
          <p:cNvSpPr/>
          <p:nvPr/>
        </p:nvSpPr>
        <p:spPr>
          <a:xfrm>
            <a:off x="640080" y="5760720"/>
            <a:ext cx="10972800" cy="320040"/>
          </a:xfrm>
          <a:prstGeom prst="rect">
            <a:avLst/>
          </a:prstGeom>
          <a:noFill/>
          <a:ln/>
        </p:spPr>
        <p:txBody>
          <a:bodyPr wrap="square" lIns="0" tIns="0" rIns="0" bIns="0" rtlCol="0" anchor="ctr"/>
          <a:lstStyle/>
          <a:p>
            <a:pPr indent="0" marL="0">
              <a:buNone/>
            </a:pPr>
            <a:r>
              <a:rPr lang="en-US" sz="1300" dirty="0">
                <a:solidFill>
                  <a:srgbClr val="6C7C8A"/>
                </a:solidFill>
                <a:latin typeface="Calibri" pitchFamily="34" charset="0"/>
                <a:ea typeface="Calibri" pitchFamily="34" charset="-122"/>
                <a:cs typeface="Calibri" pitchFamily="34" charset="-120"/>
              </a:rPr>
              <a:t>github.com/atharvvani464/IntelligenceStack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THE PROBLEM</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The GenAI security paradox</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High-value AI needs deep access to enterprise data. Granting that access to an external model is exactly what security, compliance, and legal cannot allow.</a:t>
            </a:r>
            <a:endParaRPr lang="en-US" sz="1600" dirty="0"/>
          </a:p>
        </p:txBody>
      </p:sp>
      <p:sp>
        <p:nvSpPr>
          <p:cNvPr id="6" name="Shape 4"/>
          <p:cNvSpPr/>
          <p:nvPr/>
        </p:nvSpPr>
        <p:spPr>
          <a:xfrm>
            <a:off x="640080"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32688" y="3054096"/>
            <a:ext cx="457200" cy="457200"/>
          </a:xfrm>
          <a:prstGeom prst="ellipse">
            <a:avLst/>
          </a:prstGeom>
          <a:solidFill>
            <a:srgbClr val="2A1B12"/>
          </a:solidFill>
          <a:ln w="15875">
            <a:solidFill>
              <a:srgbClr val="FF6C00"/>
            </a:solidFill>
            <a:prstDash val="solid"/>
          </a:ln>
        </p:spPr>
      </p:sp>
      <p:sp>
        <p:nvSpPr>
          <p:cNvPr id="8" name="Text 6"/>
          <p:cNvSpPr/>
          <p:nvPr/>
        </p:nvSpPr>
        <p:spPr>
          <a:xfrm>
            <a:off x="932688"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932688"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Data exfiltration</a:t>
            </a:r>
            <a:endParaRPr lang="en-US" sz="1800" dirty="0"/>
          </a:p>
        </p:txBody>
      </p:sp>
      <p:sp>
        <p:nvSpPr>
          <p:cNvPr id="10" name="Text 8"/>
          <p:cNvSpPr/>
          <p:nvPr/>
        </p:nvSpPr>
        <p:spPr>
          <a:xfrm>
            <a:off x="932688"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Proprietary data crosses the network boundary to a third-party API — and may be cached, logged, or trained on beyond your control.</a:t>
            </a:r>
            <a:endParaRPr lang="en-US" sz="1350" dirty="0"/>
          </a:p>
        </p:txBody>
      </p:sp>
      <p:sp>
        <p:nvSpPr>
          <p:cNvPr id="11" name="Shape 9"/>
          <p:cNvSpPr/>
          <p:nvPr/>
        </p:nvSpPr>
        <p:spPr>
          <a:xfrm>
            <a:off x="4352544"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Shape 10"/>
          <p:cNvSpPr/>
          <p:nvPr/>
        </p:nvSpPr>
        <p:spPr>
          <a:xfrm>
            <a:off x="4645152" y="3054096"/>
            <a:ext cx="457200" cy="457200"/>
          </a:xfrm>
          <a:prstGeom prst="ellipse">
            <a:avLst/>
          </a:prstGeom>
          <a:solidFill>
            <a:srgbClr val="2A1B12"/>
          </a:solidFill>
          <a:ln w="15875">
            <a:solidFill>
              <a:srgbClr val="FF6C00"/>
            </a:solidFill>
            <a:prstDash val="solid"/>
          </a:ln>
        </p:spPr>
      </p:sp>
      <p:sp>
        <p:nvSpPr>
          <p:cNvPr id="13" name="Text 11"/>
          <p:cNvSpPr/>
          <p:nvPr/>
        </p:nvSpPr>
        <p:spPr>
          <a:xfrm>
            <a:off x="4645152"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4645152"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Prompt injection</a:t>
            </a:r>
            <a:endParaRPr lang="en-US" sz="1800" dirty="0"/>
          </a:p>
        </p:txBody>
      </p:sp>
      <p:sp>
        <p:nvSpPr>
          <p:cNvPr id="15" name="Text 13"/>
          <p:cNvSpPr/>
          <p:nvPr/>
        </p:nvSpPr>
        <p:spPr>
          <a:xfrm>
            <a:off x="4645152"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A crafted prompt coaxes the model into destructive SQL — DROP TABLE, bulk export — or into bypassing row- and column-level filters.</a:t>
            </a:r>
            <a:endParaRPr lang="en-US" sz="1350" dirty="0"/>
          </a:p>
        </p:txBody>
      </p:sp>
      <p:sp>
        <p:nvSpPr>
          <p:cNvPr id="16" name="Shape 14"/>
          <p:cNvSpPr/>
          <p:nvPr/>
        </p:nvSpPr>
        <p:spPr>
          <a:xfrm>
            <a:off x="8065008"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Shape 15"/>
          <p:cNvSpPr/>
          <p:nvPr/>
        </p:nvSpPr>
        <p:spPr>
          <a:xfrm>
            <a:off x="8357616" y="3054096"/>
            <a:ext cx="457200" cy="457200"/>
          </a:xfrm>
          <a:prstGeom prst="ellipse">
            <a:avLst/>
          </a:prstGeom>
          <a:solidFill>
            <a:srgbClr val="2A1B12"/>
          </a:solidFill>
          <a:ln w="15875">
            <a:solidFill>
              <a:srgbClr val="FF6C00"/>
            </a:solidFill>
            <a:prstDash val="solid"/>
          </a:ln>
        </p:spPr>
      </p:sp>
      <p:sp>
        <p:nvSpPr>
          <p:cNvPr id="18" name="Text 16"/>
          <p:cNvSpPr/>
          <p:nvPr/>
        </p:nvSpPr>
        <p:spPr>
          <a:xfrm>
            <a:off x="8357616"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3</a:t>
            </a:r>
            <a:endParaRPr lang="en-US" sz="2000" dirty="0"/>
          </a:p>
        </p:txBody>
      </p:sp>
      <p:sp>
        <p:nvSpPr>
          <p:cNvPr id="19" name="Text 17"/>
          <p:cNvSpPr/>
          <p:nvPr/>
        </p:nvSpPr>
        <p:spPr>
          <a:xfrm>
            <a:off x="8357616"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Compliance exposure</a:t>
            </a:r>
            <a:endParaRPr lang="en-US" sz="1800" dirty="0"/>
          </a:p>
        </p:txBody>
      </p:sp>
      <p:sp>
        <p:nvSpPr>
          <p:cNvPr id="20" name="Text 18"/>
          <p:cNvSpPr/>
          <p:nvPr/>
        </p:nvSpPr>
        <p:spPr>
          <a:xfrm>
            <a:off x="8357616"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PII slips into a response and breaches GDPR, HIPAA, or internal policy. The audit question 'what can the AI actually do?' has no bounded answer.</a:t>
            </a:r>
            <a:endParaRPr lang="en-US" sz="1350" dirty="0"/>
          </a:p>
        </p:txBody>
      </p:sp>
      <p:sp>
        <p:nvSpPr>
          <p:cNvPr id="21" name="Text 19"/>
          <p:cNvSpPr/>
          <p:nvPr/>
        </p:nvSpPr>
        <p:spPr>
          <a:xfrm>
            <a:off x="640080" y="580644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traditional fix — copy the data out to the AI — is the most insecure option of all.</a:t>
            </a:r>
            <a:endParaRPr lang="en-US" sz="1500" dirty="0"/>
          </a:p>
        </p:txBody>
      </p:sp>
      <p:sp>
        <p:nvSpPr>
          <p:cNvPr id="22" name="Text 20"/>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02</a:t>
            </a:r>
            <a:endParaRPr lang="en-US" sz="1000" dirty="0"/>
          </a:p>
        </p:txBody>
      </p:sp>
      <p:sp>
        <p:nvSpPr>
          <p:cNvPr id="23" name="Text 2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THE INSIGHT</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Invert it: bring the AI to the data</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Same data, same model — the difference is which one crosses the boundary. IntelligenceStack keeps the data still and moves a tightly-bounded agent inside the perimeter.</a:t>
            </a:r>
            <a:endParaRPr lang="en-US" sz="1600" dirty="0"/>
          </a:p>
        </p:txBody>
      </p:sp>
      <p:sp>
        <p:nvSpPr>
          <p:cNvPr id="6" name="Shape 4"/>
          <p:cNvSpPr/>
          <p:nvPr/>
        </p:nvSpPr>
        <p:spPr>
          <a:xfrm>
            <a:off x="640080" y="2743200"/>
            <a:ext cx="5257800" cy="2880360"/>
          </a:xfrm>
          <a:prstGeom prst="roundRect">
            <a:avLst>
              <a:gd name="adj" fmla="val 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1005840" y="3017520"/>
            <a:ext cx="4526280" cy="320040"/>
          </a:xfrm>
          <a:prstGeom prst="rect">
            <a:avLst/>
          </a:prstGeom>
          <a:noFill/>
          <a:ln/>
        </p:spPr>
        <p:txBody>
          <a:bodyPr wrap="square" lIns="0" tIns="0" rIns="0" bIns="0" rtlCol="0" anchor="ctr"/>
          <a:lstStyle/>
          <a:p>
            <a:pPr indent="0" marL="0">
              <a:buNone/>
            </a:pPr>
            <a:r>
              <a:rPr lang="en-US" sz="1200" b="1" spc="200" kern="0" dirty="0">
                <a:solidFill>
                  <a:srgbClr val="F85149"/>
                </a:solidFill>
                <a:latin typeface="Calibri" pitchFamily="34" charset="0"/>
                <a:ea typeface="Calibri" pitchFamily="34" charset="-122"/>
                <a:cs typeface="Calibri" pitchFamily="34" charset="-120"/>
              </a:rPr>
              <a:t>CONVENTIONAL</a:t>
            </a:r>
            <a:endParaRPr lang="en-US" sz="1200" dirty="0"/>
          </a:p>
        </p:txBody>
      </p:sp>
      <p:sp>
        <p:nvSpPr>
          <p:cNvPr id="8" name="Text 6"/>
          <p:cNvSpPr/>
          <p:nvPr/>
        </p:nvSpPr>
        <p:spPr>
          <a:xfrm>
            <a:off x="100584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Move the data to the AI</a:t>
            </a:r>
            <a:endParaRPr lang="en-US" sz="1900" dirty="0"/>
          </a:p>
        </p:txBody>
      </p:sp>
      <p:sp>
        <p:nvSpPr>
          <p:cNvPr id="9" name="Shape 7"/>
          <p:cNvSpPr/>
          <p:nvPr/>
        </p:nvSpPr>
        <p:spPr>
          <a:xfrm>
            <a:off x="1051560" y="3950208"/>
            <a:ext cx="128016" cy="128016"/>
          </a:xfrm>
          <a:prstGeom prst="ellipse">
            <a:avLst/>
          </a:prstGeom>
          <a:solidFill>
            <a:srgbClr val="F85149"/>
          </a:solidFill>
          <a:ln/>
        </p:spPr>
      </p:sp>
      <p:sp>
        <p:nvSpPr>
          <p:cNvPr id="10" name="Text 8"/>
          <p:cNvSpPr/>
          <p:nvPr/>
        </p:nvSpPr>
        <p:spPr>
          <a:xfrm>
            <a:off x="1298448" y="3840480"/>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Proprietary rows leave the perimeter</a:t>
            </a:r>
            <a:endParaRPr lang="en-US" sz="1400" dirty="0"/>
          </a:p>
        </p:txBody>
      </p:sp>
      <p:sp>
        <p:nvSpPr>
          <p:cNvPr id="11" name="Shape 9"/>
          <p:cNvSpPr/>
          <p:nvPr/>
        </p:nvSpPr>
        <p:spPr>
          <a:xfrm>
            <a:off x="1051560" y="4352544"/>
            <a:ext cx="128016" cy="128016"/>
          </a:xfrm>
          <a:prstGeom prst="ellipse">
            <a:avLst/>
          </a:prstGeom>
          <a:solidFill>
            <a:srgbClr val="F85149"/>
          </a:solidFill>
          <a:ln/>
        </p:spPr>
      </p:sp>
      <p:sp>
        <p:nvSpPr>
          <p:cNvPr id="12" name="Text 10"/>
          <p:cNvSpPr/>
          <p:nvPr/>
        </p:nvSpPr>
        <p:spPr>
          <a:xfrm>
            <a:off x="1298448" y="4242816"/>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The model is an unbounded database client</a:t>
            </a:r>
            <a:endParaRPr lang="en-US" sz="1400" dirty="0"/>
          </a:p>
        </p:txBody>
      </p:sp>
      <p:sp>
        <p:nvSpPr>
          <p:cNvPr id="13" name="Shape 11"/>
          <p:cNvSpPr/>
          <p:nvPr/>
        </p:nvSpPr>
        <p:spPr>
          <a:xfrm>
            <a:off x="1051560" y="4754880"/>
            <a:ext cx="128016" cy="128016"/>
          </a:xfrm>
          <a:prstGeom prst="ellipse">
            <a:avLst/>
          </a:prstGeom>
          <a:solidFill>
            <a:srgbClr val="F85149"/>
          </a:solidFill>
          <a:ln/>
        </p:spPr>
      </p:sp>
      <p:sp>
        <p:nvSpPr>
          <p:cNvPr id="14" name="Text 12"/>
          <p:cNvSpPr/>
          <p:nvPr/>
        </p:nvSpPr>
        <p:spPr>
          <a:xfrm>
            <a:off x="1298448" y="4645152"/>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Injection can reach real tables</a:t>
            </a:r>
            <a:endParaRPr lang="en-US" sz="1400" dirty="0"/>
          </a:p>
        </p:txBody>
      </p:sp>
      <p:sp>
        <p:nvSpPr>
          <p:cNvPr id="15" name="Shape 13"/>
          <p:cNvSpPr/>
          <p:nvPr/>
        </p:nvSpPr>
        <p:spPr>
          <a:xfrm>
            <a:off x="1051560" y="5157216"/>
            <a:ext cx="128016" cy="128016"/>
          </a:xfrm>
          <a:prstGeom prst="ellipse">
            <a:avLst/>
          </a:prstGeom>
          <a:solidFill>
            <a:srgbClr val="F85149"/>
          </a:solidFill>
          <a:ln/>
        </p:spPr>
      </p:sp>
      <p:sp>
        <p:nvSpPr>
          <p:cNvPr id="16" name="Text 14"/>
          <p:cNvSpPr/>
          <p:nvPr/>
        </p:nvSpPr>
        <p:spPr>
          <a:xfrm>
            <a:off x="1298448" y="5047488"/>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Compliance answer: trust us</a:t>
            </a:r>
            <a:endParaRPr lang="en-US" sz="1400" dirty="0"/>
          </a:p>
        </p:txBody>
      </p:sp>
      <p:sp>
        <p:nvSpPr>
          <p:cNvPr id="17" name="Shape 15"/>
          <p:cNvSpPr/>
          <p:nvPr/>
        </p:nvSpPr>
        <p:spPr>
          <a:xfrm>
            <a:off x="6062472" y="3927348"/>
            <a:ext cx="685800" cy="512064"/>
          </a:xfrm>
          <a:prstGeom prst="rightArrow">
            <a:avLst/>
          </a:prstGeom>
          <a:solidFill>
            <a:srgbClr val="FF6C00"/>
          </a:solidFill>
          <a:ln/>
        </p:spPr>
      </p:sp>
      <p:sp>
        <p:nvSpPr>
          <p:cNvPr id="18" name="Shape 16"/>
          <p:cNvSpPr/>
          <p:nvPr/>
        </p:nvSpPr>
        <p:spPr>
          <a:xfrm>
            <a:off x="6903720" y="2743200"/>
            <a:ext cx="5257800" cy="2880360"/>
          </a:xfrm>
          <a:prstGeom prst="roundRect">
            <a:avLst>
              <a:gd name="adj" fmla="val 2857"/>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7269480" y="3017520"/>
            <a:ext cx="4526280" cy="320040"/>
          </a:xfrm>
          <a:prstGeom prst="rect">
            <a:avLst/>
          </a:prstGeom>
          <a:noFill/>
          <a:ln/>
        </p:spPr>
        <p:txBody>
          <a:bodyPr wrap="square" lIns="0" tIns="0" rIns="0" bIns="0" rtlCol="0" anchor="ctr"/>
          <a:lstStyle/>
          <a:p>
            <a:pPr indent="0" marL="0">
              <a:buNone/>
            </a:pPr>
            <a:r>
              <a:rPr lang="en-US" sz="1200" b="1" spc="200" kern="0" dirty="0">
                <a:solidFill>
                  <a:srgbClr val="3FB950"/>
                </a:solidFill>
                <a:latin typeface="Calibri" pitchFamily="34" charset="0"/>
                <a:ea typeface="Calibri" pitchFamily="34" charset="-122"/>
                <a:cs typeface="Calibri" pitchFamily="34" charset="-120"/>
              </a:rPr>
              <a:t>INTELLIGENCESTACK</a:t>
            </a:r>
            <a:endParaRPr lang="en-US" sz="1200" dirty="0"/>
          </a:p>
        </p:txBody>
      </p:sp>
      <p:sp>
        <p:nvSpPr>
          <p:cNvPr id="20" name="Text 18"/>
          <p:cNvSpPr/>
          <p:nvPr/>
        </p:nvSpPr>
        <p:spPr>
          <a:xfrm>
            <a:off x="726948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Bring the AI to the data</a:t>
            </a:r>
            <a:endParaRPr lang="en-US" sz="1900" dirty="0"/>
          </a:p>
        </p:txBody>
      </p:sp>
      <p:sp>
        <p:nvSpPr>
          <p:cNvPr id="21" name="Shape 19"/>
          <p:cNvSpPr/>
          <p:nvPr/>
        </p:nvSpPr>
        <p:spPr>
          <a:xfrm>
            <a:off x="7315200" y="3950208"/>
            <a:ext cx="128016" cy="128016"/>
          </a:xfrm>
          <a:prstGeom prst="ellipse">
            <a:avLst/>
          </a:prstGeom>
          <a:solidFill>
            <a:srgbClr val="3FB950"/>
          </a:solidFill>
          <a:ln/>
        </p:spPr>
      </p:sp>
      <p:sp>
        <p:nvSpPr>
          <p:cNvPr id="22" name="Text 20"/>
          <p:cNvSpPr/>
          <p:nvPr/>
        </p:nvSpPr>
        <p:spPr>
          <a:xfrm>
            <a:off x="7562088" y="3840480"/>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Data never leaves the lakehouse</a:t>
            </a:r>
            <a:endParaRPr lang="en-US" sz="1400" dirty="0"/>
          </a:p>
        </p:txBody>
      </p:sp>
      <p:sp>
        <p:nvSpPr>
          <p:cNvPr id="23" name="Shape 21"/>
          <p:cNvSpPr/>
          <p:nvPr/>
        </p:nvSpPr>
        <p:spPr>
          <a:xfrm>
            <a:off x="7315200" y="4352544"/>
            <a:ext cx="128016" cy="128016"/>
          </a:xfrm>
          <a:prstGeom prst="ellipse">
            <a:avLst/>
          </a:prstGeom>
          <a:solidFill>
            <a:srgbClr val="3FB950"/>
          </a:solidFill>
          <a:ln/>
        </p:spPr>
      </p:sp>
      <p:sp>
        <p:nvSpPr>
          <p:cNvPr id="24" name="Text 22"/>
          <p:cNvSpPr/>
          <p:nvPr/>
        </p:nvSpPr>
        <p:spPr>
          <a:xfrm>
            <a:off x="7562088" y="4242816"/>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The model is an orchestrator, not a client</a:t>
            </a:r>
            <a:endParaRPr lang="en-US" sz="1400" dirty="0"/>
          </a:p>
        </p:txBody>
      </p:sp>
      <p:sp>
        <p:nvSpPr>
          <p:cNvPr id="25" name="Shape 23"/>
          <p:cNvSpPr/>
          <p:nvPr/>
        </p:nvSpPr>
        <p:spPr>
          <a:xfrm>
            <a:off x="7315200" y="4754880"/>
            <a:ext cx="128016" cy="128016"/>
          </a:xfrm>
          <a:prstGeom prst="ellipse">
            <a:avLst/>
          </a:prstGeom>
          <a:solidFill>
            <a:srgbClr val="3FB950"/>
          </a:solidFill>
          <a:ln/>
        </p:spPr>
      </p:sp>
      <p:sp>
        <p:nvSpPr>
          <p:cNvPr id="26" name="Text 24"/>
          <p:cNvSpPr/>
          <p:nvPr/>
        </p:nvSpPr>
        <p:spPr>
          <a:xfrm>
            <a:off x="7562088" y="4645152"/>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Only pre-approved functions can run</a:t>
            </a:r>
            <a:endParaRPr lang="en-US" sz="1400" dirty="0"/>
          </a:p>
        </p:txBody>
      </p:sp>
      <p:sp>
        <p:nvSpPr>
          <p:cNvPr id="27" name="Shape 25"/>
          <p:cNvSpPr/>
          <p:nvPr/>
        </p:nvSpPr>
        <p:spPr>
          <a:xfrm>
            <a:off x="7315200" y="5157216"/>
            <a:ext cx="128016" cy="128016"/>
          </a:xfrm>
          <a:prstGeom prst="ellipse">
            <a:avLst/>
          </a:prstGeom>
          <a:solidFill>
            <a:srgbClr val="3FB950"/>
          </a:solidFill>
          <a:ln/>
        </p:spPr>
      </p:sp>
      <p:sp>
        <p:nvSpPr>
          <p:cNvPr id="28" name="Text 26"/>
          <p:cNvSpPr/>
          <p:nvPr/>
        </p:nvSpPr>
        <p:spPr>
          <a:xfrm>
            <a:off x="7562088" y="5047488"/>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Compliance answer: here is the evidence</a:t>
            </a:r>
            <a:endParaRPr lang="en-US" sz="1400" dirty="0"/>
          </a:p>
        </p:txBody>
      </p:sp>
      <p:sp>
        <p:nvSpPr>
          <p:cNvPr id="29" name="Text 27"/>
          <p:cNvSpPr/>
          <p:nvPr/>
        </p:nvSpPr>
        <p:spPr>
          <a:xfrm>
            <a:off x="640080" y="585216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LLM operates strictly as an orchestrator — it decides which approved function to call, and it is mechanically incapable of anything else.</a:t>
            </a:r>
            <a:endParaRPr lang="en-US" sz="150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03</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ARCHITECTURE</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How the platform fits together</a:t>
            </a:r>
            <a:endParaRPr lang="en-US" sz="3200" dirty="0"/>
          </a:p>
        </p:txBody>
      </p:sp>
      <p:pic>
        <p:nvPicPr>
          <p:cNvPr id="5" name="Image 0" descr="/Users/atharvvani/Downloads/DataBricks/architecture_diagram.png">    </p:cNvPr>
          <p:cNvPicPr>
            <a:picLocks noChangeAspect="1"/>
          </p:cNvPicPr>
          <p:nvPr/>
        </p:nvPicPr>
        <p:blipFill>
          <a:blip r:embed="rId1"/>
          <a:stretch>
            <a:fillRect/>
          </a:stretch>
        </p:blipFill>
        <p:spPr>
          <a:xfrm>
            <a:off x="640080" y="1783080"/>
            <a:ext cx="4480560" cy="4480560"/>
          </a:xfrm>
          <a:prstGeom prst="rect">
            <a:avLst/>
          </a:prstGeom>
        </p:spPr>
      </p:pic>
      <p:sp>
        <p:nvSpPr>
          <p:cNvPr id="6" name="Shape 3"/>
          <p:cNvSpPr/>
          <p:nvPr/>
        </p:nvSpPr>
        <p:spPr>
          <a:xfrm>
            <a:off x="5760720" y="1828800"/>
            <a:ext cx="329184" cy="329184"/>
          </a:xfrm>
          <a:prstGeom prst="ellipse">
            <a:avLst/>
          </a:prstGeom>
          <a:solidFill>
            <a:srgbClr val="2A1B12"/>
          </a:solidFill>
          <a:ln w="15240">
            <a:solidFill>
              <a:srgbClr val="FF6C00"/>
            </a:solidFill>
            <a:prstDash val="solid"/>
          </a:ln>
        </p:spPr>
      </p:sp>
      <p:sp>
        <p:nvSpPr>
          <p:cNvPr id="7" name="Text 4"/>
          <p:cNvSpPr/>
          <p:nvPr/>
        </p:nvSpPr>
        <p:spPr>
          <a:xfrm>
            <a:off x="5760720" y="1828800"/>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1</a:t>
            </a:r>
            <a:endParaRPr lang="en-US" sz="1400" dirty="0"/>
          </a:p>
        </p:txBody>
      </p:sp>
      <p:sp>
        <p:nvSpPr>
          <p:cNvPr id="8" name="Text 5"/>
          <p:cNvSpPr/>
          <p:nvPr/>
        </p:nvSpPr>
        <p:spPr>
          <a:xfrm>
            <a:off x="6236208" y="1764792"/>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Streaming ingestion</a:t>
            </a:r>
            <a:endParaRPr lang="en-US" sz="1400" dirty="0"/>
          </a:p>
        </p:txBody>
      </p:sp>
      <p:sp>
        <p:nvSpPr>
          <p:cNvPr id="9" name="Text 6"/>
          <p:cNvSpPr/>
          <p:nvPr/>
        </p:nvSpPr>
        <p:spPr>
          <a:xfrm>
            <a:off x="6236208" y="2039112"/>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Auto Loader + Delta Live Tables land events through a bronze → silver → gold medallion, enforcing data quality and hashing PII on the way in.</a:t>
            </a:r>
            <a:endParaRPr lang="en-US" sz="1050" dirty="0"/>
          </a:p>
        </p:txBody>
      </p:sp>
      <p:sp>
        <p:nvSpPr>
          <p:cNvPr id="10" name="Shape 7"/>
          <p:cNvSpPr/>
          <p:nvPr/>
        </p:nvSpPr>
        <p:spPr>
          <a:xfrm>
            <a:off x="5760720" y="2569464"/>
            <a:ext cx="329184" cy="329184"/>
          </a:xfrm>
          <a:prstGeom prst="ellipse">
            <a:avLst/>
          </a:prstGeom>
          <a:solidFill>
            <a:srgbClr val="2A1B12"/>
          </a:solidFill>
          <a:ln w="15240">
            <a:solidFill>
              <a:srgbClr val="FF6C00"/>
            </a:solidFill>
            <a:prstDash val="solid"/>
          </a:ln>
        </p:spPr>
      </p:sp>
      <p:sp>
        <p:nvSpPr>
          <p:cNvPr id="11" name="Text 8"/>
          <p:cNvSpPr/>
          <p:nvPr/>
        </p:nvSpPr>
        <p:spPr>
          <a:xfrm>
            <a:off x="5760720" y="2569464"/>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2</a:t>
            </a:r>
            <a:endParaRPr lang="en-US" sz="1400" dirty="0"/>
          </a:p>
        </p:txBody>
      </p:sp>
      <p:sp>
        <p:nvSpPr>
          <p:cNvPr id="12" name="Text 9"/>
          <p:cNvSpPr/>
          <p:nvPr/>
        </p:nvSpPr>
        <p:spPr>
          <a:xfrm>
            <a:off x="6236208" y="2505456"/>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Governed gold layer</a:t>
            </a:r>
            <a:endParaRPr lang="en-US" sz="1400" dirty="0"/>
          </a:p>
        </p:txBody>
      </p:sp>
      <p:sp>
        <p:nvSpPr>
          <p:cNvPr id="13" name="Text 10"/>
          <p:cNvSpPr/>
          <p:nvPr/>
        </p:nvSpPr>
        <p:spPr>
          <a:xfrm>
            <a:off x="6236208" y="2779776"/>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Business-ready tables the agent reads. In the sandbox a real DuckDB engine; in production, a Serverless SQL Warehouse over Delta.</a:t>
            </a:r>
            <a:endParaRPr lang="en-US" sz="1050" dirty="0"/>
          </a:p>
        </p:txBody>
      </p:sp>
      <p:sp>
        <p:nvSpPr>
          <p:cNvPr id="14" name="Shape 11"/>
          <p:cNvSpPr/>
          <p:nvPr/>
        </p:nvSpPr>
        <p:spPr>
          <a:xfrm>
            <a:off x="5760720" y="3310128"/>
            <a:ext cx="329184" cy="329184"/>
          </a:xfrm>
          <a:prstGeom prst="ellipse">
            <a:avLst/>
          </a:prstGeom>
          <a:solidFill>
            <a:srgbClr val="2A1B12"/>
          </a:solidFill>
          <a:ln w="15240">
            <a:solidFill>
              <a:srgbClr val="FF6C00"/>
            </a:solidFill>
            <a:prstDash val="solid"/>
          </a:ln>
        </p:spPr>
      </p:sp>
      <p:sp>
        <p:nvSpPr>
          <p:cNvPr id="15" name="Text 12"/>
          <p:cNvSpPr/>
          <p:nvPr/>
        </p:nvSpPr>
        <p:spPr>
          <a:xfrm>
            <a:off x="5760720" y="3310128"/>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3</a:t>
            </a:r>
            <a:endParaRPr lang="en-US" sz="1400" dirty="0"/>
          </a:p>
        </p:txBody>
      </p:sp>
      <p:sp>
        <p:nvSpPr>
          <p:cNvPr id="16" name="Text 13"/>
          <p:cNvSpPr/>
          <p:nvPr/>
        </p:nvSpPr>
        <p:spPr>
          <a:xfrm>
            <a:off x="6236208" y="3246120"/>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Unity Catalog boundary</a:t>
            </a:r>
            <a:endParaRPr lang="en-US" sz="1400" dirty="0"/>
          </a:p>
        </p:txBody>
      </p:sp>
      <p:sp>
        <p:nvSpPr>
          <p:cNvPr id="17" name="Text 14"/>
          <p:cNvSpPr/>
          <p:nvPr/>
        </p:nvSpPr>
        <p:spPr>
          <a:xfrm>
            <a:off x="6236208" y="3520440"/>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The agent is granted EXECUTE on a short allowlist of functions — never raw table access. Every call is checked before it runs.</a:t>
            </a:r>
            <a:endParaRPr lang="en-US" sz="1050" dirty="0"/>
          </a:p>
        </p:txBody>
      </p:sp>
      <p:sp>
        <p:nvSpPr>
          <p:cNvPr id="18" name="Shape 15"/>
          <p:cNvSpPr/>
          <p:nvPr/>
        </p:nvSpPr>
        <p:spPr>
          <a:xfrm>
            <a:off x="5760720" y="4050792"/>
            <a:ext cx="329184" cy="329184"/>
          </a:xfrm>
          <a:prstGeom prst="ellipse">
            <a:avLst/>
          </a:prstGeom>
          <a:solidFill>
            <a:srgbClr val="2A1B12"/>
          </a:solidFill>
          <a:ln w="15240">
            <a:solidFill>
              <a:srgbClr val="FF6C00"/>
            </a:solidFill>
            <a:prstDash val="solid"/>
          </a:ln>
        </p:spPr>
      </p:sp>
      <p:sp>
        <p:nvSpPr>
          <p:cNvPr id="19" name="Text 16"/>
          <p:cNvSpPr/>
          <p:nvPr/>
        </p:nvSpPr>
        <p:spPr>
          <a:xfrm>
            <a:off x="5760720" y="4050792"/>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4</a:t>
            </a:r>
            <a:endParaRPr lang="en-US" sz="1400" dirty="0"/>
          </a:p>
        </p:txBody>
      </p:sp>
      <p:sp>
        <p:nvSpPr>
          <p:cNvPr id="20" name="Text 17"/>
          <p:cNvSpPr/>
          <p:nvPr/>
        </p:nvSpPr>
        <p:spPr>
          <a:xfrm>
            <a:off x="6236208" y="3986784"/>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Mosaic AI Vector Search</a:t>
            </a:r>
            <a:endParaRPr lang="en-US" sz="1400" dirty="0"/>
          </a:p>
        </p:txBody>
      </p:sp>
      <p:sp>
        <p:nvSpPr>
          <p:cNvPr id="21" name="Text 18"/>
          <p:cNvSpPr/>
          <p:nvPr/>
        </p:nvSpPr>
        <p:spPr>
          <a:xfrm>
            <a:off x="6236208" y="4261104"/>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A governed index over enterprise runbooks and policies, so answers can be grounded in documented knowledge as well as live metrics.</a:t>
            </a:r>
            <a:endParaRPr lang="en-US" sz="1050" dirty="0"/>
          </a:p>
        </p:txBody>
      </p:sp>
      <p:sp>
        <p:nvSpPr>
          <p:cNvPr id="22" name="Shape 19"/>
          <p:cNvSpPr/>
          <p:nvPr/>
        </p:nvSpPr>
        <p:spPr>
          <a:xfrm>
            <a:off x="5760720" y="4791456"/>
            <a:ext cx="329184" cy="329184"/>
          </a:xfrm>
          <a:prstGeom prst="ellipse">
            <a:avLst/>
          </a:prstGeom>
          <a:solidFill>
            <a:srgbClr val="2A1B12"/>
          </a:solidFill>
          <a:ln w="15240">
            <a:solidFill>
              <a:srgbClr val="FF6C00"/>
            </a:solidFill>
            <a:prstDash val="solid"/>
          </a:ln>
        </p:spPr>
      </p:sp>
      <p:sp>
        <p:nvSpPr>
          <p:cNvPr id="23" name="Text 20"/>
          <p:cNvSpPr/>
          <p:nvPr/>
        </p:nvSpPr>
        <p:spPr>
          <a:xfrm>
            <a:off x="5760720" y="4791456"/>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5</a:t>
            </a:r>
            <a:endParaRPr lang="en-US" sz="1400" dirty="0"/>
          </a:p>
        </p:txBody>
      </p:sp>
      <p:sp>
        <p:nvSpPr>
          <p:cNvPr id="24" name="Text 21"/>
          <p:cNvSpPr/>
          <p:nvPr/>
        </p:nvSpPr>
        <p:spPr>
          <a:xfrm>
            <a:off x="6236208" y="4727448"/>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Audit trail</a:t>
            </a:r>
            <a:endParaRPr lang="en-US" sz="1400" dirty="0"/>
          </a:p>
        </p:txBody>
      </p:sp>
      <p:sp>
        <p:nvSpPr>
          <p:cNvPr id="25" name="Text 22"/>
          <p:cNvSpPr/>
          <p:nvPr/>
        </p:nvSpPr>
        <p:spPr>
          <a:xfrm>
            <a:off x="6236208" y="5001768"/>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Every decision — granted or refused — is appended to a durable record, making the boundary provable after the fact, not just at request time.</a:t>
            </a:r>
            <a:endParaRPr lang="en-US" sz="1050" dirty="0"/>
          </a:p>
        </p:txBody>
      </p:sp>
      <p:sp>
        <p:nvSpPr>
          <p:cNvPr id="26" name="Shape 23"/>
          <p:cNvSpPr/>
          <p:nvPr/>
        </p:nvSpPr>
        <p:spPr>
          <a:xfrm>
            <a:off x="5760720" y="5532120"/>
            <a:ext cx="329184" cy="329184"/>
          </a:xfrm>
          <a:prstGeom prst="ellipse">
            <a:avLst/>
          </a:prstGeom>
          <a:solidFill>
            <a:srgbClr val="2A1B12"/>
          </a:solidFill>
          <a:ln w="15240">
            <a:solidFill>
              <a:srgbClr val="FF6C00"/>
            </a:solidFill>
            <a:prstDash val="solid"/>
          </a:ln>
        </p:spPr>
      </p:sp>
      <p:sp>
        <p:nvSpPr>
          <p:cNvPr id="27" name="Text 24"/>
          <p:cNvSpPr/>
          <p:nvPr/>
        </p:nvSpPr>
        <p:spPr>
          <a:xfrm>
            <a:off x="5760720" y="5532120"/>
            <a:ext cx="329184" cy="329184"/>
          </a:xfrm>
          <a:prstGeom prst="rect">
            <a:avLst/>
          </a:prstGeom>
          <a:noFill/>
          <a:ln/>
        </p:spPr>
        <p:txBody>
          <a:bodyPr wrap="square" lIns="0" tIns="0" rIns="0" bIns="0" rtlCol="0" anchor="ctr"/>
          <a:lstStyle/>
          <a:p>
            <a:pPr algn="ctr" indent="0" marL="0">
              <a:buNone/>
            </a:pPr>
            <a:r>
              <a:rPr lang="en-US" sz="1400" b="1" dirty="0">
                <a:solidFill>
                  <a:srgbClr val="FF8A3D"/>
                </a:solidFill>
                <a:latin typeface="Cambria" pitchFamily="34" charset="0"/>
                <a:ea typeface="Cambria" pitchFamily="34" charset="-122"/>
                <a:cs typeface="Cambria" pitchFamily="34" charset="-120"/>
              </a:rPr>
              <a:t>6</a:t>
            </a:r>
            <a:endParaRPr lang="en-US" sz="1400" dirty="0"/>
          </a:p>
        </p:txBody>
      </p:sp>
      <p:sp>
        <p:nvSpPr>
          <p:cNvPr id="28" name="Text 25"/>
          <p:cNvSpPr/>
          <p:nvPr/>
        </p:nvSpPr>
        <p:spPr>
          <a:xfrm>
            <a:off x="6236208" y="5468112"/>
            <a:ext cx="5285232"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Cognitive agent + serving</a:t>
            </a:r>
            <a:endParaRPr lang="en-US" sz="1400" dirty="0"/>
          </a:p>
        </p:txBody>
      </p:sp>
      <p:sp>
        <p:nvSpPr>
          <p:cNvPr id="29" name="Text 26"/>
          <p:cNvSpPr/>
          <p:nvPr/>
        </p:nvSpPr>
        <p:spPr>
          <a:xfrm>
            <a:off x="6236208" y="5742432"/>
            <a:ext cx="5285232" cy="530352"/>
          </a:xfrm>
          <a:prstGeom prst="rect">
            <a:avLst/>
          </a:prstGeom>
          <a:noFill/>
          <a:ln/>
        </p:spPr>
        <p:txBody>
          <a:bodyPr wrap="square" lIns="0" tIns="0" rIns="0" bIns="0" rtlCol="0" anchor="ctr"/>
          <a:lstStyle/>
          <a:p>
            <a:pPr indent="0" marL="0">
              <a:lnSpc>
                <a:spcPct val="102000"/>
              </a:lnSpc>
              <a:buNone/>
            </a:pPr>
            <a:r>
              <a:rPr lang="en-US" sz="1050" dirty="0">
                <a:solidFill>
                  <a:srgbClr val="93A1AF"/>
                </a:solidFill>
                <a:latin typeface="Calibri" pitchFamily="34" charset="0"/>
                <a:ea typeface="Calibri" pitchFamily="34" charset="-122"/>
                <a:cs typeface="Calibri" pitchFamily="34" charset="-120"/>
              </a:rPr>
              <a:t>Model Serving resolves plain-English intent into approved function calls, then grounds the answer in what those calls returned.</a:t>
            </a:r>
            <a:endParaRPr lang="en-US" sz="1050" dirty="0"/>
          </a:p>
        </p:txBody>
      </p:sp>
      <p:sp>
        <p:nvSpPr>
          <p:cNvPr id="30" name="Text 27"/>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04</a:t>
            </a:r>
            <a:endParaRPr lang="en-US" sz="1000" dirty="0"/>
          </a:p>
        </p:txBody>
      </p:sp>
      <p:sp>
        <p:nvSpPr>
          <p:cNvPr id="31" name="Text 28"/>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LIVE DEMO</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Five moves, then the receipts</a:t>
            </a:r>
            <a:endParaRPr lang="en-US" sz="3200" dirty="0"/>
          </a:p>
        </p:txBody>
      </p:sp>
      <p:sp>
        <p:nvSpPr>
          <p:cNvPr id="5" name="Text 3"/>
          <p:cNvSpPr/>
          <p:nvPr/>
        </p:nvSpPr>
        <p:spPr>
          <a:xfrm>
            <a:off x="640080" y="1783080"/>
            <a:ext cx="1069848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The same interface throughout. The first two show value; the next three show why you can trust it — and the Trust Center proves all five happened.</a:t>
            </a:r>
            <a:endParaRPr lang="en-US" sz="1600" dirty="0"/>
          </a:p>
        </p:txBody>
      </p:sp>
      <p:sp>
        <p:nvSpPr>
          <p:cNvPr id="6" name="Shape 4"/>
          <p:cNvSpPr/>
          <p:nvPr/>
        </p:nvSpPr>
        <p:spPr>
          <a:xfrm>
            <a:off x="640080" y="2395728"/>
            <a:ext cx="1092708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77824" y="2532888"/>
            <a:ext cx="365760" cy="365760"/>
          </a:xfrm>
          <a:prstGeom prst="ellipse">
            <a:avLst/>
          </a:prstGeom>
          <a:solidFill>
            <a:srgbClr val="3FB950"/>
          </a:solidFill>
          <a:ln/>
        </p:spPr>
      </p:sp>
      <p:sp>
        <p:nvSpPr>
          <p:cNvPr id="8" name="Text 6"/>
          <p:cNvSpPr/>
          <p:nvPr/>
        </p:nvSpPr>
        <p:spPr>
          <a:xfrm>
            <a:off x="877824" y="2532888"/>
            <a:ext cx="365760" cy="365760"/>
          </a:xfrm>
          <a:prstGeom prst="rect">
            <a:avLst/>
          </a:prstGeom>
          <a:noFill/>
          <a:ln/>
        </p:spPr>
        <p:txBody>
          <a:bodyPr wrap="square" lIns="0" tIns="0" rIns="0" bIns="0" rtlCol="0" anchor="ctr"/>
          <a:lstStyle/>
          <a:p>
            <a:pPr algn="ctr" indent="0" marL="0">
              <a:buNone/>
            </a:pPr>
            <a:r>
              <a:rPr lang="en-US" sz="1600" b="1" dirty="0">
                <a:solidFill>
                  <a:srgbClr val="0B121B"/>
                </a:solidFill>
                <a:latin typeface="Cambria" pitchFamily="34" charset="0"/>
                <a:ea typeface="Cambria" pitchFamily="34" charset="-122"/>
                <a:cs typeface="Cambria" pitchFamily="34" charset="-120"/>
              </a:rPr>
              <a:t>1</a:t>
            </a:r>
            <a:endParaRPr lang="en-US" sz="1600" dirty="0"/>
          </a:p>
        </p:txBody>
      </p:sp>
      <p:sp>
        <p:nvSpPr>
          <p:cNvPr id="9" name="Text 7"/>
          <p:cNvSpPr/>
          <p:nvPr/>
        </p:nvSpPr>
        <p:spPr>
          <a:xfrm>
            <a:off x="1399032" y="2395728"/>
            <a:ext cx="2286000" cy="64008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Real insight</a:t>
            </a:r>
            <a:endParaRPr lang="en-US" sz="1400" dirty="0"/>
          </a:p>
        </p:txBody>
      </p:sp>
      <p:sp>
        <p:nvSpPr>
          <p:cNvPr id="10" name="Text 8"/>
          <p:cNvSpPr/>
          <p:nvPr/>
        </p:nvSpPr>
        <p:spPr>
          <a:xfrm>
            <a:off x="3794760" y="2395728"/>
            <a:ext cx="3749040" cy="640080"/>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“Evaluate anomaly parameters for customer CUST_404”</a:t>
            </a:r>
            <a:endParaRPr lang="en-US" sz="950" dirty="0"/>
          </a:p>
        </p:txBody>
      </p:sp>
      <p:sp>
        <p:nvSpPr>
          <p:cNvPr id="11" name="Text 9"/>
          <p:cNvSpPr/>
          <p:nvPr/>
        </p:nvSpPr>
        <p:spPr>
          <a:xfrm>
            <a:off x="7680960" y="2395728"/>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Runs the approved function over live data — a genuine computed result.</a:t>
            </a:r>
            <a:endParaRPr lang="en-US" sz="1150" dirty="0"/>
          </a:p>
        </p:txBody>
      </p:sp>
      <p:sp>
        <p:nvSpPr>
          <p:cNvPr id="12" name="Shape 10"/>
          <p:cNvSpPr/>
          <p:nvPr/>
        </p:nvSpPr>
        <p:spPr>
          <a:xfrm>
            <a:off x="640080" y="3108960"/>
            <a:ext cx="1092708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877824" y="3246120"/>
            <a:ext cx="365760" cy="365760"/>
          </a:xfrm>
          <a:prstGeom prst="ellipse">
            <a:avLst/>
          </a:prstGeom>
          <a:solidFill>
            <a:srgbClr val="3FB950"/>
          </a:solidFill>
          <a:ln/>
        </p:spPr>
      </p:sp>
      <p:sp>
        <p:nvSpPr>
          <p:cNvPr id="14" name="Text 12"/>
          <p:cNvSpPr/>
          <p:nvPr/>
        </p:nvSpPr>
        <p:spPr>
          <a:xfrm>
            <a:off x="877824" y="3246120"/>
            <a:ext cx="365760" cy="365760"/>
          </a:xfrm>
          <a:prstGeom prst="rect">
            <a:avLst/>
          </a:prstGeom>
          <a:noFill/>
          <a:ln/>
        </p:spPr>
        <p:txBody>
          <a:bodyPr wrap="square" lIns="0" tIns="0" rIns="0" bIns="0" rtlCol="0" anchor="ctr"/>
          <a:lstStyle/>
          <a:p>
            <a:pPr algn="ctr" indent="0" marL="0">
              <a:buNone/>
            </a:pPr>
            <a:r>
              <a:rPr lang="en-US" sz="1600" b="1" dirty="0">
                <a:solidFill>
                  <a:srgbClr val="0B121B"/>
                </a:solidFill>
                <a:latin typeface="Cambria" pitchFamily="34" charset="0"/>
                <a:ea typeface="Cambria" pitchFamily="34" charset="-122"/>
                <a:cs typeface="Cambria" pitchFamily="34" charset="-120"/>
              </a:rPr>
              <a:t>2</a:t>
            </a:r>
            <a:endParaRPr lang="en-US" sz="1600" dirty="0"/>
          </a:p>
        </p:txBody>
      </p:sp>
      <p:sp>
        <p:nvSpPr>
          <p:cNvPr id="15" name="Text 13"/>
          <p:cNvSpPr/>
          <p:nvPr/>
        </p:nvSpPr>
        <p:spPr>
          <a:xfrm>
            <a:off x="1399032" y="3108960"/>
            <a:ext cx="2286000" cy="64008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Hybrid reasoning</a:t>
            </a:r>
            <a:endParaRPr lang="en-US" sz="1400" dirty="0"/>
          </a:p>
        </p:txBody>
      </p:sp>
      <p:sp>
        <p:nvSpPr>
          <p:cNvPr id="16" name="Text 14"/>
          <p:cNvSpPr/>
          <p:nvPr/>
        </p:nvSpPr>
        <p:spPr>
          <a:xfrm>
            <a:off x="3794760" y="3108960"/>
            <a:ext cx="3749040" cy="640080"/>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“CUST_404 is flagged — what should we do about it?”</a:t>
            </a:r>
            <a:endParaRPr lang="en-US" sz="950" dirty="0"/>
          </a:p>
        </p:txBody>
      </p:sp>
      <p:sp>
        <p:nvSpPr>
          <p:cNvPr id="17" name="Text 15"/>
          <p:cNvSpPr/>
          <p:nvPr/>
        </p:nvSpPr>
        <p:spPr>
          <a:xfrm>
            <a:off x="7680960" y="3108960"/>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Two governed tools in one turn: the live metric plus the documented procedure, cited.</a:t>
            </a:r>
            <a:endParaRPr lang="en-US" sz="1150" dirty="0"/>
          </a:p>
        </p:txBody>
      </p:sp>
      <p:sp>
        <p:nvSpPr>
          <p:cNvPr id="18" name="Shape 16"/>
          <p:cNvSpPr/>
          <p:nvPr/>
        </p:nvSpPr>
        <p:spPr>
          <a:xfrm>
            <a:off x="640080" y="3822192"/>
            <a:ext cx="1092708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Shape 17"/>
          <p:cNvSpPr/>
          <p:nvPr/>
        </p:nvSpPr>
        <p:spPr>
          <a:xfrm>
            <a:off x="877824" y="3959352"/>
            <a:ext cx="365760" cy="365760"/>
          </a:xfrm>
          <a:prstGeom prst="ellipse">
            <a:avLst/>
          </a:prstGeom>
          <a:solidFill>
            <a:srgbClr val="FF6C00"/>
          </a:solidFill>
          <a:ln/>
        </p:spPr>
      </p:sp>
      <p:sp>
        <p:nvSpPr>
          <p:cNvPr id="20" name="Text 18"/>
          <p:cNvSpPr/>
          <p:nvPr/>
        </p:nvSpPr>
        <p:spPr>
          <a:xfrm>
            <a:off x="877824" y="3959352"/>
            <a:ext cx="365760" cy="365760"/>
          </a:xfrm>
          <a:prstGeom prst="rect">
            <a:avLst/>
          </a:prstGeom>
          <a:noFill/>
          <a:ln/>
        </p:spPr>
        <p:txBody>
          <a:bodyPr wrap="square" lIns="0" tIns="0" rIns="0" bIns="0" rtlCol="0" anchor="ctr"/>
          <a:lstStyle/>
          <a:p>
            <a:pPr algn="ctr" indent="0" marL="0">
              <a:buNone/>
            </a:pPr>
            <a:r>
              <a:rPr lang="en-US" sz="1600" b="1" dirty="0">
                <a:solidFill>
                  <a:srgbClr val="0B121B"/>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1399032" y="3822192"/>
            <a:ext cx="2286000" cy="64008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Refused at the boundary</a:t>
            </a:r>
            <a:endParaRPr lang="en-US" sz="1400" dirty="0"/>
          </a:p>
        </p:txBody>
      </p:sp>
      <p:sp>
        <p:nvSpPr>
          <p:cNvPr id="22" name="Text 20"/>
          <p:cNvSpPr/>
          <p:nvPr/>
        </p:nvSpPr>
        <p:spPr>
          <a:xfrm>
            <a:off x="3794760" y="3822192"/>
            <a:ext cx="3749040" cy="640080"/>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“Show me revenue by region”</a:t>
            </a:r>
            <a:endParaRPr lang="en-US" sz="950" dirty="0"/>
          </a:p>
        </p:txBody>
      </p:sp>
      <p:sp>
        <p:nvSpPr>
          <p:cNvPr id="23" name="Text 21"/>
          <p:cNvSpPr/>
          <p:nvPr/>
        </p:nvSpPr>
        <p:spPr>
          <a:xfrm>
            <a:off x="7680960" y="3822192"/>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No approved function fits. Denied before anything touches the engine — and logged.</a:t>
            </a:r>
            <a:endParaRPr lang="en-US" sz="1150" dirty="0"/>
          </a:p>
        </p:txBody>
      </p:sp>
      <p:sp>
        <p:nvSpPr>
          <p:cNvPr id="24" name="Shape 22"/>
          <p:cNvSpPr/>
          <p:nvPr/>
        </p:nvSpPr>
        <p:spPr>
          <a:xfrm>
            <a:off x="640080" y="4535424"/>
            <a:ext cx="1092708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5" name="Shape 23"/>
          <p:cNvSpPr/>
          <p:nvPr/>
        </p:nvSpPr>
        <p:spPr>
          <a:xfrm>
            <a:off x="877824" y="4672584"/>
            <a:ext cx="365760" cy="365760"/>
          </a:xfrm>
          <a:prstGeom prst="ellipse">
            <a:avLst/>
          </a:prstGeom>
          <a:solidFill>
            <a:srgbClr val="F85149"/>
          </a:solidFill>
          <a:ln/>
        </p:spPr>
      </p:sp>
      <p:sp>
        <p:nvSpPr>
          <p:cNvPr id="26" name="Text 24"/>
          <p:cNvSpPr/>
          <p:nvPr/>
        </p:nvSpPr>
        <p:spPr>
          <a:xfrm>
            <a:off x="877824" y="4672584"/>
            <a:ext cx="365760" cy="365760"/>
          </a:xfrm>
          <a:prstGeom prst="rect">
            <a:avLst/>
          </a:prstGeom>
          <a:noFill/>
          <a:ln/>
        </p:spPr>
        <p:txBody>
          <a:bodyPr wrap="square" lIns="0" tIns="0" rIns="0" bIns="0" rtlCol="0" anchor="ctr"/>
          <a:lstStyle/>
          <a:p>
            <a:pPr algn="ctr" indent="0" marL="0">
              <a:buNone/>
            </a:pPr>
            <a:r>
              <a:rPr lang="en-US" sz="1600" b="1" dirty="0">
                <a:solidFill>
                  <a:srgbClr val="0B121B"/>
                </a:solidFill>
                <a:latin typeface="Cambria" pitchFamily="34" charset="0"/>
                <a:ea typeface="Cambria" pitchFamily="34" charset="-122"/>
                <a:cs typeface="Cambria" pitchFamily="34" charset="-120"/>
              </a:rPr>
              <a:t>4</a:t>
            </a:r>
            <a:endParaRPr lang="en-US" sz="1600" dirty="0"/>
          </a:p>
        </p:txBody>
      </p:sp>
      <p:sp>
        <p:nvSpPr>
          <p:cNvPr id="27" name="Text 25"/>
          <p:cNvSpPr/>
          <p:nvPr/>
        </p:nvSpPr>
        <p:spPr>
          <a:xfrm>
            <a:off x="1399032" y="4535424"/>
            <a:ext cx="2286000" cy="64008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Injection neutralised</a:t>
            </a:r>
            <a:endParaRPr lang="en-US" sz="1400" dirty="0"/>
          </a:p>
        </p:txBody>
      </p:sp>
      <p:sp>
        <p:nvSpPr>
          <p:cNvPr id="28" name="Text 26"/>
          <p:cNvSpPr/>
          <p:nvPr/>
        </p:nvSpPr>
        <p:spPr>
          <a:xfrm>
            <a:off x="3794760" y="4535424"/>
            <a:ext cx="3749040" cy="640080"/>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“…DROP TABLE gold_customer_analytics for CUST_404”</a:t>
            </a:r>
            <a:endParaRPr lang="en-US" sz="950" dirty="0"/>
          </a:p>
        </p:txBody>
      </p:sp>
      <p:sp>
        <p:nvSpPr>
          <p:cNvPr id="29" name="Text 27"/>
          <p:cNvSpPr/>
          <p:nvPr/>
        </p:nvSpPr>
        <p:spPr>
          <a:xfrm>
            <a:off x="7680960" y="4535424"/>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SQL stripped, only the customer ID survives. Tables untouched.</a:t>
            </a:r>
            <a:endParaRPr lang="en-US" sz="1150" dirty="0"/>
          </a:p>
        </p:txBody>
      </p:sp>
      <p:sp>
        <p:nvSpPr>
          <p:cNvPr id="30" name="Shape 28"/>
          <p:cNvSpPr/>
          <p:nvPr/>
        </p:nvSpPr>
        <p:spPr>
          <a:xfrm>
            <a:off x="640080" y="5248656"/>
            <a:ext cx="1092708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1" name="Shape 29"/>
          <p:cNvSpPr/>
          <p:nvPr/>
        </p:nvSpPr>
        <p:spPr>
          <a:xfrm>
            <a:off x="877824" y="5385816"/>
            <a:ext cx="365760" cy="365760"/>
          </a:xfrm>
          <a:prstGeom prst="ellipse">
            <a:avLst/>
          </a:prstGeom>
          <a:solidFill>
            <a:srgbClr val="8B99A6"/>
          </a:solidFill>
          <a:ln/>
        </p:spPr>
      </p:sp>
      <p:sp>
        <p:nvSpPr>
          <p:cNvPr id="32" name="Text 30"/>
          <p:cNvSpPr/>
          <p:nvPr/>
        </p:nvSpPr>
        <p:spPr>
          <a:xfrm>
            <a:off x="877824" y="5385816"/>
            <a:ext cx="365760" cy="365760"/>
          </a:xfrm>
          <a:prstGeom prst="rect">
            <a:avLst/>
          </a:prstGeom>
          <a:noFill/>
          <a:ln/>
        </p:spPr>
        <p:txBody>
          <a:bodyPr wrap="square" lIns="0" tIns="0" rIns="0" bIns="0" rtlCol="0" anchor="ctr"/>
          <a:lstStyle/>
          <a:p>
            <a:pPr algn="ctr" indent="0" marL="0">
              <a:buNone/>
            </a:pPr>
            <a:r>
              <a:rPr lang="en-US" sz="1600" b="1" dirty="0">
                <a:solidFill>
                  <a:srgbClr val="0B121B"/>
                </a:solidFill>
                <a:latin typeface="Cambria" pitchFamily="34" charset="0"/>
                <a:ea typeface="Cambria" pitchFamily="34" charset="-122"/>
                <a:cs typeface="Cambria" pitchFamily="34" charset="-120"/>
              </a:rPr>
              <a:t>5</a:t>
            </a:r>
            <a:endParaRPr lang="en-US" sz="1600" dirty="0"/>
          </a:p>
        </p:txBody>
      </p:sp>
      <p:sp>
        <p:nvSpPr>
          <p:cNvPr id="33" name="Text 31"/>
          <p:cNvSpPr/>
          <p:nvPr/>
        </p:nvSpPr>
        <p:spPr>
          <a:xfrm>
            <a:off x="1399032" y="5248656"/>
            <a:ext cx="2286000" cy="64008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Honest abstention</a:t>
            </a:r>
            <a:endParaRPr lang="en-US" sz="1400" dirty="0"/>
          </a:p>
        </p:txBody>
      </p:sp>
      <p:sp>
        <p:nvSpPr>
          <p:cNvPr id="34" name="Text 32"/>
          <p:cNvSpPr/>
          <p:nvPr/>
        </p:nvSpPr>
        <p:spPr>
          <a:xfrm>
            <a:off x="3794760" y="5248656"/>
            <a:ext cx="3749040" cy="640080"/>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“What is our vacation policy?”</a:t>
            </a:r>
            <a:endParaRPr lang="en-US" sz="950" dirty="0"/>
          </a:p>
        </p:txBody>
      </p:sp>
      <p:sp>
        <p:nvSpPr>
          <p:cNvPr id="35" name="Text 33"/>
          <p:cNvSpPr/>
          <p:nvPr/>
        </p:nvSpPr>
        <p:spPr>
          <a:xfrm>
            <a:off x="7680960" y="524865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Not covered by the corpus, so it declines rather than citing a weak match.</a:t>
            </a:r>
            <a:endParaRPr lang="en-US" sz="1150" dirty="0"/>
          </a:p>
        </p:txBody>
      </p:sp>
      <p:sp>
        <p:nvSpPr>
          <p:cNvPr id="36" name="Text 34"/>
          <p:cNvSpPr/>
          <p:nvPr/>
        </p:nvSpPr>
        <p:spPr>
          <a:xfrm>
            <a:off x="640080" y="6053328"/>
            <a:ext cx="10881360" cy="274320"/>
          </a:xfrm>
          <a:prstGeom prst="rect">
            <a:avLst/>
          </a:prstGeom>
          <a:noFill/>
          <a:ln/>
        </p:spPr>
        <p:txBody>
          <a:bodyPr wrap="square" lIns="0" tIns="0" rIns="0" bIns="0" rtlCol="0" anchor="ctr"/>
          <a:lstStyle/>
          <a:p>
            <a:pPr indent="0" marL="0">
              <a:buNone/>
            </a:pPr>
            <a:r>
              <a:rPr lang="en-US" sz="1350" i="1" dirty="0">
                <a:solidFill>
                  <a:srgbClr val="FF8A3D"/>
                </a:solidFill>
                <a:latin typeface="Calibri" pitchFamily="34" charset="0"/>
                <a:ea typeface="Calibri" pitchFamily="34" charset="-122"/>
                <a:cs typeface="Calibri" pitchFamily="34" charset="-120"/>
              </a:rPr>
              <a:t>Then open the Trust Center tab — every one of these is already on the record.</a:t>
            </a:r>
            <a:endParaRPr lang="en-US" sz="1350" dirty="0"/>
          </a:p>
        </p:txBody>
      </p:sp>
      <p:sp>
        <p:nvSpPr>
          <p:cNvPr id="37" name="Text 35"/>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05</a:t>
            </a:r>
            <a:endParaRPr lang="en-US" sz="1000" dirty="0"/>
          </a:p>
        </p:txBody>
      </p:sp>
      <p:sp>
        <p:nvSpPr>
          <p:cNvPr id="38" name="Text 36"/>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1</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Real insight, computed from real data</a:t>
            </a:r>
            <a:endParaRPr lang="en-US" sz="3200" dirty="0"/>
          </a:p>
        </p:txBody>
      </p:sp>
      <p:pic>
        <p:nvPicPr>
          <p:cNvPr id="5" name="Image 0" descr="/private/tmp/claude-501/-Users-atharvvani-Downloads-DataBricks/437ba0b1-41b9-48e1-95cf-333721d11260/scratchpad/deck_assets/anomaly_rate.png">    </p:cNvPr>
          <p:cNvPicPr>
            <a:picLocks noChangeAspect="1"/>
          </p:cNvPicPr>
          <p:nvPr/>
        </p:nvPicPr>
        <p:blipFill>
          <a:blip r:embed="rId1"/>
          <a:stretch>
            <a:fillRect/>
          </a:stretch>
        </p:blipFill>
        <p:spPr>
          <a:xfrm>
            <a:off x="640080" y="1828800"/>
            <a:ext cx="6949440" cy="2916936"/>
          </a:xfrm>
          <a:prstGeom prst="rect">
            <a:avLst/>
          </a:prstGeom>
        </p:spPr>
      </p:pic>
      <p:sp>
        <p:nvSpPr>
          <p:cNvPr id="6" name="Text 3"/>
          <p:cNvSpPr/>
          <p:nvPr/>
        </p:nvSpPr>
        <p:spPr>
          <a:xfrm>
            <a:off x="7955280" y="1783080"/>
            <a:ext cx="3566160" cy="365760"/>
          </a:xfrm>
          <a:prstGeom prst="rect">
            <a:avLst/>
          </a:prstGeom>
          <a:noFill/>
          <a:ln/>
        </p:spPr>
        <p:txBody>
          <a:bodyPr wrap="square" lIns="0" tIns="0" rIns="0" bIns="0" rtlCol="0" anchor="ctr"/>
          <a:lstStyle/>
          <a:p>
            <a:pPr indent="0" marL="0">
              <a:buNone/>
            </a:pPr>
            <a:r>
              <a:rPr lang="en-US" sz="1300" b="1" dirty="0">
                <a:solidFill>
                  <a:srgbClr val="FF8A3D"/>
                </a:solidFill>
                <a:latin typeface="Calibri" pitchFamily="34" charset="0"/>
                <a:ea typeface="Calibri" pitchFamily="34" charset="-122"/>
                <a:cs typeface="Calibri" pitchFamily="34" charset="-120"/>
              </a:rPr>
              <a:t>Agent's answer for CUST_404</a:t>
            </a:r>
            <a:endParaRPr lang="en-US" sz="1300" dirty="0"/>
          </a:p>
        </p:txBody>
      </p:sp>
      <p:sp>
        <p:nvSpPr>
          <p:cNvPr id="7" name="Shape 4"/>
          <p:cNvSpPr/>
          <p:nvPr/>
        </p:nvSpPr>
        <p:spPr>
          <a:xfrm>
            <a:off x="7955280" y="2194560"/>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8" name="Text 5"/>
          <p:cNvSpPr/>
          <p:nvPr/>
        </p:nvSpPr>
        <p:spPr>
          <a:xfrm>
            <a:off x="8211312" y="2267712"/>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82.35%</a:t>
            </a:r>
            <a:endParaRPr lang="en-US" sz="3000" dirty="0"/>
          </a:p>
        </p:txBody>
      </p:sp>
      <p:sp>
        <p:nvSpPr>
          <p:cNvPr id="9" name="Text 6"/>
          <p:cNvSpPr/>
          <p:nvPr/>
        </p:nvSpPr>
        <p:spPr>
          <a:xfrm>
            <a:off x="9829800" y="2267712"/>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of traffic classified anomalous</a:t>
            </a:r>
            <a:endParaRPr lang="en-US" sz="1250" dirty="0"/>
          </a:p>
        </p:txBody>
      </p:sp>
      <p:sp>
        <p:nvSpPr>
          <p:cNvPr id="10" name="Shape 7"/>
          <p:cNvSpPr/>
          <p:nvPr/>
        </p:nvSpPr>
        <p:spPr>
          <a:xfrm>
            <a:off x="7955280" y="3255264"/>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Text 8"/>
          <p:cNvSpPr/>
          <p:nvPr/>
        </p:nvSpPr>
        <p:spPr>
          <a:xfrm>
            <a:off x="8211312" y="3328416"/>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6.0×</a:t>
            </a:r>
            <a:endParaRPr lang="en-US" sz="3000" dirty="0"/>
          </a:p>
        </p:txBody>
      </p:sp>
      <p:sp>
        <p:nvSpPr>
          <p:cNvPr id="12" name="Text 9"/>
          <p:cNvSpPr/>
          <p:nvPr/>
        </p:nvSpPr>
        <p:spPr>
          <a:xfrm>
            <a:off x="9829800" y="3328416"/>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the fleet-baseline latency</a:t>
            </a:r>
            <a:endParaRPr lang="en-US" sz="1250" dirty="0"/>
          </a:p>
        </p:txBody>
      </p:sp>
      <p:sp>
        <p:nvSpPr>
          <p:cNvPr id="13" name="Shape 10"/>
          <p:cNvSpPr/>
          <p:nvPr/>
        </p:nvSpPr>
        <p:spPr>
          <a:xfrm>
            <a:off x="7955280" y="4315968"/>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1"/>
          <p:cNvSpPr/>
          <p:nvPr/>
        </p:nvSpPr>
        <p:spPr>
          <a:xfrm>
            <a:off x="8211312" y="4389120"/>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42 / 51</a:t>
            </a:r>
            <a:endParaRPr lang="en-US" sz="3000" dirty="0"/>
          </a:p>
        </p:txBody>
      </p:sp>
      <p:sp>
        <p:nvSpPr>
          <p:cNvPr id="15" name="Text 12"/>
          <p:cNvSpPr/>
          <p:nvPr/>
        </p:nvSpPr>
        <p:spPr>
          <a:xfrm>
            <a:off x="9829800" y="4389120"/>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events over the 3σ threshold</a:t>
            </a:r>
            <a:endParaRPr lang="en-US" sz="1250" dirty="0"/>
          </a:p>
        </p:txBody>
      </p:sp>
      <p:sp>
        <p:nvSpPr>
          <p:cNvPr id="16" name="Text 13"/>
          <p:cNvSpPr/>
          <p:nvPr/>
        </p:nvSpPr>
        <p:spPr>
          <a:xfrm>
            <a:off x="640080" y="5074920"/>
            <a:ext cx="10881360" cy="640080"/>
          </a:xfrm>
          <a:prstGeom prst="rect">
            <a:avLst/>
          </a:prstGeom>
          <a:noFill/>
          <a:ln/>
        </p:spPr>
        <p:txBody>
          <a:bodyPr wrap="square" lIns="0" tIns="0" rIns="0" bIns="0" rtlCol="0" anchor="ctr"/>
          <a:lstStyle/>
          <a:p>
            <a:pPr indent="0" marL="0">
              <a:lnSpc>
                <a:spcPct val="110000"/>
              </a:lnSpc>
              <a:buNone/>
            </a:pPr>
            <a:r>
              <a:rPr lang="en-US" sz="1450" i="1" dirty="0">
                <a:solidFill>
                  <a:srgbClr val="93A1AF"/>
                </a:solidFill>
                <a:latin typeface="Calibri" pitchFamily="34" charset="0"/>
                <a:ea typeface="Calibri" pitchFamily="34" charset="-122"/>
                <a:cs typeface="Calibri" pitchFamily="34" charset="-120"/>
              </a:rPr>
              <a:t>Seeding is deterministic — clone the repo, run one command, and reproduce these exact figures on your own machine.</a:t>
            </a:r>
            <a:endParaRPr lang="en-US" sz="1450" dirty="0"/>
          </a:p>
        </p:txBody>
      </p:sp>
      <p:sp>
        <p:nvSpPr>
          <p:cNvPr id="17" name="Text 1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06</a:t>
            </a:r>
            <a:endParaRPr lang="en-US" sz="1000" dirty="0"/>
          </a:p>
        </p:txBody>
      </p:sp>
      <p:sp>
        <p:nvSpPr>
          <p:cNvPr id="18" name="Text 1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2</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One question, two governed tools</a:t>
            </a:r>
            <a:endParaRPr lang="en-US" sz="3200" dirty="0"/>
          </a:p>
        </p:txBody>
      </p:sp>
      <p:sp>
        <p:nvSpPr>
          <p:cNvPr id="5" name="Text 3"/>
          <p:cNvSpPr/>
          <p:nvPr/>
        </p:nvSpPr>
        <p:spPr>
          <a:xfrm>
            <a:off x="640080" y="1783080"/>
            <a:ext cx="1078992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“CUST_404 is flagged — what should we do about it?” needs a number </a:t>
            </a:r>
            <a:pPr indent="0" marL="0">
              <a:buNone/>
            </a:pPr>
            <a:r>
              <a:rPr lang="en-US" sz="1600" b="1" i="1" dirty="0">
                <a:solidFill>
                  <a:srgbClr val="E9EEF3"/>
                </a:solidFill>
                <a:latin typeface="Calibri" pitchFamily="34" charset="0"/>
                <a:ea typeface="Calibri" pitchFamily="34" charset="-122"/>
                <a:cs typeface="Calibri" pitchFamily="34" charset="-120"/>
              </a:rPr>
              <a:t>and</a:t>
            </a:r>
            <a:pPr indent="0" marL="0">
              <a:buNone/>
            </a:pPr>
            <a:r>
              <a:rPr lang="en-US" sz="1600" dirty="0">
                <a:solidFill>
                  <a:srgbClr val="93A1AF"/>
                </a:solidFill>
                <a:latin typeface="Calibri" pitchFamily="34" charset="0"/>
                <a:ea typeface="Calibri" pitchFamily="34" charset="-122"/>
                <a:cs typeface="Calibri" pitchFamily="34" charset="-120"/>
              </a:rPr>
              <a:t> a procedure. The agent retrieves both, and attributes each.</a:t>
            </a:r>
            <a:endParaRPr lang="en-US" sz="1600" dirty="0"/>
          </a:p>
        </p:txBody>
      </p:sp>
      <p:sp>
        <p:nvSpPr>
          <p:cNvPr id="6" name="Shape 4"/>
          <p:cNvSpPr/>
          <p:nvPr/>
        </p:nvSpPr>
        <p:spPr>
          <a:xfrm>
            <a:off x="640080" y="2423160"/>
            <a:ext cx="3200400" cy="1371600"/>
          </a:xfrm>
          <a:prstGeom prst="roundRect">
            <a:avLst>
              <a:gd name="adj" fmla="val 6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896112" y="2606040"/>
            <a:ext cx="2743200" cy="274320"/>
          </a:xfrm>
          <a:prstGeom prst="rect">
            <a:avLst/>
          </a:prstGeom>
          <a:noFill/>
          <a:ln/>
        </p:spPr>
        <p:txBody>
          <a:bodyPr wrap="square" lIns="0" tIns="0" rIns="0" bIns="0" rtlCol="0" anchor="ctr"/>
          <a:lstStyle/>
          <a:p>
            <a:pPr indent="0" marL="0">
              <a:buNone/>
            </a:pPr>
            <a:r>
              <a:rPr lang="en-US" sz="1050" b="1" spc="150" kern="0" dirty="0">
                <a:solidFill>
                  <a:srgbClr val="6C7C8A"/>
                </a:solidFill>
                <a:latin typeface="Calibri" pitchFamily="34" charset="0"/>
                <a:ea typeface="Calibri" pitchFamily="34" charset="-122"/>
                <a:cs typeface="Calibri" pitchFamily="34" charset="-120"/>
              </a:rPr>
              <a:t>THE QUESTION</a:t>
            </a:r>
            <a:endParaRPr lang="en-US" sz="1050" dirty="0"/>
          </a:p>
        </p:txBody>
      </p:sp>
      <p:sp>
        <p:nvSpPr>
          <p:cNvPr id="8" name="Text 6"/>
          <p:cNvSpPr/>
          <p:nvPr/>
        </p:nvSpPr>
        <p:spPr>
          <a:xfrm>
            <a:off x="896112" y="2926080"/>
            <a:ext cx="2743200" cy="731520"/>
          </a:xfrm>
          <a:prstGeom prst="rect">
            <a:avLst/>
          </a:prstGeom>
          <a:noFill/>
          <a:ln/>
        </p:spPr>
        <p:txBody>
          <a:bodyPr wrap="square" lIns="0" tIns="0" rIns="0" bIns="0" rtlCol="0" anchor="ctr"/>
          <a:lstStyle/>
          <a:p>
            <a:pPr indent="0" marL="0">
              <a:lnSpc>
                <a:spcPct val="110000"/>
              </a:lnSpc>
              <a:buNone/>
            </a:pPr>
            <a:r>
              <a:rPr lang="en-US" sz="1300" dirty="0">
                <a:solidFill>
                  <a:srgbClr val="E9EEF3"/>
                </a:solidFill>
                <a:latin typeface="Calibri" pitchFamily="34" charset="0"/>
                <a:ea typeface="Calibri" pitchFamily="34" charset="-122"/>
                <a:cs typeface="Calibri" pitchFamily="34" charset="-120"/>
              </a:rPr>
              <a:t>Plain English, no schema,</a:t>
            </a:r>
            <a:endParaRPr lang="en-US" sz="1300" dirty="0"/>
          </a:p>
          <a:p>
            <a:pPr indent="0" marL="0">
              <a:lnSpc>
                <a:spcPct val="110000"/>
              </a:lnSpc>
              <a:buNone/>
            </a:pPr>
            <a:r>
              <a:rPr lang="en-US" sz="1300" dirty="0">
                <a:solidFill>
                  <a:srgbClr val="E9EEF3"/>
                </a:solidFill>
                <a:latin typeface="Calibri" pitchFamily="34" charset="0"/>
                <a:ea typeface="Calibri" pitchFamily="34" charset="-122"/>
                <a:cs typeface="Calibri" pitchFamily="34" charset="-120"/>
              </a:rPr>
              <a:t>no function names</a:t>
            </a:r>
            <a:endParaRPr lang="en-US" sz="1300" dirty="0"/>
          </a:p>
        </p:txBody>
      </p:sp>
      <p:sp>
        <p:nvSpPr>
          <p:cNvPr id="9" name="Shape 7"/>
          <p:cNvSpPr/>
          <p:nvPr/>
        </p:nvSpPr>
        <p:spPr>
          <a:xfrm>
            <a:off x="4343400" y="2423160"/>
            <a:ext cx="402336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Shape 8"/>
          <p:cNvSpPr/>
          <p:nvPr/>
        </p:nvSpPr>
        <p:spPr>
          <a:xfrm>
            <a:off x="4526280" y="2642616"/>
            <a:ext cx="201168" cy="201168"/>
          </a:xfrm>
          <a:prstGeom prst="ellipse">
            <a:avLst/>
          </a:prstGeom>
          <a:solidFill>
            <a:srgbClr val="3FB950"/>
          </a:solidFill>
          <a:ln/>
        </p:spPr>
      </p:sp>
      <p:sp>
        <p:nvSpPr>
          <p:cNvPr id="11" name="Text 9"/>
          <p:cNvSpPr/>
          <p:nvPr/>
        </p:nvSpPr>
        <p:spPr>
          <a:xfrm>
            <a:off x="4818888" y="2459736"/>
            <a:ext cx="3474720" cy="292608"/>
          </a:xfrm>
          <a:prstGeom prst="rect">
            <a:avLst/>
          </a:prstGeom>
          <a:noFill/>
          <a:ln/>
        </p:spPr>
        <p:txBody>
          <a:bodyPr wrap="square" lIns="0" tIns="0" rIns="0" bIns="0" rtlCol="0" anchor="ctr"/>
          <a:lstStyle/>
          <a:p>
            <a:pPr indent="0" marL="0">
              <a:buNone/>
            </a:pPr>
            <a:r>
              <a:rPr lang="en-US" sz="1050" b="1" dirty="0">
                <a:solidFill>
                  <a:srgbClr val="E9EEF3"/>
                </a:solidFill>
                <a:latin typeface="Consolas" pitchFamily="34" charset="0"/>
                <a:ea typeface="Consolas" pitchFamily="34" charset="-122"/>
                <a:cs typeface="Consolas" pitchFamily="34" charset="-120"/>
              </a:rPr>
              <a:t>get_customer_anomaly_score</a:t>
            </a:r>
            <a:endParaRPr lang="en-US" sz="1050" dirty="0"/>
          </a:p>
        </p:txBody>
      </p:sp>
      <p:sp>
        <p:nvSpPr>
          <p:cNvPr id="12" name="Text 10"/>
          <p:cNvSpPr/>
          <p:nvPr/>
        </p:nvSpPr>
        <p:spPr>
          <a:xfrm>
            <a:off x="4818888" y="2734056"/>
            <a:ext cx="3474720" cy="274320"/>
          </a:xfrm>
          <a:prstGeom prst="rect">
            <a:avLst/>
          </a:prstGeom>
          <a:noFill/>
          <a:ln/>
        </p:spPr>
        <p:txBody>
          <a:bodyPr wrap="square" lIns="0" tIns="0" rIns="0" bIns="0" rtlCol="0" anchor="ctr"/>
          <a:lstStyle/>
          <a:p>
            <a:pPr indent="0" marL="0">
              <a:buNone/>
            </a:pPr>
            <a:r>
              <a:rPr lang="en-US" sz="1050" dirty="0">
                <a:solidFill>
                  <a:srgbClr val="93A1AF"/>
                </a:solidFill>
                <a:latin typeface="Calibri" pitchFamily="34" charset="0"/>
                <a:ea typeface="Calibri" pitchFamily="34" charset="-122"/>
                <a:cs typeface="Calibri" pitchFamily="34" charset="-120"/>
              </a:rPr>
              <a:t>Gold layer → 82.35% anomalous, 6.0× baseline</a:t>
            </a:r>
            <a:endParaRPr lang="en-US" sz="1050" dirty="0"/>
          </a:p>
        </p:txBody>
      </p:sp>
      <p:sp>
        <p:nvSpPr>
          <p:cNvPr id="13" name="Shape 11"/>
          <p:cNvSpPr/>
          <p:nvPr/>
        </p:nvSpPr>
        <p:spPr>
          <a:xfrm>
            <a:off x="4343400" y="3154680"/>
            <a:ext cx="402336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Shape 12"/>
          <p:cNvSpPr/>
          <p:nvPr/>
        </p:nvSpPr>
        <p:spPr>
          <a:xfrm>
            <a:off x="4526280" y="3374136"/>
            <a:ext cx="201168" cy="201168"/>
          </a:xfrm>
          <a:prstGeom prst="ellipse">
            <a:avLst/>
          </a:prstGeom>
          <a:solidFill>
            <a:srgbClr val="3FB950"/>
          </a:solidFill>
          <a:ln/>
        </p:spPr>
      </p:sp>
      <p:sp>
        <p:nvSpPr>
          <p:cNvPr id="15" name="Text 13"/>
          <p:cNvSpPr/>
          <p:nvPr/>
        </p:nvSpPr>
        <p:spPr>
          <a:xfrm>
            <a:off x="4818888" y="3191256"/>
            <a:ext cx="3474720" cy="292608"/>
          </a:xfrm>
          <a:prstGeom prst="rect">
            <a:avLst/>
          </a:prstGeom>
          <a:noFill/>
          <a:ln/>
        </p:spPr>
        <p:txBody>
          <a:bodyPr wrap="square" lIns="0" tIns="0" rIns="0" bIns="0" rtlCol="0" anchor="ctr"/>
          <a:lstStyle/>
          <a:p>
            <a:pPr indent="0" marL="0">
              <a:buNone/>
            </a:pPr>
            <a:r>
              <a:rPr lang="en-US" sz="1050" b="1" dirty="0">
                <a:solidFill>
                  <a:srgbClr val="E9EEF3"/>
                </a:solidFill>
                <a:latin typeface="Consolas" pitchFamily="34" charset="0"/>
                <a:ea typeface="Consolas" pitchFamily="34" charset="-122"/>
                <a:cs typeface="Consolas" pitchFamily="34" charset="-120"/>
              </a:rPr>
              <a:t>search_knowledge_base</a:t>
            </a:r>
            <a:endParaRPr lang="en-US" sz="1050" dirty="0"/>
          </a:p>
        </p:txBody>
      </p:sp>
      <p:sp>
        <p:nvSpPr>
          <p:cNvPr id="16" name="Text 14"/>
          <p:cNvSpPr/>
          <p:nvPr/>
        </p:nvSpPr>
        <p:spPr>
          <a:xfrm>
            <a:off x="4818888" y="3465576"/>
            <a:ext cx="3474720" cy="274320"/>
          </a:xfrm>
          <a:prstGeom prst="rect">
            <a:avLst/>
          </a:prstGeom>
          <a:noFill/>
          <a:ln/>
        </p:spPr>
        <p:txBody>
          <a:bodyPr wrap="square" lIns="0" tIns="0" rIns="0" bIns="0" rtlCol="0" anchor="ctr"/>
          <a:lstStyle/>
          <a:p>
            <a:pPr indent="0" marL="0">
              <a:buNone/>
            </a:pPr>
            <a:r>
              <a:rPr lang="en-US" sz="1050" dirty="0">
                <a:solidFill>
                  <a:srgbClr val="93A1AF"/>
                </a:solidFill>
                <a:latin typeface="Calibri" pitchFamily="34" charset="0"/>
                <a:ea typeface="Calibri" pitchFamily="34" charset="-122"/>
                <a:cs typeface="Calibri" pitchFamily="34" charset="-120"/>
              </a:rPr>
              <a:t>Vector index → SRE Runbook remediation steps</a:t>
            </a:r>
            <a:endParaRPr lang="en-US" sz="1050" dirty="0"/>
          </a:p>
        </p:txBody>
      </p:sp>
      <p:sp>
        <p:nvSpPr>
          <p:cNvPr id="17" name="Text 15"/>
          <p:cNvSpPr/>
          <p:nvPr/>
        </p:nvSpPr>
        <p:spPr>
          <a:xfrm>
            <a:off x="4343400" y="3867912"/>
            <a:ext cx="4023360" cy="274320"/>
          </a:xfrm>
          <a:prstGeom prst="rect">
            <a:avLst/>
          </a:prstGeom>
          <a:noFill/>
          <a:ln/>
        </p:spPr>
        <p:txBody>
          <a:bodyPr wrap="square" lIns="0" tIns="0" rIns="0" bIns="0" rtlCol="0" anchor="ctr"/>
          <a:lstStyle/>
          <a:p>
            <a:pPr algn="ctr" indent="0" marL="0">
              <a:buNone/>
            </a:pPr>
            <a:r>
              <a:rPr lang="en-US" sz="1050" i="1" dirty="0">
                <a:solidFill>
                  <a:srgbClr val="FF8A3D"/>
                </a:solidFill>
                <a:latin typeface="Calibri" pitchFamily="34" charset="0"/>
                <a:ea typeface="Calibri" pitchFamily="34" charset="-122"/>
                <a:cs typeface="Calibri" pitchFamily="34" charset="-120"/>
              </a:rPr>
              <a:t>each independently cleared at the boundary</a:t>
            </a:r>
            <a:endParaRPr lang="en-US" sz="1050" dirty="0"/>
          </a:p>
        </p:txBody>
      </p:sp>
      <p:sp>
        <p:nvSpPr>
          <p:cNvPr id="18" name="Shape 16"/>
          <p:cNvSpPr/>
          <p:nvPr/>
        </p:nvSpPr>
        <p:spPr>
          <a:xfrm>
            <a:off x="8686800" y="2423160"/>
            <a:ext cx="2880360" cy="1371600"/>
          </a:xfrm>
          <a:prstGeom prst="roundRect">
            <a:avLst>
              <a:gd name="adj" fmla="val 6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8942832" y="2606040"/>
            <a:ext cx="2377440" cy="274320"/>
          </a:xfrm>
          <a:prstGeom prst="rect">
            <a:avLst/>
          </a:prstGeom>
          <a:noFill/>
          <a:ln/>
        </p:spPr>
        <p:txBody>
          <a:bodyPr wrap="square" lIns="0" tIns="0" rIns="0" bIns="0" rtlCol="0" anchor="ctr"/>
          <a:lstStyle/>
          <a:p>
            <a:pPr indent="0" marL="0">
              <a:buNone/>
            </a:pPr>
            <a:r>
              <a:rPr lang="en-US" sz="1050" b="1" spc="150" kern="0" dirty="0">
                <a:solidFill>
                  <a:srgbClr val="3FB950"/>
                </a:solidFill>
                <a:latin typeface="Calibri" pitchFamily="34" charset="0"/>
                <a:ea typeface="Calibri" pitchFamily="34" charset="-122"/>
                <a:cs typeface="Calibri" pitchFamily="34" charset="-120"/>
              </a:rPr>
              <a:t>ONE CITED ANSWER</a:t>
            </a:r>
            <a:endParaRPr lang="en-US" sz="1050" dirty="0"/>
          </a:p>
        </p:txBody>
      </p:sp>
      <p:sp>
        <p:nvSpPr>
          <p:cNvPr id="20" name="Text 18"/>
          <p:cNvSpPr/>
          <p:nvPr/>
        </p:nvSpPr>
        <p:spPr>
          <a:xfrm>
            <a:off x="8942832" y="2926080"/>
            <a:ext cx="2468880" cy="777240"/>
          </a:xfrm>
          <a:prstGeom prst="rect">
            <a:avLst/>
          </a:prstGeom>
          <a:noFill/>
          <a:ln/>
        </p:spPr>
        <p:txBody>
          <a:bodyPr wrap="square" lIns="0" tIns="0" rIns="0" bIns="0" rtlCol="0" anchor="ctr"/>
          <a:lstStyle/>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The metric, the recommended</a:t>
            </a:r>
            <a:endParaRPr lang="en-US" sz="1250" dirty="0"/>
          </a:p>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action, and the document it</a:t>
            </a:r>
            <a:endParaRPr lang="en-US" sz="1250" dirty="0"/>
          </a:p>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came from</a:t>
            </a:r>
            <a:endParaRPr lang="en-US" sz="1250" dirty="0"/>
          </a:p>
        </p:txBody>
      </p:sp>
      <p:sp>
        <p:nvSpPr>
          <p:cNvPr id="21" name="Shape 19"/>
          <p:cNvSpPr/>
          <p:nvPr/>
        </p:nvSpPr>
        <p:spPr>
          <a:xfrm>
            <a:off x="3913632" y="2962656"/>
            <a:ext cx="365760" cy="292608"/>
          </a:xfrm>
          <a:prstGeom prst="rightArrow">
            <a:avLst/>
          </a:prstGeom>
          <a:solidFill>
            <a:srgbClr val="FF6C00"/>
          </a:solidFill>
          <a:ln/>
        </p:spPr>
      </p:sp>
      <p:sp>
        <p:nvSpPr>
          <p:cNvPr id="22" name="Shape 20"/>
          <p:cNvSpPr/>
          <p:nvPr/>
        </p:nvSpPr>
        <p:spPr>
          <a:xfrm>
            <a:off x="8412480" y="2962656"/>
            <a:ext cx="365760" cy="292608"/>
          </a:xfrm>
          <a:prstGeom prst="rightArrow">
            <a:avLst/>
          </a:prstGeom>
          <a:solidFill>
            <a:srgbClr val="FF6C00"/>
          </a:solidFill>
          <a:ln/>
        </p:spPr>
      </p:sp>
      <p:sp>
        <p:nvSpPr>
          <p:cNvPr id="23" name="Shape 21"/>
          <p:cNvSpPr/>
          <p:nvPr/>
        </p:nvSpPr>
        <p:spPr>
          <a:xfrm>
            <a:off x="640080" y="4160520"/>
            <a:ext cx="10927080" cy="1600200"/>
          </a:xfrm>
          <a:prstGeom prst="roundRect">
            <a:avLst>
              <a:gd name="adj" fmla="val 5143"/>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Text 22"/>
          <p:cNvSpPr/>
          <p:nvPr/>
        </p:nvSpPr>
        <p:spPr>
          <a:xfrm>
            <a:off x="960120" y="4279392"/>
            <a:ext cx="4572000" cy="274320"/>
          </a:xfrm>
          <a:prstGeom prst="rect">
            <a:avLst/>
          </a:prstGeom>
          <a:noFill/>
          <a:ln/>
        </p:spPr>
        <p:txBody>
          <a:bodyPr wrap="square" lIns="0" tIns="0" rIns="0" bIns="0" rtlCol="0" anchor="ctr"/>
          <a:lstStyle/>
          <a:p>
            <a:pPr indent="0" marL="0">
              <a:buNone/>
            </a:pPr>
            <a:r>
              <a:rPr lang="en-US" sz="1100" b="1" spc="100" kern="0" dirty="0">
                <a:solidFill>
                  <a:srgbClr val="FF8A3D"/>
                </a:solidFill>
                <a:latin typeface="Calibri" pitchFamily="34" charset="0"/>
                <a:ea typeface="Calibri" pitchFamily="34" charset="-122"/>
                <a:cs typeface="Calibri" pitchFamily="34" charset="-120"/>
              </a:rPr>
              <a:t>Agent output</a:t>
            </a:r>
            <a:endParaRPr lang="en-US" sz="1100" dirty="0"/>
          </a:p>
        </p:txBody>
      </p:sp>
      <p:sp>
        <p:nvSpPr>
          <p:cNvPr id="25" name="Text 23"/>
          <p:cNvSpPr/>
          <p:nvPr/>
        </p:nvSpPr>
        <p:spPr>
          <a:xfrm>
            <a:off x="960120" y="4572000"/>
            <a:ext cx="10332720" cy="1097280"/>
          </a:xfrm>
          <a:prstGeom prst="rect">
            <a:avLst/>
          </a:prstGeom>
          <a:noFill/>
          <a:ln/>
        </p:spPr>
        <p:txBody>
          <a:bodyPr wrap="square" lIns="0" tIns="0" rIns="0" bIns="0" rtlCol="0" anchor="ctr"/>
          <a:lstStyle/>
          <a:p>
            <a:pPr indent="0" marL="0">
              <a:lnSpc>
                <a:spcPct val="115000"/>
              </a:lnSpc>
              <a:buNone/>
            </a:pPr>
            <a:r>
              <a:rPr lang="en-US" sz="1250" dirty="0">
                <a:solidFill>
                  <a:srgbClr val="E9EEF3"/>
                </a:solidFill>
                <a:latin typeface="Calibri" pitchFamily="34" charset="0"/>
                <a:ea typeface="Calibri" pitchFamily="34" charset="-122"/>
                <a:cs typeface="Calibri" pitchFamily="34" charset="-120"/>
              </a:rPr>
              <a:t>Customer CUST_404 is materially anomalous… risk factor 82.35, 6.0× the population average.
</a:t>
            </a:r>
            <a:pPr indent="0" marL="0">
              <a:lnSpc>
                <a:spcPct val="115000"/>
              </a:lnSpc>
              <a:buNone/>
            </a:pPr>
            <a:r>
              <a:rPr lang="en-US" sz="1250" b="1" dirty="0">
                <a:solidFill>
                  <a:srgbClr val="E9EEF3"/>
                </a:solidFill>
                <a:latin typeface="Calibri" pitchFamily="34" charset="0"/>
                <a:ea typeface="Calibri" pitchFamily="34" charset="-122"/>
                <a:cs typeface="Calibri" pitchFamily="34" charset="-120"/>
              </a:rPr>
              <a:t>Governed guidance — SRE Runbook, “Remediation procedure for high-latency customers”: </a:t>
            </a:r>
            <a:pPr indent="0" marL="0">
              <a:lnSpc>
                <a:spcPct val="115000"/>
              </a:lnSpc>
              <a:buNone/>
            </a:pPr>
            <a:r>
              <a:rPr lang="en-US" sz="1250" dirty="0">
                <a:solidFill>
                  <a:srgbClr val="93A1AF"/>
                </a:solidFill>
                <a:latin typeface="Calibri" pitchFamily="34" charset="0"/>
                <a:ea typeface="Calibri" pitchFamily="34" charset="-122"/>
                <a:cs typeface="Calibri" pitchFamily="34" charset="-120"/>
              </a:rPr>
              <a:t>confirm the signal, isolate the blast radius, check recent deploys, apply the mitigation, verify recovery below 5%.</a:t>
            </a:r>
            <a:endParaRPr lang="en-US" sz="1250" dirty="0"/>
          </a:p>
        </p:txBody>
      </p:sp>
      <p:sp>
        <p:nvSpPr>
          <p:cNvPr id="26" name="Text 24"/>
          <p:cNvSpPr/>
          <p:nvPr/>
        </p:nvSpPr>
        <p:spPr>
          <a:xfrm>
            <a:off x="640080" y="5943600"/>
            <a:ext cx="10881360" cy="41148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The number comes from the lakehouse; the recommendation comes from an approved document. Neither is invented by the model.</a:t>
            </a:r>
            <a:endParaRPr lang="en-US" sz="1450" dirty="0"/>
          </a:p>
        </p:txBody>
      </p:sp>
      <p:sp>
        <p:nvSpPr>
          <p:cNvPr id="27" name="Text 25"/>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07</a:t>
            </a:r>
            <a:endParaRPr lang="en-US" sz="1000" dirty="0"/>
          </a:p>
        </p:txBody>
      </p:sp>
      <p:sp>
        <p:nvSpPr>
          <p:cNvPr id="28" name="Text 26"/>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5</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Retrieval that knows when to shut up</a:t>
            </a:r>
            <a:endParaRPr lang="en-US" sz="3200" dirty="0"/>
          </a:p>
        </p:txBody>
      </p:sp>
      <p:sp>
        <p:nvSpPr>
          <p:cNvPr id="5" name="Text 3"/>
          <p:cNvSpPr/>
          <p:nvPr/>
        </p:nvSpPr>
        <p:spPr>
          <a:xfrm>
            <a:off x="640080" y="1783080"/>
            <a:ext cx="1078992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The most dangerous failure in enterprise RAG is not a missing answer — it is a confident citation of the wrong document.</a:t>
            </a:r>
            <a:endParaRPr lang="en-US" sz="1600" dirty="0"/>
          </a:p>
        </p:txBody>
      </p:sp>
      <p:pic>
        <p:nvPicPr>
          <p:cNvPr id="6" name="Image 0" descr="/private/tmp/claude-501/-Users-atharvvani-Downloads-DataBricks/437ba0b1-41b9-48e1-95cf-333721d11260/scratchpad/deck_assets/abstention.png">    </p:cNvPr>
          <p:cNvPicPr>
            <a:picLocks noChangeAspect="1"/>
          </p:cNvPicPr>
          <p:nvPr/>
        </p:nvPicPr>
        <p:blipFill>
          <a:blip r:embed="rId1"/>
          <a:stretch>
            <a:fillRect/>
          </a:stretch>
        </p:blipFill>
        <p:spPr>
          <a:xfrm>
            <a:off x="640080" y="2331720"/>
            <a:ext cx="6858000" cy="2898648"/>
          </a:xfrm>
          <a:prstGeom prst="rect">
            <a:avLst/>
          </a:prstGeom>
        </p:spPr>
      </p:pic>
      <p:sp>
        <p:nvSpPr>
          <p:cNvPr id="7" name="Shape 4"/>
          <p:cNvSpPr/>
          <p:nvPr/>
        </p:nvSpPr>
        <p:spPr>
          <a:xfrm>
            <a:off x="7772400" y="2331720"/>
            <a:ext cx="146304" cy="146304"/>
          </a:xfrm>
          <a:prstGeom prst="ellipse">
            <a:avLst/>
          </a:prstGeom>
          <a:solidFill>
            <a:srgbClr val="FF6C00"/>
          </a:solidFill>
          <a:ln/>
        </p:spPr>
      </p:sp>
      <p:sp>
        <p:nvSpPr>
          <p:cNvPr id="8" name="Text 5"/>
          <p:cNvSpPr/>
          <p:nvPr/>
        </p:nvSpPr>
        <p:spPr>
          <a:xfrm>
            <a:off x="8046720" y="2212848"/>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Similarity alone lies</a:t>
            </a:r>
            <a:endParaRPr lang="en-US" sz="1500" dirty="0"/>
          </a:p>
        </p:txBody>
      </p:sp>
      <p:sp>
        <p:nvSpPr>
          <p:cNvPr id="9" name="Text 6"/>
          <p:cNvSpPr/>
          <p:nvPr/>
        </p:nvSpPr>
        <p:spPr>
          <a:xfrm>
            <a:off x="8046720" y="2542032"/>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Measured on this corpus, an off-topic question about a “vacation policy” scores higher than a legitimate one about a flagged customer — purely on the shared word “policy”.</a:t>
            </a:r>
            <a:endParaRPr lang="en-US" sz="1200" dirty="0"/>
          </a:p>
        </p:txBody>
      </p:sp>
      <p:sp>
        <p:nvSpPr>
          <p:cNvPr id="10" name="Shape 7"/>
          <p:cNvSpPr/>
          <p:nvPr/>
        </p:nvSpPr>
        <p:spPr>
          <a:xfrm>
            <a:off x="7772400" y="3630168"/>
            <a:ext cx="146304" cy="146304"/>
          </a:xfrm>
          <a:prstGeom prst="ellipse">
            <a:avLst/>
          </a:prstGeom>
          <a:solidFill>
            <a:srgbClr val="FF6C00"/>
          </a:solidFill>
          <a:ln/>
        </p:spPr>
      </p:sp>
      <p:sp>
        <p:nvSpPr>
          <p:cNvPr id="11" name="Text 8"/>
          <p:cNvSpPr/>
          <p:nvPr/>
        </p:nvSpPr>
        <p:spPr>
          <a:xfrm>
            <a:off x="8046720" y="3511296"/>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So coverage is required</a:t>
            </a:r>
            <a:endParaRPr lang="en-US" sz="1500" dirty="0"/>
          </a:p>
        </p:txBody>
      </p:sp>
      <p:sp>
        <p:nvSpPr>
          <p:cNvPr id="12" name="Text 9"/>
          <p:cNvSpPr/>
          <p:nvPr/>
        </p:nvSpPr>
        <p:spPr>
          <a:xfrm>
            <a:off x="8046720" y="3840480"/>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A hit also needs most of the question's meaningful terms to actually appear in the corpus. Below the threshold, the agent abstains.</a:t>
            </a:r>
            <a:endParaRPr lang="en-US" sz="1200" dirty="0"/>
          </a:p>
        </p:txBody>
      </p:sp>
      <p:sp>
        <p:nvSpPr>
          <p:cNvPr id="13" name="Shape 10"/>
          <p:cNvSpPr/>
          <p:nvPr/>
        </p:nvSpPr>
        <p:spPr>
          <a:xfrm>
            <a:off x="7772400" y="4928616"/>
            <a:ext cx="146304" cy="146304"/>
          </a:xfrm>
          <a:prstGeom prst="ellipse">
            <a:avLst/>
          </a:prstGeom>
          <a:solidFill>
            <a:srgbClr val="FF6C00"/>
          </a:solidFill>
          <a:ln/>
        </p:spPr>
      </p:sp>
      <p:sp>
        <p:nvSpPr>
          <p:cNvPr id="14" name="Text 11"/>
          <p:cNvSpPr/>
          <p:nvPr/>
        </p:nvSpPr>
        <p:spPr>
          <a:xfrm>
            <a:off x="8046720" y="4809744"/>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It says so out loud</a:t>
            </a:r>
            <a:endParaRPr lang="en-US" sz="1500" dirty="0"/>
          </a:p>
        </p:txBody>
      </p:sp>
      <p:sp>
        <p:nvSpPr>
          <p:cNvPr id="15" name="Text 12"/>
          <p:cNvSpPr/>
          <p:nvPr/>
        </p:nvSpPr>
        <p:spPr>
          <a:xfrm>
            <a:off x="8046720" y="5138928"/>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“No governed knowledge covers that question” — an honest no, not a plausible-sounding guess.</a:t>
            </a:r>
            <a:endParaRPr lang="en-US" sz="1200" dirty="0"/>
          </a:p>
        </p:txBody>
      </p:sp>
      <p:sp>
        <p:nvSpPr>
          <p:cNvPr id="16" name="Text 13"/>
          <p:cNvSpPr/>
          <p:nvPr/>
        </p:nvSpPr>
        <p:spPr>
          <a:xfrm>
            <a:off x="640080" y="5989320"/>
            <a:ext cx="10881360" cy="36576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A spurious citation is worse than an honest “no” — it is the failure mode that destroys trust in an AI system.</a:t>
            </a:r>
            <a:endParaRPr lang="en-US" sz="1450" dirty="0"/>
          </a:p>
        </p:txBody>
      </p:sp>
      <p:sp>
        <p:nvSpPr>
          <p:cNvPr id="17" name="Text 1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08</a:t>
            </a:r>
            <a:endParaRPr lang="en-US" sz="1000" dirty="0"/>
          </a:p>
        </p:txBody>
      </p:sp>
      <p:sp>
        <p:nvSpPr>
          <p:cNvPr id="18" name="Text 1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THE RECEIPTS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Proving it after the fact</a:t>
            </a:r>
            <a:endParaRPr lang="en-US" sz="3200" dirty="0"/>
          </a:p>
        </p:txBody>
      </p:sp>
      <p:sp>
        <p:nvSpPr>
          <p:cNvPr id="5" name="Text 3"/>
          <p:cNvSpPr/>
          <p:nvPr/>
        </p:nvSpPr>
        <p:spPr>
          <a:xfrm>
            <a:off x="640080" y="1783080"/>
            <a:ext cx="1078992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A control you cannot evidence is a control you cannot pass an audit with. Every decision — granted or refused — is appended to a durable trail.</a:t>
            </a:r>
            <a:endParaRPr lang="en-US" sz="1600" dirty="0"/>
          </a:p>
        </p:txBody>
      </p:sp>
      <p:sp>
        <p:nvSpPr>
          <p:cNvPr id="6" name="Shape 4"/>
          <p:cNvSpPr/>
          <p:nvPr/>
        </p:nvSpPr>
        <p:spPr>
          <a:xfrm>
            <a:off x="640080" y="2331720"/>
            <a:ext cx="2615184" cy="960120"/>
          </a:xfrm>
          <a:prstGeom prst="roundRect">
            <a:avLst>
              <a:gd name="adj" fmla="val 8571"/>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868680" y="2395728"/>
            <a:ext cx="2157984" cy="502920"/>
          </a:xfrm>
          <a:prstGeom prst="rect">
            <a:avLst/>
          </a:prstGeom>
          <a:noFill/>
          <a:ln/>
        </p:spPr>
        <p:txBody>
          <a:bodyPr wrap="square" lIns="0" tIns="0" rIns="0" bIns="0" rtlCol="0" anchor="ctr"/>
          <a:lstStyle/>
          <a:p>
            <a:pPr indent="0" marL="0">
              <a:buNone/>
            </a:pPr>
            <a:r>
              <a:rPr lang="en-US" sz="2500" b="1" dirty="0">
                <a:solidFill>
                  <a:srgbClr val="FF8A3D"/>
                </a:solidFill>
                <a:latin typeface="Cambria" pitchFamily="34" charset="0"/>
                <a:ea typeface="Cambria" pitchFamily="34" charset="-122"/>
                <a:cs typeface="Cambria" pitchFamily="34" charset="-120"/>
              </a:rPr>
              <a:t>6</a:t>
            </a:r>
            <a:endParaRPr lang="en-US" sz="2500" dirty="0"/>
          </a:p>
        </p:txBody>
      </p:sp>
      <p:sp>
        <p:nvSpPr>
          <p:cNvPr id="8" name="Text 6"/>
          <p:cNvSpPr/>
          <p:nvPr/>
        </p:nvSpPr>
        <p:spPr>
          <a:xfrm>
            <a:off x="868680" y="2889504"/>
            <a:ext cx="2157984" cy="274320"/>
          </a:xfrm>
          <a:prstGeom prst="rect">
            <a:avLst/>
          </a:prstGeom>
          <a:noFill/>
          <a:ln/>
        </p:spPr>
        <p:txBody>
          <a:bodyPr wrap="square" lIns="0" tIns="0" rIns="0" bIns="0" rtlCol="0" anchor="ctr"/>
          <a:lstStyle/>
          <a:p>
            <a:pPr indent="0" marL="0">
              <a:buNone/>
            </a:pPr>
            <a:r>
              <a:rPr lang="en-US" sz="1050" b="1" spc="120" kern="0" dirty="0">
                <a:solidFill>
                  <a:srgbClr val="93A1AF"/>
                </a:solidFill>
                <a:latin typeface="Calibri" pitchFamily="34" charset="0"/>
                <a:ea typeface="Calibri" pitchFamily="34" charset="-122"/>
                <a:cs typeface="Calibri" pitchFamily="34" charset="-120"/>
              </a:rPr>
              <a:t>GOVERNED ACTIONS</a:t>
            </a:r>
            <a:endParaRPr lang="en-US" sz="1050" dirty="0"/>
          </a:p>
        </p:txBody>
      </p:sp>
      <p:sp>
        <p:nvSpPr>
          <p:cNvPr id="9" name="Shape 7"/>
          <p:cNvSpPr/>
          <p:nvPr/>
        </p:nvSpPr>
        <p:spPr>
          <a:xfrm>
            <a:off x="3429000" y="2331720"/>
            <a:ext cx="2615184" cy="960120"/>
          </a:xfrm>
          <a:prstGeom prst="roundRect">
            <a:avLst>
              <a:gd name="adj" fmla="val 8571"/>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3657600" y="2395728"/>
            <a:ext cx="2157984" cy="502920"/>
          </a:xfrm>
          <a:prstGeom prst="rect">
            <a:avLst/>
          </a:prstGeom>
          <a:noFill/>
          <a:ln/>
        </p:spPr>
        <p:txBody>
          <a:bodyPr wrap="square" lIns="0" tIns="0" rIns="0" bIns="0" rtlCol="0" anchor="ctr"/>
          <a:lstStyle/>
          <a:p>
            <a:pPr indent="0" marL="0">
              <a:buNone/>
            </a:pPr>
            <a:r>
              <a:rPr lang="en-US" sz="2500" b="1" dirty="0">
                <a:solidFill>
                  <a:srgbClr val="FF8A3D"/>
                </a:solidFill>
                <a:latin typeface="Cambria" pitchFamily="34" charset="0"/>
                <a:ea typeface="Cambria" pitchFamily="34" charset="-122"/>
                <a:cs typeface="Cambria" pitchFamily="34" charset="-120"/>
              </a:rPr>
              <a:t>5</a:t>
            </a:r>
            <a:endParaRPr lang="en-US" sz="2500" dirty="0"/>
          </a:p>
        </p:txBody>
      </p:sp>
      <p:sp>
        <p:nvSpPr>
          <p:cNvPr id="11" name="Text 9"/>
          <p:cNvSpPr/>
          <p:nvPr/>
        </p:nvSpPr>
        <p:spPr>
          <a:xfrm>
            <a:off x="3657600" y="2889504"/>
            <a:ext cx="2157984" cy="274320"/>
          </a:xfrm>
          <a:prstGeom prst="rect">
            <a:avLst/>
          </a:prstGeom>
          <a:noFill/>
          <a:ln/>
        </p:spPr>
        <p:txBody>
          <a:bodyPr wrap="square" lIns="0" tIns="0" rIns="0" bIns="0" rtlCol="0" anchor="ctr"/>
          <a:lstStyle/>
          <a:p>
            <a:pPr indent="0" marL="0">
              <a:buNone/>
            </a:pPr>
            <a:r>
              <a:rPr lang="en-US" sz="1050" b="1" spc="120" kern="0" dirty="0">
                <a:solidFill>
                  <a:srgbClr val="93A1AF"/>
                </a:solidFill>
                <a:latin typeface="Calibri" pitchFamily="34" charset="0"/>
                <a:ea typeface="Calibri" pitchFamily="34" charset="-122"/>
                <a:cs typeface="Calibri" pitchFamily="34" charset="-120"/>
              </a:rPr>
              <a:t>GRANTED</a:t>
            </a:r>
            <a:endParaRPr lang="en-US" sz="1050" dirty="0"/>
          </a:p>
        </p:txBody>
      </p:sp>
      <p:sp>
        <p:nvSpPr>
          <p:cNvPr id="12" name="Shape 10"/>
          <p:cNvSpPr/>
          <p:nvPr/>
        </p:nvSpPr>
        <p:spPr>
          <a:xfrm>
            <a:off x="6217920" y="2331720"/>
            <a:ext cx="2615184" cy="960120"/>
          </a:xfrm>
          <a:prstGeom prst="roundRect">
            <a:avLst>
              <a:gd name="adj" fmla="val 8571"/>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3" name="Text 11"/>
          <p:cNvSpPr/>
          <p:nvPr/>
        </p:nvSpPr>
        <p:spPr>
          <a:xfrm>
            <a:off x="6446520" y="2395728"/>
            <a:ext cx="2157984" cy="502920"/>
          </a:xfrm>
          <a:prstGeom prst="rect">
            <a:avLst/>
          </a:prstGeom>
          <a:noFill/>
          <a:ln/>
        </p:spPr>
        <p:txBody>
          <a:bodyPr wrap="square" lIns="0" tIns="0" rIns="0" bIns="0" rtlCol="0" anchor="ctr"/>
          <a:lstStyle/>
          <a:p>
            <a:pPr indent="0" marL="0">
              <a:buNone/>
            </a:pPr>
            <a:r>
              <a:rPr lang="en-US" sz="2500" b="1" dirty="0">
                <a:solidFill>
                  <a:srgbClr val="F85149"/>
                </a:solidFill>
                <a:latin typeface="Cambria" pitchFamily="34" charset="0"/>
                <a:ea typeface="Cambria" pitchFamily="34" charset="-122"/>
                <a:cs typeface="Cambria" pitchFamily="34" charset="-120"/>
              </a:rPr>
              <a:t>1</a:t>
            </a:r>
            <a:endParaRPr lang="en-US" sz="2500" dirty="0"/>
          </a:p>
        </p:txBody>
      </p:sp>
      <p:sp>
        <p:nvSpPr>
          <p:cNvPr id="14" name="Text 12"/>
          <p:cNvSpPr/>
          <p:nvPr/>
        </p:nvSpPr>
        <p:spPr>
          <a:xfrm>
            <a:off x="6446520" y="2889504"/>
            <a:ext cx="2157984" cy="274320"/>
          </a:xfrm>
          <a:prstGeom prst="rect">
            <a:avLst/>
          </a:prstGeom>
          <a:noFill/>
          <a:ln/>
        </p:spPr>
        <p:txBody>
          <a:bodyPr wrap="square" lIns="0" tIns="0" rIns="0" bIns="0" rtlCol="0" anchor="ctr"/>
          <a:lstStyle/>
          <a:p>
            <a:pPr indent="0" marL="0">
              <a:buNone/>
            </a:pPr>
            <a:r>
              <a:rPr lang="en-US" sz="1050" b="1" spc="120" kern="0" dirty="0">
                <a:solidFill>
                  <a:srgbClr val="93A1AF"/>
                </a:solidFill>
                <a:latin typeface="Calibri" pitchFamily="34" charset="0"/>
                <a:ea typeface="Calibri" pitchFamily="34" charset="-122"/>
                <a:cs typeface="Calibri" pitchFamily="34" charset="-120"/>
              </a:rPr>
              <a:t>DENIED</a:t>
            </a:r>
            <a:endParaRPr lang="en-US" sz="1050" dirty="0"/>
          </a:p>
        </p:txBody>
      </p:sp>
      <p:sp>
        <p:nvSpPr>
          <p:cNvPr id="15" name="Shape 13"/>
          <p:cNvSpPr/>
          <p:nvPr/>
        </p:nvSpPr>
        <p:spPr>
          <a:xfrm>
            <a:off x="9006840" y="2331720"/>
            <a:ext cx="2615184" cy="960120"/>
          </a:xfrm>
          <a:prstGeom prst="roundRect">
            <a:avLst>
              <a:gd name="adj" fmla="val 8571"/>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6" name="Text 14"/>
          <p:cNvSpPr/>
          <p:nvPr/>
        </p:nvSpPr>
        <p:spPr>
          <a:xfrm>
            <a:off x="9235440" y="2395728"/>
            <a:ext cx="2157984" cy="502920"/>
          </a:xfrm>
          <a:prstGeom prst="rect">
            <a:avLst/>
          </a:prstGeom>
          <a:noFill/>
          <a:ln/>
        </p:spPr>
        <p:txBody>
          <a:bodyPr wrap="square" lIns="0" tIns="0" rIns="0" bIns="0" rtlCol="0" anchor="ctr"/>
          <a:lstStyle/>
          <a:p>
            <a:pPr indent="0" marL="0">
              <a:buNone/>
            </a:pPr>
            <a:r>
              <a:rPr lang="en-US" sz="2500" b="1" dirty="0">
                <a:solidFill>
                  <a:srgbClr val="FF8A3D"/>
                </a:solidFill>
                <a:latin typeface="Cambria" pitchFamily="34" charset="0"/>
                <a:ea typeface="Cambria" pitchFamily="34" charset="-122"/>
                <a:cs typeface="Cambria" pitchFamily="34" charset="-120"/>
              </a:rPr>
              <a:t>16.7%</a:t>
            </a:r>
            <a:endParaRPr lang="en-US" sz="2500" dirty="0"/>
          </a:p>
        </p:txBody>
      </p:sp>
      <p:sp>
        <p:nvSpPr>
          <p:cNvPr id="17" name="Text 15"/>
          <p:cNvSpPr/>
          <p:nvPr/>
        </p:nvSpPr>
        <p:spPr>
          <a:xfrm>
            <a:off x="9235440" y="2889504"/>
            <a:ext cx="2157984" cy="274320"/>
          </a:xfrm>
          <a:prstGeom prst="rect">
            <a:avLst/>
          </a:prstGeom>
          <a:noFill/>
          <a:ln/>
        </p:spPr>
        <p:txBody>
          <a:bodyPr wrap="square" lIns="0" tIns="0" rIns="0" bIns="0" rtlCol="0" anchor="ctr"/>
          <a:lstStyle/>
          <a:p>
            <a:pPr indent="0" marL="0">
              <a:buNone/>
            </a:pPr>
            <a:r>
              <a:rPr lang="en-US" sz="1050" b="1" spc="120" kern="0" dirty="0">
                <a:solidFill>
                  <a:srgbClr val="93A1AF"/>
                </a:solidFill>
                <a:latin typeface="Calibri" pitchFamily="34" charset="0"/>
                <a:ea typeface="Calibri" pitchFamily="34" charset="-122"/>
                <a:cs typeface="Calibri" pitchFamily="34" charset="-120"/>
              </a:rPr>
              <a:t>DENIAL RATE</a:t>
            </a:r>
            <a:endParaRPr lang="en-US" sz="1050" dirty="0"/>
          </a:p>
        </p:txBody>
      </p:sp>
      <p:sp>
        <p:nvSpPr>
          <p:cNvPr id="18" name="Text 16"/>
          <p:cNvSpPr/>
          <p:nvPr/>
        </p:nvSpPr>
        <p:spPr>
          <a:xfrm>
            <a:off x="640080" y="3364992"/>
            <a:ext cx="10881360" cy="256032"/>
          </a:xfrm>
          <a:prstGeom prst="rect">
            <a:avLst/>
          </a:prstGeom>
          <a:noFill/>
          <a:ln/>
        </p:spPr>
        <p:txBody>
          <a:bodyPr wrap="square" lIns="0" tIns="0" rIns="0" bIns="0" rtlCol="0" anchor="ctr"/>
          <a:lstStyle/>
          <a:p>
            <a:pPr indent="0" marL="0">
              <a:buNone/>
            </a:pPr>
            <a:r>
              <a:rPr lang="en-US" sz="1150" i="1" dirty="0">
                <a:solidFill>
                  <a:srgbClr val="6C7C8A"/>
                </a:solidFill>
                <a:latin typeface="Calibri" pitchFamily="34" charset="0"/>
                <a:ea typeface="Calibri" pitchFamily="34" charset="-122"/>
                <a:cs typeface="Calibri" pitchFamily="34" charset="-120"/>
              </a:rPr>
              <a:t>the five demo moves, already on the record</a:t>
            </a:r>
            <a:endParaRPr lang="en-US" sz="1150" dirty="0"/>
          </a:p>
        </p:txBody>
      </p:sp>
      <p:sp>
        <p:nvSpPr>
          <p:cNvPr id="19" name="Shape 17"/>
          <p:cNvSpPr/>
          <p:nvPr/>
        </p:nvSpPr>
        <p:spPr>
          <a:xfrm>
            <a:off x="640080" y="3675888"/>
            <a:ext cx="5257800" cy="1051560"/>
          </a:xfrm>
          <a:prstGeom prst="roundRect">
            <a:avLst>
              <a:gd name="adj" fmla="val 782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0" name="Shape 18"/>
          <p:cNvSpPr/>
          <p:nvPr/>
        </p:nvSpPr>
        <p:spPr>
          <a:xfrm>
            <a:off x="914400" y="3895344"/>
            <a:ext cx="146304" cy="146304"/>
          </a:xfrm>
          <a:prstGeom prst="ellipse">
            <a:avLst/>
          </a:prstGeom>
          <a:solidFill>
            <a:srgbClr val="FF6C00"/>
          </a:solidFill>
          <a:ln/>
        </p:spPr>
      </p:sp>
      <p:sp>
        <p:nvSpPr>
          <p:cNvPr id="21" name="Text 19"/>
          <p:cNvSpPr/>
          <p:nvPr/>
        </p:nvSpPr>
        <p:spPr>
          <a:xfrm>
            <a:off x="1188720" y="3785616"/>
            <a:ext cx="4480560"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Append-only</a:t>
            </a:r>
            <a:endParaRPr lang="en-US" sz="1400" dirty="0"/>
          </a:p>
        </p:txBody>
      </p:sp>
      <p:sp>
        <p:nvSpPr>
          <p:cNvPr id="22" name="Text 20"/>
          <p:cNvSpPr/>
          <p:nvPr/>
        </p:nvSpPr>
        <p:spPr>
          <a:xfrm>
            <a:off x="1188720" y="4078224"/>
            <a:ext cx="4480560" cy="585216"/>
          </a:xfrm>
          <a:prstGeom prst="rect">
            <a:avLst/>
          </a:prstGeom>
          <a:noFill/>
          <a:ln/>
        </p:spPr>
        <p:txBody>
          <a:bodyPr wrap="square" lIns="0" tIns="0" rIns="0" bIns="0" rtlCol="0" anchor="ctr"/>
          <a:lstStyle/>
          <a:p>
            <a:pPr indent="0" marL="0">
              <a:lnSpc>
                <a:spcPct val="103000"/>
              </a:lnSpc>
              <a:buNone/>
            </a:pPr>
            <a:r>
              <a:rPr lang="en-US" sz="1100" dirty="0">
                <a:solidFill>
                  <a:srgbClr val="93A1AF"/>
                </a:solidFill>
                <a:latin typeface="Calibri" pitchFamily="34" charset="0"/>
                <a:ea typeface="Calibri" pitchFamily="34" charset="-122"/>
                <a:cs typeface="Calibri" pitchFamily="34" charset="-120"/>
              </a:rPr>
              <a:t>Records are never rewritten. A log you can edit in place is not evidence — and it can be tailed straight to a SIEM.</a:t>
            </a:r>
            <a:endParaRPr lang="en-US" sz="1100" dirty="0"/>
          </a:p>
        </p:txBody>
      </p:sp>
      <p:sp>
        <p:nvSpPr>
          <p:cNvPr id="23" name="Shape 21"/>
          <p:cNvSpPr/>
          <p:nvPr/>
        </p:nvSpPr>
        <p:spPr>
          <a:xfrm>
            <a:off x="6217920" y="3675888"/>
            <a:ext cx="5257800" cy="1051560"/>
          </a:xfrm>
          <a:prstGeom prst="roundRect">
            <a:avLst>
              <a:gd name="adj" fmla="val 782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Shape 22"/>
          <p:cNvSpPr/>
          <p:nvPr/>
        </p:nvSpPr>
        <p:spPr>
          <a:xfrm>
            <a:off x="6492240" y="3895344"/>
            <a:ext cx="146304" cy="146304"/>
          </a:xfrm>
          <a:prstGeom prst="ellipse">
            <a:avLst/>
          </a:prstGeom>
          <a:solidFill>
            <a:srgbClr val="FF6C00"/>
          </a:solidFill>
          <a:ln/>
        </p:spPr>
      </p:sp>
      <p:sp>
        <p:nvSpPr>
          <p:cNvPr id="25" name="Text 23"/>
          <p:cNvSpPr/>
          <p:nvPr/>
        </p:nvSpPr>
        <p:spPr>
          <a:xfrm>
            <a:off x="6766560" y="3785616"/>
            <a:ext cx="4480560"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Refusals are the point</a:t>
            </a:r>
            <a:endParaRPr lang="en-US" sz="1400" dirty="0"/>
          </a:p>
        </p:txBody>
      </p:sp>
      <p:sp>
        <p:nvSpPr>
          <p:cNvPr id="26" name="Text 24"/>
          <p:cNvSpPr/>
          <p:nvPr/>
        </p:nvSpPr>
        <p:spPr>
          <a:xfrm>
            <a:off x="6766560" y="4078224"/>
            <a:ext cx="4480560" cy="585216"/>
          </a:xfrm>
          <a:prstGeom prst="rect">
            <a:avLst/>
          </a:prstGeom>
          <a:noFill/>
          <a:ln/>
        </p:spPr>
        <p:txBody>
          <a:bodyPr wrap="square" lIns="0" tIns="0" rIns="0" bIns="0" rtlCol="0" anchor="ctr"/>
          <a:lstStyle/>
          <a:p>
            <a:pPr indent="0" marL="0">
              <a:lnSpc>
                <a:spcPct val="103000"/>
              </a:lnSpc>
              <a:buNone/>
            </a:pPr>
            <a:r>
              <a:rPr lang="en-US" sz="1100" dirty="0">
                <a:solidFill>
                  <a:srgbClr val="93A1AF"/>
                </a:solidFill>
                <a:latin typeface="Calibri" pitchFamily="34" charset="0"/>
                <a:ea typeface="Calibri" pitchFamily="34" charset="-122"/>
                <a:cs typeface="Calibri" pitchFamily="34" charset="-120"/>
              </a:rPr>
              <a:t>A denial is the control working. It is recorded with the control that made it and the request that triggered it.</a:t>
            </a:r>
            <a:endParaRPr lang="en-US" sz="1100" dirty="0"/>
          </a:p>
        </p:txBody>
      </p:sp>
      <p:sp>
        <p:nvSpPr>
          <p:cNvPr id="27" name="Shape 25"/>
          <p:cNvSpPr/>
          <p:nvPr/>
        </p:nvSpPr>
        <p:spPr>
          <a:xfrm>
            <a:off x="640080" y="4892040"/>
            <a:ext cx="5257800" cy="1051560"/>
          </a:xfrm>
          <a:prstGeom prst="roundRect">
            <a:avLst>
              <a:gd name="adj" fmla="val 782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8" name="Shape 26"/>
          <p:cNvSpPr/>
          <p:nvPr/>
        </p:nvSpPr>
        <p:spPr>
          <a:xfrm>
            <a:off x="914400" y="5111496"/>
            <a:ext cx="146304" cy="146304"/>
          </a:xfrm>
          <a:prstGeom prst="ellipse">
            <a:avLst/>
          </a:prstGeom>
          <a:solidFill>
            <a:srgbClr val="FF6C00"/>
          </a:solidFill>
          <a:ln/>
        </p:spPr>
      </p:sp>
      <p:sp>
        <p:nvSpPr>
          <p:cNvPr id="29" name="Text 27"/>
          <p:cNvSpPr/>
          <p:nvPr/>
        </p:nvSpPr>
        <p:spPr>
          <a:xfrm>
            <a:off x="1188720" y="5001768"/>
            <a:ext cx="4480560"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Queryable, exportable</a:t>
            </a:r>
            <a:endParaRPr lang="en-US" sz="1400" dirty="0"/>
          </a:p>
        </p:txBody>
      </p:sp>
      <p:sp>
        <p:nvSpPr>
          <p:cNvPr id="30" name="Text 28"/>
          <p:cNvSpPr/>
          <p:nvPr/>
        </p:nvSpPr>
        <p:spPr>
          <a:xfrm>
            <a:off x="1188720" y="5294376"/>
            <a:ext cx="4480560" cy="585216"/>
          </a:xfrm>
          <a:prstGeom prst="rect">
            <a:avLst/>
          </a:prstGeom>
          <a:noFill/>
          <a:ln/>
        </p:spPr>
        <p:txBody>
          <a:bodyPr wrap="square" lIns="0" tIns="0" rIns="0" bIns="0" rtlCol="0" anchor="ctr"/>
          <a:lstStyle/>
          <a:p>
            <a:pPr indent="0" marL="0">
              <a:lnSpc>
                <a:spcPct val="103000"/>
              </a:lnSpc>
              <a:buNone/>
            </a:pPr>
            <a:r>
              <a:rPr lang="en-US" sz="1100" dirty="0">
                <a:solidFill>
                  <a:srgbClr val="93A1AF"/>
                </a:solidFill>
                <a:latin typeface="Calibri" pitchFamily="34" charset="0"/>
                <a:ea typeface="Calibri" pitchFamily="34" charset="-122"/>
                <a:cs typeface="Calibri" pitchFamily="34" charset="-120"/>
              </a:rPr>
              <a:t>“Show me everything the AI did” is a SQL question, with a CSV extract for the auditor.</a:t>
            </a:r>
            <a:endParaRPr lang="en-US" sz="1100" dirty="0"/>
          </a:p>
        </p:txBody>
      </p:sp>
      <p:sp>
        <p:nvSpPr>
          <p:cNvPr id="31" name="Shape 29"/>
          <p:cNvSpPr/>
          <p:nvPr/>
        </p:nvSpPr>
        <p:spPr>
          <a:xfrm>
            <a:off x="6217920" y="4892040"/>
            <a:ext cx="5257800" cy="1051560"/>
          </a:xfrm>
          <a:prstGeom prst="roundRect">
            <a:avLst>
              <a:gd name="adj" fmla="val 782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2" name="Shape 30"/>
          <p:cNvSpPr/>
          <p:nvPr/>
        </p:nvSpPr>
        <p:spPr>
          <a:xfrm>
            <a:off x="6492240" y="5111496"/>
            <a:ext cx="146304" cy="146304"/>
          </a:xfrm>
          <a:prstGeom prst="ellipse">
            <a:avLst/>
          </a:prstGeom>
          <a:solidFill>
            <a:srgbClr val="FF6C00"/>
          </a:solidFill>
          <a:ln/>
        </p:spPr>
      </p:sp>
      <p:sp>
        <p:nvSpPr>
          <p:cNvPr id="33" name="Text 31"/>
          <p:cNvSpPr/>
          <p:nvPr/>
        </p:nvSpPr>
        <p:spPr>
          <a:xfrm>
            <a:off x="6766560" y="5001768"/>
            <a:ext cx="4480560" cy="292608"/>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Never fails the request</a:t>
            </a:r>
            <a:endParaRPr lang="en-US" sz="1400" dirty="0"/>
          </a:p>
        </p:txBody>
      </p:sp>
      <p:sp>
        <p:nvSpPr>
          <p:cNvPr id="34" name="Text 32"/>
          <p:cNvSpPr/>
          <p:nvPr/>
        </p:nvSpPr>
        <p:spPr>
          <a:xfrm>
            <a:off x="6766560" y="5294376"/>
            <a:ext cx="4480560" cy="585216"/>
          </a:xfrm>
          <a:prstGeom prst="rect">
            <a:avLst/>
          </a:prstGeom>
          <a:noFill/>
          <a:ln/>
        </p:spPr>
        <p:txBody>
          <a:bodyPr wrap="square" lIns="0" tIns="0" rIns="0" bIns="0" rtlCol="0" anchor="ctr"/>
          <a:lstStyle/>
          <a:p>
            <a:pPr indent="0" marL="0">
              <a:lnSpc>
                <a:spcPct val="103000"/>
              </a:lnSpc>
              <a:buNone/>
            </a:pPr>
            <a:r>
              <a:rPr lang="en-US" sz="1100" dirty="0">
                <a:solidFill>
                  <a:srgbClr val="93A1AF"/>
                </a:solidFill>
                <a:latin typeface="Calibri" pitchFamily="34" charset="0"/>
                <a:ea typeface="Calibri" pitchFamily="34" charset="-122"/>
                <a:cs typeface="Calibri" pitchFamily="34" charset="-120"/>
              </a:rPr>
              <a:t>An audit sink that can take the service down is a liability. Write failures are logged and swallowed.</a:t>
            </a:r>
            <a:endParaRPr lang="en-US" sz="1100" dirty="0"/>
          </a:p>
        </p:txBody>
      </p:sp>
      <p:sp>
        <p:nvSpPr>
          <p:cNvPr id="35" name="Text 33"/>
          <p:cNvSpPr/>
          <p:nvPr/>
        </p:nvSpPr>
        <p:spPr>
          <a:xfrm>
            <a:off x="640080" y="6035040"/>
            <a:ext cx="10881360" cy="274320"/>
          </a:xfrm>
          <a:prstGeom prst="rect">
            <a:avLst/>
          </a:prstGeom>
          <a:noFill/>
          <a:ln/>
        </p:spPr>
        <p:txBody>
          <a:bodyPr wrap="square" lIns="0" tIns="0" rIns="0" bIns="0" rtlCol="0" anchor="ctr"/>
          <a:lstStyle/>
          <a:p>
            <a:pPr indent="0" marL="0">
              <a:buNone/>
            </a:pPr>
            <a:r>
              <a:rPr lang="en-US" sz="1400" i="1" dirty="0">
                <a:solidFill>
                  <a:srgbClr val="FF8A3D"/>
                </a:solidFill>
                <a:latin typeface="Calibri" pitchFamily="34" charset="0"/>
                <a:ea typeface="Calibri" pitchFamily="34" charset="-122"/>
                <a:cs typeface="Calibri" pitchFamily="34" charset="-120"/>
              </a:rPr>
              <a:t>Kill the process, restart it, and the trail is still there — that is the difference between logging and evidence.</a:t>
            </a:r>
            <a:endParaRPr lang="en-US" sz="1400" dirty="0"/>
          </a:p>
        </p:txBody>
      </p:sp>
      <p:sp>
        <p:nvSpPr>
          <p:cNvPr id="36" name="Text 3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09</a:t>
            </a:r>
            <a:endParaRPr lang="en-US" sz="1000" dirty="0"/>
          </a:p>
        </p:txBody>
      </p:sp>
      <p:sp>
        <p:nvSpPr>
          <p:cNvPr id="37" name="Text 3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UNDER THE HOOD</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Why the answers hold up</a:t>
            </a:r>
            <a:endParaRPr lang="en-US" sz="3200" dirty="0"/>
          </a:p>
        </p:txBody>
      </p:sp>
      <p:pic>
        <p:nvPicPr>
          <p:cNvPr id="5" name="Image 0" descr="/private/tmp/claude-501/-Users-atharvvani-Downloads-DataBricks/437ba0b1-41b9-48e1-95cf-333721d11260/scratchpad/deck_assets/latency_dist.png">    </p:cNvPr>
          <p:cNvPicPr>
            <a:picLocks noChangeAspect="1"/>
          </p:cNvPicPr>
          <p:nvPr/>
        </p:nvPicPr>
        <p:blipFill>
          <a:blip r:embed="rId1"/>
          <a:stretch>
            <a:fillRect/>
          </a:stretch>
        </p:blipFill>
        <p:spPr>
          <a:xfrm>
            <a:off x="640080" y="1828800"/>
            <a:ext cx="6766560" cy="2926080"/>
          </a:xfrm>
          <a:prstGeom prst="rect">
            <a:avLst/>
          </a:prstGeom>
        </p:spPr>
      </p:pic>
      <p:sp>
        <p:nvSpPr>
          <p:cNvPr id="6" name="Shape 3"/>
          <p:cNvSpPr/>
          <p:nvPr/>
        </p:nvSpPr>
        <p:spPr>
          <a:xfrm>
            <a:off x="7772400" y="1764792"/>
            <a:ext cx="146304" cy="146304"/>
          </a:xfrm>
          <a:prstGeom prst="ellipse">
            <a:avLst/>
          </a:prstGeom>
          <a:solidFill>
            <a:srgbClr val="FF6C00"/>
          </a:solidFill>
          <a:ln/>
        </p:spPr>
      </p:sp>
      <p:sp>
        <p:nvSpPr>
          <p:cNvPr id="7" name="Text 4"/>
          <p:cNvSpPr/>
          <p:nvPr/>
        </p:nvSpPr>
        <p:spPr>
          <a:xfrm>
            <a:off x="8046720" y="1645920"/>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Statistical, not hard-coded</a:t>
            </a:r>
            <a:endParaRPr lang="en-US" sz="1550" dirty="0"/>
          </a:p>
        </p:txBody>
      </p:sp>
      <p:sp>
        <p:nvSpPr>
          <p:cNvPr id="8" name="Text 5"/>
          <p:cNvSpPr/>
          <p:nvPr/>
        </p:nvSpPr>
        <p:spPr>
          <a:xfrm>
            <a:off x="8046720" y="2029968"/>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Anomalies are events beyond 3σ of the live population — the threshold moves with the data, not a magic number.</a:t>
            </a:r>
            <a:endParaRPr lang="en-US" sz="1250" dirty="0"/>
          </a:p>
        </p:txBody>
      </p:sp>
      <p:sp>
        <p:nvSpPr>
          <p:cNvPr id="9" name="Shape 6"/>
          <p:cNvSpPr/>
          <p:nvPr/>
        </p:nvSpPr>
        <p:spPr>
          <a:xfrm>
            <a:off x="7772400" y="3099816"/>
            <a:ext cx="146304" cy="146304"/>
          </a:xfrm>
          <a:prstGeom prst="ellipse">
            <a:avLst/>
          </a:prstGeom>
          <a:solidFill>
            <a:srgbClr val="FF6C00"/>
          </a:solidFill>
          <a:ln/>
        </p:spPr>
      </p:sp>
      <p:sp>
        <p:nvSpPr>
          <p:cNvPr id="10" name="Text 7"/>
          <p:cNvSpPr/>
          <p:nvPr/>
        </p:nvSpPr>
        <p:spPr>
          <a:xfrm>
            <a:off x="8046720" y="2980944"/>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Parameter-bound execution</a:t>
            </a:r>
            <a:endParaRPr lang="en-US" sz="1550" dirty="0"/>
          </a:p>
        </p:txBody>
      </p:sp>
      <p:sp>
        <p:nvSpPr>
          <p:cNvPr id="11" name="Text 8"/>
          <p:cNvSpPr/>
          <p:nvPr/>
        </p:nvSpPr>
        <p:spPr>
          <a:xfrm>
            <a:off x="8046720" y="3364992"/>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Values are bound, never interpolated — a hostile input matches no rows and cannot reshape a query.</a:t>
            </a:r>
            <a:endParaRPr lang="en-US" sz="1250" dirty="0"/>
          </a:p>
        </p:txBody>
      </p:sp>
      <p:sp>
        <p:nvSpPr>
          <p:cNvPr id="12" name="Shape 9"/>
          <p:cNvSpPr/>
          <p:nvPr/>
        </p:nvSpPr>
        <p:spPr>
          <a:xfrm>
            <a:off x="7772400" y="4434840"/>
            <a:ext cx="146304" cy="146304"/>
          </a:xfrm>
          <a:prstGeom prst="ellipse">
            <a:avLst/>
          </a:prstGeom>
          <a:solidFill>
            <a:srgbClr val="FF6C00"/>
          </a:solidFill>
          <a:ln/>
        </p:spPr>
      </p:sp>
      <p:sp>
        <p:nvSpPr>
          <p:cNvPr id="13" name="Text 10"/>
          <p:cNvSpPr/>
          <p:nvPr/>
        </p:nvSpPr>
        <p:spPr>
          <a:xfrm>
            <a:off x="8046720" y="4315968"/>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Every step is traced and kept</a:t>
            </a:r>
            <a:endParaRPr lang="en-US" sz="1550" dirty="0"/>
          </a:p>
        </p:txBody>
      </p:sp>
      <p:sp>
        <p:nvSpPr>
          <p:cNvPr id="14" name="Text 11"/>
          <p:cNvSpPr/>
          <p:nvPr/>
        </p:nvSpPr>
        <p:spPr>
          <a:xfrm>
            <a:off x="8046720" y="4700016"/>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Intent, each governance decision, execution, synthesis — recorded live and persisted for audit.</a:t>
            </a:r>
            <a:endParaRPr lang="en-US" sz="1250" dirty="0"/>
          </a:p>
        </p:txBody>
      </p:sp>
      <p:sp>
        <p:nvSpPr>
          <p:cNvPr id="15" name="Text 12"/>
          <p:cNvSpPr/>
          <p:nvPr/>
        </p:nvSpPr>
        <p:spPr>
          <a:xfrm>
            <a:off x="640080" y="5943600"/>
            <a:ext cx="10881360" cy="45720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Verified by a 45-test suite covering computation, governance, injection resistance, retrieval quality, abstention, and audit durability — all passing.</a:t>
            </a:r>
            <a:endParaRPr lang="en-US" sz="1450" dirty="0"/>
          </a:p>
        </p:txBody>
      </p:sp>
      <p:sp>
        <p:nvSpPr>
          <p:cNvPr id="16" name="Text 13"/>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10</a:t>
            </a:r>
            <a:endParaRPr lang="en-US" sz="1000" dirty="0"/>
          </a:p>
        </p:txBody>
      </p:sp>
      <p:sp>
        <p:nvSpPr>
          <p:cNvPr id="17" name="Text 14"/>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WHY IT MATTERS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Business impact</a:t>
            </a:r>
            <a:endParaRPr lang="en-US" sz="3200" dirty="0"/>
          </a:p>
        </p:txBody>
      </p:sp>
      <p:sp>
        <p:nvSpPr>
          <p:cNvPr id="5" name="Shape 3"/>
          <p:cNvSpPr/>
          <p:nvPr/>
        </p:nvSpPr>
        <p:spPr>
          <a:xfrm>
            <a:off x="64008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96012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Days → seconds</a:t>
            </a:r>
            <a:endParaRPr lang="en-US" sz="2600" dirty="0"/>
          </a:p>
        </p:txBody>
      </p:sp>
      <p:sp>
        <p:nvSpPr>
          <p:cNvPr id="7" name="Text 5"/>
          <p:cNvSpPr/>
          <p:nvPr/>
        </p:nvSpPr>
        <p:spPr>
          <a:xfrm>
            <a:off x="96012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TIME TO INSIGHT</a:t>
            </a:r>
            <a:endParaRPr lang="en-US" sz="1200" dirty="0"/>
          </a:p>
        </p:txBody>
      </p:sp>
      <p:sp>
        <p:nvSpPr>
          <p:cNvPr id="8" name="Text 6"/>
          <p:cNvSpPr/>
          <p:nvPr/>
        </p:nvSpPr>
        <p:spPr>
          <a:xfrm>
            <a:off x="96012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 business owner asks in plain language and gets a governed answer immediately — no analyst ticket queue in between.</a:t>
            </a:r>
            <a:endParaRPr lang="en-US" sz="1250" dirty="0"/>
          </a:p>
        </p:txBody>
      </p:sp>
      <p:sp>
        <p:nvSpPr>
          <p:cNvPr id="9" name="Shape 7"/>
          <p:cNvSpPr/>
          <p:nvPr/>
        </p:nvSpPr>
        <p:spPr>
          <a:xfrm>
            <a:off x="621792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653796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Unblocked</a:t>
            </a:r>
            <a:endParaRPr lang="en-US" sz="2600" dirty="0"/>
          </a:p>
        </p:txBody>
      </p:sp>
      <p:sp>
        <p:nvSpPr>
          <p:cNvPr id="11" name="Text 9"/>
          <p:cNvSpPr/>
          <p:nvPr/>
        </p:nvSpPr>
        <p:spPr>
          <a:xfrm>
            <a:off x="653796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AI ADOPTION</a:t>
            </a:r>
            <a:endParaRPr lang="en-US" sz="1200" dirty="0"/>
          </a:p>
        </p:txBody>
      </p:sp>
      <p:sp>
        <p:nvSpPr>
          <p:cNvPr id="12" name="Text 10"/>
          <p:cNvSpPr/>
          <p:nvPr/>
        </p:nvSpPr>
        <p:spPr>
          <a:xfrm>
            <a:off x="653796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Risk stops being open-ended. Security reviews a bounded allowlist instead of debating 'the model can see everything.'</a:t>
            </a:r>
            <a:endParaRPr lang="en-US" sz="1250" dirty="0"/>
          </a:p>
        </p:txBody>
      </p:sp>
      <p:sp>
        <p:nvSpPr>
          <p:cNvPr id="13" name="Shape 11"/>
          <p:cNvSpPr/>
          <p:nvPr/>
        </p:nvSpPr>
        <p:spPr>
          <a:xfrm>
            <a:off x="64008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6012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Provable</a:t>
            </a:r>
            <a:endParaRPr lang="en-US" sz="2600" dirty="0"/>
          </a:p>
        </p:txBody>
      </p:sp>
      <p:sp>
        <p:nvSpPr>
          <p:cNvPr id="15" name="Text 13"/>
          <p:cNvSpPr/>
          <p:nvPr/>
        </p:nvSpPr>
        <p:spPr>
          <a:xfrm>
            <a:off x="96012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COMPLIANCE POSTURE</a:t>
            </a:r>
            <a:endParaRPr lang="en-US" sz="1200" dirty="0"/>
          </a:p>
        </p:txBody>
      </p:sp>
      <p:sp>
        <p:nvSpPr>
          <p:cNvPr id="16" name="Text 14"/>
          <p:cNvSpPr/>
          <p:nvPr/>
        </p:nvSpPr>
        <p:spPr>
          <a:xfrm>
            <a:off x="96012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PII hashed at ingestion, no raw-row exfiltration, and a durable per-action record — controls you can demonstrate, not just promise.</a:t>
            </a:r>
            <a:endParaRPr lang="en-US" sz="1250" dirty="0"/>
          </a:p>
        </p:txBody>
      </p:sp>
      <p:sp>
        <p:nvSpPr>
          <p:cNvPr id="17" name="Shape 15"/>
          <p:cNvSpPr/>
          <p:nvPr/>
        </p:nvSpPr>
        <p:spPr>
          <a:xfrm>
            <a:off x="621792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8" name="Text 16"/>
          <p:cNvSpPr/>
          <p:nvPr/>
        </p:nvSpPr>
        <p:spPr>
          <a:xfrm>
            <a:off x="653796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Bounded</a:t>
            </a:r>
            <a:endParaRPr lang="en-US" sz="2600" dirty="0"/>
          </a:p>
        </p:txBody>
      </p:sp>
      <p:sp>
        <p:nvSpPr>
          <p:cNvPr id="19" name="Text 17"/>
          <p:cNvSpPr/>
          <p:nvPr/>
        </p:nvSpPr>
        <p:spPr>
          <a:xfrm>
            <a:off x="653796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TOTAL COST OF OWNERSHIP</a:t>
            </a:r>
            <a:endParaRPr lang="en-US" sz="1200" dirty="0"/>
          </a:p>
        </p:txBody>
      </p:sp>
      <p:sp>
        <p:nvSpPr>
          <p:cNvPr id="20" name="Text 18"/>
          <p:cNvSpPr/>
          <p:nvPr/>
        </p:nvSpPr>
        <p:spPr>
          <a:xfrm>
            <a:off x="653796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No egress, no duplicate copies, no third-party inference on proprietary data. Cost scales with data scanned, not data stored.</a:t>
            </a:r>
            <a:endParaRPr lang="en-US" sz="1250" dirty="0"/>
          </a:p>
        </p:txBody>
      </p:sp>
      <p:sp>
        <p:nvSpPr>
          <p:cNvPr id="21" name="Text 19"/>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11</a:t>
            </a:r>
            <a:endParaRPr lang="en-US" sz="1000" dirty="0"/>
          </a:p>
        </p:txBody>
      </p:sp>
      <p:sp>
        <p:nvSpPr>
          <p:cNvPr id="22" name="Text 20"/>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STAKEHOLDERS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One architecture, five wins</a:t>
            </a:r>
            <a:endParaRPr lang="en-US" sz="3200" dirty="0"/>
          </a:p>
        </p:txBody>
      </p:sp>
      <p:sp>
        <p:nvSpPr>
          <p:cNvPr id="5" name="Shape 3"/>
          <p:cNvSpPr/>
          <p:nvPr/>
        </p:nvSpPr>
        <p:spPr>
          <a:xfrm>
            <a:off x="640080" y="1874520"/>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914400" y="2020824"/>
            <a:ext cx="420624" cy="420624"/>
          </a:xfrm>
          <a:prstGeom prst="ellipse">
            <a:avLst/>
          </a:prstGeom>
          <a:solidFill>
            <a:srgbClr val="2A1B12"/>
          </a:solidFill>
          <a:ln w="15240">
            <a:solidFill>
              <a:srgbClr val="FF6C00"/>
            </a:solidFill>
            <a:prstDash val="solid"/>
          </a:ln>
        </p:spPr>
      </p:sp>
      <p:sp>
        <p:nvSpPr>
          <p:cNvPr id="7" name="Shape 5"/>
          <p:cNvSpPr/>
          <p:nvPr/>
        </p:nvSpPr>
        <p:spPr>
          <a:xfrm>
            <a:off x="1074420" y="2180844"/>
            <a:ext cx="100584" cy="100584"/>
          </a:xfrm>
          <a:prstGeom prst="ellipse">
            <a:avLst/>
          </a:prstGeom>
          <a:solidFill>
            <a:srgbClr val="FF6C00"/>
          </a:solidFill>
          <a:ln/>
        </p:spPr>
      </p:sp>
      <p:sp>
        <p:nvSpPr>
          <p:cNvPr id="8" name="Text 6"/>
          <p:cNvSpPr/>
          <p:nvPr/>
        </p:nvSpPr>
        <p:spPr>
          <a:xfrm>
            <a:off x="1554480" y="1874520"/>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CISO / Security</a:t>
            </a:r>
            <a:endParaRPr lang="en-US" sz="1500" dirty="0"/>
          </a:p>
        </p:txBody>
      </p:sp>
      <p:sp>
        <p:nvSpPr>
          <p:cNvPr id="9" name="Text 7"/>
          <p:cNvSpPr/>
          <p:nvPr/>
        </p:nvSpPr>
        <p:spPr>
          <a:xfrm>
            <a:off x="4846320" y="1874520"/>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 bounded, auditable AI risk surface. Injection and exfiltration prevented by construction, not by monitoring.</a:t>
            </a:r>
            <a:endParaRPr lang="en-US" sz="1280" dirty="0"/>
          </a:p>
        </p:txBody>
      </p:sp>
      <p:sp>
        <p:nvSpPr>
          <p:cNvPr id="10" name="Shape 8"/>
          <p:cNvSpPr/>
          <p:nvPr/>
        </p:nvSpPr>
        <p:spPr>
          <a:xfrm>
            <a:off x="640080" y="2715768"/>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Shape 9"/>
          <p:cNvSpPr/>
          <p:nvPr/>
        </p:nvSpPr>
        <p:spPr>
          <a:xfrm>
            <a:off x="914400" y="2862072"/>
            <a:ext cx="420624" cy="420624"/>
          </a:xfrm>
          <a:prstGeom prst="ellipse">
            <a:avLst/>
          </a:prstGeom>
          <a:solidFill>
            <a:srgbClr val="2A1B12"/>
          </a:solidFill>
          <a:ln w="15240">
            <a:solidFill>
              <a:srgbClr val="FF6C00"/>
            </a:solidFill>
            <a:prstDash val="solid"/>
          </a:ln>
        </p:spPr>
      </p:sp>
      <p:sp>
        <p:nvSpPr>
          <p:cNvPr id="12" name="Shape 10"/>
          <p:cNvSpPr/>
          <p:nvPr/>
        </p:nvSpPr>
        <p:spPr>
          <a:xfrm>
            <a:off x="1074420" y="3022092"/>
            <a:ext cx="100584" cy="100584"/>
          </a:xfrm>
          <a:prstGeom prst="ellipse">
            <a:avLst/>
          </a:prstGeom>
          <a:solidFill>
            <a:srgbClr val="FF6C00"/>
          </a:solidFill>
          <a:ln/>
        </p:spPr>
      </p:sp>
      <p:sp>
        <p:nvSpPr>
          <p:cNvPr id="13" name="Text 11"/>
          <p:cNvSpPr/>
          <p:nvPr/>
        </p:nvSpPr>
        <p:spPr>
          <a:xfrm>
            <a:off x="1554480" y="2715768"/>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CDO / Data leadership</a:t>
            </a:r>
            <a:endParaRPr lang="en-US" sz="1500" dirty="0"/>
          </a:p>
        </p:txBody>
      </p:sp>
      <p:sp>
        <p:nvSpPr>
          <p:cNvPr id="14" name="Text 12"/>
          <p:cNvSpPr/>
          <p:nvPr/>
        </p:nvSpPr>
        <p:spPr>
          <a:xfrm>
            <a:off x="4846320" y="2715768"/>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Self-service analytics for the business without widening data access. Analysts redeployed from lookups to modelling.</a:t>
            </a:r>
            <a:endParaRPr lang="en-US" sz="1280" dirty="0"/>
          </a:p>
        </p:txBody>
      </p:sp>
      <p:sp>
        <p:nvSpPr>
          <p:cNvPr id="15" name="Shape 13"/>
          <p:cNvSpPr/>
          <p:nvPr/>
        </p:nvSpPr>
        <p:spPr>
          <a:xfrm>
            <a:off x="640080" y="3557016"/>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6" name="Shape 14"/>
          <p:cNvSpPr/>
          <p:nvPr/>
        </p:nvSpPr>
        <p:spPr>
          <a:xfrm>
            <a:off x="914400" y="3703320"/>
            <a:ext cx="420624" cy="420624"/>
          </a:xfrm>
          <a:prstGeom prst="ellipse">
            <a:avLst/>
          </a:prstGeom>
          <a:solidFill>
            <a:srgbClr val="2A1B12"/>
          </a:solidFill>
          <a:ln w="15240">
            <a:solidFill>
              <a:srgbClr val="FF6C00"/>
            </a:solidFill>
            <a:prstDash val="solid"/>
          </a:ln>
        </p:spPr>
      </p:sp>
      <p:sp>
        <p:nvSpPr>
          <p:cNvPr id="17" name="Shape 15"/>
          <p:cNvSpPr/>
          <p:nvPr/>
        </p:nvSpPr>
        <p:spPr>
          <a:xfrm>
            <a:off x="1074420" y="3863340"/>
            <a:ext cx="100584" cy="100584"/>
          </a:xfrm>
          <a:prstGeom prst="ellipse">
            <a:avLst/>
          </a:prstGeom>
          <a:solidFill>
            <a:srgbClr val="FF6C00"/>
          </a:solidFill>
          <a:ln/>
        </p:spPr>
      </p:sp>
      <p:sp>
        <p:nvSpPr>
          <p:cNvPr id="18" name="Text 16"/>
          <p:cNvSpPr/>
          <p:nvPr/>
        </p:nvSpPr>
        <p:spPr>
          <a:xfrm>
            <a:off x="1554480" y="3557016"/>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Compliance / Legal</a:t>
            </a:r>
            <a:endParaRPr lang="en-US" sz="1500" dirty="0"/>
          </a:p>
        </p:txBody>
      </p:sp>
      <p:sp>
        <p:nvSpPr>
          <p:cNvPr id="19" name="Text 17"/>
          <p:cNvSpPr/>
          <p:nvPr/>
        </p:nvSpPr>
        <p:spPr>
          <a:xfrm>
            <a:off x="4846320" y="3557016"/>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 durable, queryable record of every AI action — refusals included — that shortens review and audit cycles.</a:t>
            </a:r>
            <a:endParaRPr lang="en-US" sz="1280" dirty="0"/>
          </a:p>
        </p:txBody>
      </p:sp>
      <p:sp>
        <p:nvSpPr>
          <p:cNvPr id="20" name="Shape 18"/>
          <p:cNvSpPr/>
          <p:nvPr/>
        </p:nvSpPr>
        <p:spPr>
          <a:xfrm>
            <a:off x="640080" y="4398264"/>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914400" y="4544568"/>
            <a:ext cx="420624" cy="420624"/>
          </a:xfrm>
          <a:prstGeom prst="ellipse">
            <a:avLst/>
          </a:prstGeom>
          <a:solidFill>
            <a:srgbClr val="2A1B12"/>
          </a:solidFill>
          <a:ln w="15240">
            <a:solidFill>
              <a:srgbClr val="FF6C00"/>
            </a:solidFill>
            <a:prstDash val="solid"/>
          </a:ln>
        </p:spPr>
      </p:sp>
      <p:sp>
        <p:nvSpPr>
          <p:cNvPr id="22" name="Shape 20"/>
          <p:cNvSpPr/>
          <p:nvPr/>
        </p:nvSpPr>
        <p:spPr>
          <a:xfrm>
            <a:off x="1074420" y="4704588"/>
            <a:ext cx="100584" cy="100584"/>
          </a:xfrm>
          <a:prstGeom prst="ellipse">
            <a:avLst/>
          </a:prstGeom>
          <a:solidFill>
            <a:srgbClr val="FF6C00"/>
          </a:solidFill>
          <a:ln/>
        </p:spPr>
      </p:sp>
      <p:sp>
        <p:nvSpPr>
          <p:cNvPr id="23" name="Text 21"/>
          <p:cNvSpPr/>
          <p:nvPr/>
        </p:nvSpPr>
        <p:spPr>
          <a:xfrm>
            <a:off x="1554480" y="4398264"/>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Business units</a:t>
            </a:r>
            <a:endParaRPr lang="en-US" sz="1500" dirty="0"/>
          </a:p>
        </p:txBody>
      </p:sp>
      <p:sp>
        <p:nvSpPr>
          <p:cNvPr id="24" name="Text 22"/>
          <p:cNvSpPr/>
          <p:nvPr/>
        </p:nvSpPr>
        <p:spPr>
          <a:xfrm>
            <a:off x="4846320" y="4398264"/>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Answers grounded in live, governed enterprise data — in plain language, in seconds.</a:t>
            </a:r>
            <a:endParaRPr lang="en-US" sz="1280" dirty="0"/>
          </a:p>
        </p:txBody>
      </p:sp>
      <p:sp>
        <p:nvSpPr>
          <p:cNvPr id="25" name="Shape 23"/>
          <p:cNvSpPr/>
          <p:nvPr/>
        </p:nvSpPr>
        <p:spPr>
          <a:xfrm>
            <a:off x="640080" y="5239512"/>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6" name="Shape 24"/>
          <p:cNvSpPr/>
          <p:nvPr/>
        </p:nvSpPr>
        <p:spPr>
          <a:xfrm>
            <a:off x="914400" y="5385816"/>
            <a:ext cx="420624" cy="420624"/>
          </a:xfrm>
          <a:prstGeom prst="ellipse">
            <a:avLst/>
          </a:prstGeom>
          <a:solidFill>
            <a:srgbClr val="2A1B12"/>
          </a:solidFill>
          <a:ln w="15240">
            <a:solidFill>
              <a:srgbClr val="FF6C00"/>
            </a:solidFill>
            <a:prstDash val="solid"/>
          </a:ln>
        </p:spPr>
      </p:sp>
      <p:sp>
        <p:nvSpPr>
          <p:cNvPr id="27" name="Shape 25"/>
          <p:cNvSpPr/>
          <p:nvPr/>
        </p:nvSpPr>
        <p:spPr>
          <a:xfrm>
            <a:off x="1074420" y="5545836"/>
            <a:ext cx="100584" cy="100584"/>
          </a:xfrm>
          <a:prstGeom prst="ellipse">
            <a:avLst/>
          </a:prstGeom>
          <a:solidFill>
            <a:srgbClr val="FF6C00"/>
          </a:solidFill>
          <a:ln/>
        </p:spPr>
      </p:sp>
      <p:sp>
        <p:nvSpPr>
          <p:cNvPr id="28" name="Text 26"/>
          <p:cNvSpPr/>
          <p:nvPr/>
        </p:nvSpPr>
        <p:spPr>
          <a:xfrm>
            <a:off x="1554480" y="5239512"/>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Finance / CFO</a:t>
            </a:r>
            <a:endParaRPr lang="en-US" sz="1500" dirty="0"/>
          </a:p>
        </p:txBody>
      </p:sp>
      <p:sp>
        <p:nvSpPr>
          <p:cNvPr id="29" name="Text 27"/>
          <p:cNvSpPr/>
          <p:nvPr/>
        </p:nvSpPr>
        <p:spPr>
          <a:xfrm>
            <a:off x="4846320" y="5239512"/>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AI value captured without egress, duplication, or third-party inference costs.</a:t>
            </a:r>
            <a:endParaRPr lang="en-US" sz="128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12</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PATH TO PRODUCTION</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The demo IS the architecture</a:t>
            </a:r>
            <a:endParaRPr lang="en-US" sz="3200" dirty="0"/>
          </a:p>
        </p:txBody>
      </p:sp>
      <p:sp>
        <p:nvSpPr>
          <p:cNvPr id="5" name="Text 3"/>
          <p:cNvSpPr/>
          <p:nvPr/>
        </p:nvSpPr>
        <p:spPr>
          <a:xfrm>
            <a:off x="640080" y="1783080"/>
            <a:ext cx="10789920" cy="640080"/>
          </a:xfrm>
          <a:prstGeom prst="rect">
            <a:avLst/>
          </a:prstGeom>
          <a:noFill/>
          <a:ln/>
        </p:spPr>
        <p:txBody>
          <a:bodyPr wrap="square" lIns="0" tIns="0" rIns="0" bIns="0" rtlCol="0" anchor="ctr"/>
          <a:lstStyle/>
          <a:p>
            <a:pPr indent="0" marL="0">
              <a:lnSpc>
                <a:spcPct val="110000"/>
              </a:lnSpc>
              <a:buNone/>
            </a:pPr>
            <a:r>
              <a:rPr lang="en-US" sz="1550" dirty="0">
                <a:solidFill>
                  <a:srgbClr val="93A1AF"/>
                </a:solidFill>
                <a:latin typeface="Calibri" pitchFamily="34" charset="0"/>
                <a:ea typeface="Calibri" pitchFamily="34" charset="-122"/>
                <a:cs typeface="Calibri" pitchFamily="34" charset="-120"/>
              </a:rPr>
              <a:t>Nothing here is throwaway. Each local component swaps for its Databricks counterpart with the same contract — same medallion, same function signature, same governance model.</a:t>
            </a:r>
            <a:endParaRPr lang="en-US" sz="1550" dirty="0"/>
          </a:p>
        </p:txBody>
      </p:sp>
      <p:sp>
        <p:nvSpPr>
          <p:cNvPr id="6" name="Text 4"/>
          <p:cNvSpPr/>
          <p:nvPr/>
        </p:nvSpPr>
        <p:spPr>
          <a:xfrm>
            <a:off x="777240" y="2404872"/>
            <a:ext cx="4480560" cy="320040"/>
          </a:xfrm>
          <a:prstGeom prst="rect">
            <a:avLst/>
          </a:prstGeom>
          <a:noFill/>
          <a:ln/>
        </p:spPr>
        <p:txBody>
          <a:bodyPr wrap="square" lIns="0" tIns="0" rIns="0" bIns="0" rtlCol="0" anchor="ctr"/>
          <a:lstStyle/>
          <a:p>
            <a:pPr indent="0" marL="0">
              <a:buNone/>
            </a:pPr>
            <a:r>
              <a:rPr lang="en-US" sz="1150" b="1" spc="150" kern="0" dirty="0">
                <a:solidFill>
                  <a:srgbClr val="6C7C8A"/>
                </a:solidFill>
                <a:latin typeface="Calibri" pitchFamily="34" charset="0"/>
                <a:ea typeface="Calibri" pitchFamily="34" charset="-122"/>
                <a:cs typeface="Calibri" pitchFamily="34" charset="-120"/>
              </a:rPr>
              <a:t>SANDBOX (RUNS ON A LAPTOP)</a:t>
            </a:r>
            <a:endParaRPr lang="en-US" sz="1150" dirty="0"/>
          </a:p>
        </p:txBody>
      </p:sp>
      <p:sp>
        <p:nvSpPr>
          <p:cNvPr id="7" name="Text 5"/>
          <p:cNvSpPr/>
          <p:nvPr/>
        </p:nvSpPr>
        <p:spPr>
          <a:xfrm>
            <a:off x="5623560" y="2404872"/>
            <a:ext cx="6080760" cy="320040"/>
          </a:xfrm>
          <a:prstGeom prst="rect">
            <a:avLst/>
          </a:prstGeom>
          <a:noFill/>
          <a:ln/>
        </p:spPr>
        <p:txBody>
          <a:bodyPr wrap="square" lIns="0" tIns="0" rIns="0" bIns="0" rtlCol="0" anchor="ctr"/>
          <a:lstStyle/>
          <a:p>
            <a:pPr indent="0" marL="0">
              <a:buNone/>
            </a:pPr>
            <a:r>
              <a:rPr lang="en-US" sz="1150" b="1" spc="150" kern="0" dirty="0">
                <a:solidFill>
                  <a:srgbClr val="FF8A3D"/>
                </a:solidFill>
                <a:latin typeface="Calibri" pitchFamily="34" charset="0"/>
                <a:ea typeface="Calibri" pitchFamily="34" charset="-122"/>
                <a:cs typeface="Calibri" pitchFamily="34" charset="-120"/>
              </a:rPr>
              <a:t>PRODUCTION DATABRICKS</a:t>
            </a:r>
            <a:endParaRPr lang="en-US" sz="1150" dirty="0"/>
          </a:p>
        </p:txBody>
      </p:sp>
      <p:sp>
        <p:nvSpPr>
          <p:cNvPr id="8" name="Shape 6"/>
          <p:cNvSpPr/>
          <p:nvPr/>
        </p:nvSpPr>
        <p:spPr>
          <a:xfrm>
            <a:off x="640080" y="2788920"/>
            <a:ext cx="44805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9" name="Text 7"/>
          <p:cNvSpPr/>
          <p:nvPr/>
        </p:nvSpPr>
        <p:spPr>
          <a:xfrm>
            <a:off x="914400" y="2788920"/>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DuckDB medallion engine</a:t>
            </a:r>
            <a:endParaRPr lang="en-US" sz="1200" dirty="0"/>
          </a:p>
        </p:txBody>
      </p:sp>
      <p:sp>
        <p:nvSpPr>
          <p:cNvPr id="10" name="Shape 8"/>
          <p:cNvSpPr/>
          <p:nvPr/>
        </p:nvSpPr>
        <p:spPr>
          <a:xfrm>
            <a:off x="5175504" y="2944368"/>
            <a:ext cx="256032" cy="146304"/>
          </a:xfrm>
          <a:prstGeom prst="rightArrow">
            <a:avLst/>
          </a:prstGeom>
          <a:solidFill>
            <a:srgbClr val="FF6C00"/>
          </a:solidFill>
          <a:ln/>
        </p:spPr>
      </p:sp>
      <p:sp>
        <p:nvSpPr>
          <p:cNvPr id="11" name="Shape 9"/>
          <p:cNvSpPr/>
          <p:nvPr/>
        </p:nvSpPr>
        <p:spPr>
          <a:xfrm>
            <a:off x="5486400" y="2788920"/>
            <a:ext cx="60807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Text 10"/>
          <p:cNvSpPr/>
          <p:nvPr/>
        </p:nvSpPr>
        <p:spPr>
          <a:xfrm>
            <a:off x="5760720" y="2788920"/>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Serverless SQL Warehouse over Delta + Unity Catalog</a:t>
            </a:r>
            <a:endParaRPr lang="en-US" sz="1200" dirty="0"/>
          </a:p>
        </p:txBody>
      </p:sp>
      <p:sp>
        <p:nvSpPr>
          <p:cNvPr id="13" name="Shape 11"/>
          <p:cNvSpPr/>
          <p:nvPr/>
        </p:nvSpPr>
        <p:spPr>
          <a:xfrm>
            <a:off x="640080" y="3319272"/>
            <a:ext cx="44805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14400" y="3319272"/>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TF-IDF vector index</a:t>
            </a:r>
            <a:endParaRPr lang="en-US" sz="1200" dirty="0"/>
          </a:p>
        </p:txBody>
      </p:sp>
      <p:sp>
        <p:nvSpPr>
          <p:cNvPr id="15" name="Shape 13"/>
          <p:cNvSpPr/>
          <p:nvPr/>
        </p:nvSpPr>
        <p:spPr>
          <a:xfrm>
            <a:off x="5175504" y="3474720"/>
            <a:ext cx="256032" cy="146304"/>
          </a:xfrm>
          <a:prstGeom prst="rightArrow">
            <a:avLst/>
          </a:prstGeom>
          <a:solidFill>
            <a:srgbClr val="FF6C00"/>
          </a:solidFill>
          <a:ln/>
        </p:spPr>
      </p:sp>
      <p:sp>
        <p:nvSpPr>
          <p:cNvPr id="16" name="Shape 14"/>
          <p:cNvSpPr/>
          <p:nvPr/>
        </p:nvSpPr>
        <p:spPr>
          <a:xfrm>
            <a:off x="5486400" y="3319272"/>
            <a:ext cx="60807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Text 15"/>
          <p:cNvSpPr/>
          <p:nvPr/>
        </p:nvSpPr>
        <p:spPr>
          <a:xfrm>
            <a:off x="5760720" y="3319272"/>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Mosaic AI Vector Search (bge-large embeddings)</a:t>
            </a:r>
            <a:endParaRPr lang="en-US" sz="1200" dirty="0"/>
          </a:p>
        </p:txBody>
      </p:sp>
      <p:sp>
        <p:nvSpPr>
          <p:cNvPr id="18" name="Shape 16"/>
          <p:cNvSpPr/>
          <p:nvPr/>
        </p:nvSpPr>
        <p:spPr>
          <a:xfrm>
            <a:off x="640080" y="3849624"/>
            <a:ext cx="44805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914400" y="3849624"/>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In-code governance allowlist</a:t>
            </a:r>
            <a:endParaRPr lang="en-US" sz="1200" dirty="0"/>
          </a:p>
        </p:txBody>
      </p:sp>
      <p:sp>
        <p:nvSpPr>
          <p:cNvPr id="20" name="Shape 18"/>
          <p:cNvSpPr/>
          <p:nvPr/>
        </p:nvSpPr>
        <p:spPr>
          <a:xfrm>
            <a:off x="5175504" y="4005072"/>
            <a:ext cx="256032" cy="146304"/>
          </a:xfrm>
          <a:prstGeom prst="rightArrow">
            <a:avLst/>
          </a:prstGeom>
          <a:solidFill>
            <a:srgbClr val="FF6C00"/>
          </a:solidFill>
          <a:ln/>
        </p:spPr>
      </p:sp>
      <p:sp>
        <p:nvSpPr>
          <p:cNvPr id="21" name="Shape 19"/>
          <p:cNvSpPr/>
          <p:nvPr/>
        </p:nvSpPr>
        <p:spPr>
          <a:xfrm>
            <a:off x="5486400" y="3849624"/>
            <a:ext cx="60807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2" name="Text 20"/>
          <p:cNvSpPr/>
          <p:nvPr/>
        </p:nvSpPr>
        <p:spPr>
          <a:xfrm>
            <a:off x="5760720" y="3849624"/>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GRANT EXECUTE ON FUNCTION + row/column-level security</a:t>
            </a:r>
            <a:endParaRPr lang="en-US" sz="1200" dirty="0"/>
          </a:p>
        </p:txBody>
      </p:sp>
      <p:sp>
        <p:nvSpPr>
          <p:cNvPr id="23" name="Shape 21"/>
          <p:cNvSpPr/>
          <p:nvPr/>
        </p:nvSpPr>
        <p:spPr>
          <a:xfrm>
            <a:off x="640080" y="4379976"/>
            <a:ext cx="44805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Text 22"/>
          <p:cNvSpPr/>
          <p:nvPr/>
        </p:nvSpPr>
        <p:spPr>
          <a:xfrm>
            <a:off x="914400" y="4379976"/>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Append-only audit log</a:t>
            </a:r>
            <a:endParaRPr lang="en-US" sz="1200" dirty="0"/>
          </a:p>
        </p:txBody>
      </p:sp>
      <p:sp>
        <p:nvSpPr>
          <p:cNvPr id="25" name="Shape 23"/>
          <p:cNvSpPr/>
          <p:nvPr/>
        </p:nvSpPr>
        <p:spPr>
          <a:xfrm>
            <a:off x="5175504" y="4535424"/>
            <a:ext cx="256032" cy="146304"/>
          </a:xfrm>
          <a:prstGeom prst="rightArrow">
            <a:avLst/>
          </a:prstGeom>
          <a:solidFill>
            <a:srgbClr val="FF6C00"/>
          </a:solidFill>
          <a:ln/>
        </p:spPr>
      </p:sp>
      <p:sp>
        <p:nvSpPr>
          <p:cNvPr id="26" name="Shape 24"/>
          <p:cNvSpPr/>
          <p:nvPr/>
        </p:nvSpPr>
        <p:spPr>
          <a:xfrm>
            <a:off x="5486400" y="4379976"/>
            <a:ext cx="60807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7" name="Text 25"/>
          <p:cNvSpPr/>
          <p:nvPr/>
        </p:nvSpPr>
        <p:spPr>
          <a:xfrm>
            <a:off x="5760720" y="4379976"/>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Delta audit table with retention policy, or your SIEM</a:t>
            </a:r>
            <a:endParaRPr lang="en-US" sz="1200" dirty="0"/>
          </a:p>
        </p:txBody>
      </p:sp>
      <p:sp>
        <p:nvSpPr>
          <p:cNvPr id="28" name="Shape 26"/>
          <p:cNvSpPr/>
          <p:nvPr/>
        </p:nvSpPr>
        <p:spPr>
          <a:xfrm>
            <a:off x="640080" y="4910328"/>
            <a:ext cx="44805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9" name="Text 27"/>
          <p:cNvSpPr/>
          <p:nvPr/>
        </p:nvSpPr>
        <p:spPr>
          <a:xfrm>
            <a:off x="914400" y="4910328"/>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Local deterministic planner</a:t>
            </a:r>
            <a:endParaRPr lang="en-US" sz="1200" dirty="0"/>
          </a:p>
        </p:txBody>
      </p:sp>
      <p:sp>
        <p:nvSpPr>
          <p:cNvPr id="30" name="Shape 28"/>
          <p:cNvSpPr/>
          <p:nvPr/>
        </p:nvSpPr>
        <p:spPr>
          <a:xfrm>
            <a:off x="5175504" y="5065776"/>
            <a:ext cx="256032" cy="146304"/>
          </a:xfrm>
          <a:prstGeom prst="rightArrow">
            <a:avLst/>
          </a:prstGeom>
          <a:solidFill>
            <a:srgbClr val="FF6C00"/>
          </a:solidFill>
          <a:ln/>
        </p:spPr>
      </p:sp>
      <p:sp>
        <p:nvSpPr>
          <p:cNvPr id="31" name="Shape 29"/>
          <p:cNvSpPr/>
          <p:nvPr/>
        </p:nvSpPr>
        <p:spPr>
          <a:xfrm>
            <a:off x="5486400" y="4910328"/>
            <a:ext cx="6080760" cy="457200"/>
          </a:xfrm>
          <a:prstGeom prst="roundRect">
            <a:avLst>
              <a:gd name="adj" fmla="val 18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2" name="Text 30"/>
          <p:cNvSpPr/>
          <p:nvPr/>
        </p:nvSpPr>
        <p:spPr>
          <a:xfrm>
            <a:off x="5760720" y="4910328"/>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Databricks Model Serving (Llama 3 / DBRX) in your VPC</a:t>
            </a:r>
            <a:endParaRPr lang="en-US" sz="1200" dirty="0"/>
          </a:p>
        </p:txBody>
      </p:sp>
      <p:sp>
        <p:nvSpPr>
          <p:cNvPr id="33" name="Shape 31"/>
          <p:cNvSpPr/>
          <p:nvPr/>
        </p:nvSpPr>
        <p:spPr>
          <a:xfrm>
            <a:off x="640080" y="5440680"/>
            <a:ext cx="44805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4" name="Text 32"/>
          <p:cNvSpPr/>
          <p:nvPr/>
        </p:nvSpPr>
        <p:spPr>
          <a:xfrm>
            <a:off x="914400" y="5440680"/>
            <a:ext cx="40233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Synthetic JSON generator</a:t>
            </a:r>
            <a:endParaRPr lang="en-US" sz="1200" dirty="0"/>
          </a:p>
        </p:txBody>
      </p:sp>
      <p:sp>
        <p:nvSpPr>
          <p:cNvPr id="35" name="Shape 33"/>
          <p:cNvSpPr/>
          <p:nvPr/>
        </p:nvSpPr>
        <p:spPr>
          <a:xfrm>
            <a:off x="5175504" y="5596128"/>
            <a:ext cx="256032" cy="146304"/>
          </a:xfrm>
          <a:prstGeom prst="rightArrow">
            <a:avLst/>
          </a:prstGeom>
          <a:solidFill>
            <a:srgbClr val="FF6C00"/>
          </a:solidFill>
          <a:ln/>
        </p:spPr>
      </p:sp>
      <p:sp>
        <p:nvSpPr>
          <p:cNvPr id="36" name="Shape 34"/>
          <p:cNvSpPr/>
          <p:nvPr/>
        </p:nvSpPr>
        <p:spPr>
          <a:xfrm>
            <a:off x="5486400" y="5440680"/>
            <a:ext cx="6080760" cy="457200"/>
          </a:xfrm>
          <a:prstGeom prst="roundRect">
            <a:avLst>
              <a:gd name="adj" fmla="val 18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7" name="Text 35"/>
          <p:cNvSpPr/>
          <p:nvPr/>
        </p:nvSpPr>
        <p:spPr>
          <a:xfrm>
            <a:off x="5760720" y="5440680"/>
            <a:ext cx="5623560" cy="457200"/>
          </a:xfrm>
          <a:prstGeom prst="rect">
            <a:avLst/>
          </a:prstGeom>
          <a:noFill/>
          <a:ln/>
        </p:spPr>
        <p:txBody>
          <a:bodyPr wrap="square" lIns="0" tIns="0" rIns="0" bIns="0" rtlCol="0" anchor="ctr"/>
          <a:lstStyle/>
          <a:p>
            <a:pPr indent="0" marL="0">
              <a:buNone/>
            </a:pPr>
            <a:r>
              <a:rPr lang="en-US" sz="1200" dirty="0">
                <a:solidFill>
                  <a:srgbClr val="E9EEF3"/>
                </a:solidFill>
                <a:latin typeface="Calibri" pitchFamily="34" charset="0"/>
                <a:ea typeface="Calibri" pitchFamily="34" charset="-122"/>
                <a:cs typeface="Calibri" pitchFamily="34" charset="-120"/>
              </a:rPr>
              <a:t>Kafka streams / cloud storage via Auto Loader</a:t>
            </a:r>
            <a:endParaRPr lang="en-US" sz="1200" dirty="0"/>
          </a:p>
        </p:txBody>
      </p:sp>
      <p:sp>
        <p:nvSpPr>
          <p:cNvPr id="38" name="Text 36"/>
          <p:cNvSpPr/>
          <p:nvPr/>
        </p:nvSpPr>
        <p:spPr>
          <a:xfrm>
            <a:off x="640080" y="6053328"/>
            <a:ext cx="10881360" cy="274320"/>
          </a:xfrm>
          <a:prstGeom prst="rect">
            <a:avLst/>
          </a:prstGeom>
          <a:noFill/>
          <a:ln/>
        </p:spPr>
        <p:txBody>
          <a:bodyPr wrap="square" lIns="0" tIns="0" rIns="0" bIns="0" rtlCol="0" anchor="ctr"/>
          <a:lstStyle/>
          <a:p>
            <a:pPr indent="0" marL="0">
              <a:buNone/>
            </a:pPr>
            <a:r>
              <a:rPr lang="en-US" sz="1300" i="1" dirty="0">
                <a:solidFill>
                  <a:srgbClr val="93A1AF"/>
                </a:solidFill>
                <a:latin typeface="Calibri" pitchFamily="34" charset="0"/>
                <a:ea typeface="Calibri" pitchFamily="34" charset="-122"/>
                <a:cs typeface="Calibri" pitchFamily="34" charset="-120"/>
              </a:rPr>
              <a:t>Point DATABRICKS_HOST / DATABRICKS_TOKEN at a workspace and the same call path routes to the served model.</a:t>
            </a:r>
            <a:endParaRPr lang="en-US" sz="1300" dirty="0"/>
          </a:p>
        </p:txBody>
      </p:sp>
      <p:sp>
        <p:nvSpPr>
          <p:cNvPr id="39" name="Text 37"/>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13</a:t>
            </a:r>
            <a:endParaRPr lang="en-US" sz="1000" dirty="0"/>
          </a:p>
        </p:txBody>
      </p:sp>
      <p:sp>
        <p:nvSpPr>
          <p:cNvPr id="40" name="Text 38"/>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011680"/>
            <a:ext cx="10058400" cy="365760"/>
          </a:xfrm>
          <a:prstGeom prst="rect">
            <a:avLst/>
          </a:prstGeom>
          <a:noFill/>
          <a:ln/>
        </p:spPr>
        <p:txBody>
          <a:bodyPr wrap="square" lIns="0" tIns="0" rIns="0" bIns="0" rtlCol="0" anchor="ctr"/>
          <a:lstStyle/>
          <a:p>
            <a:pPr indent="0" marL="0">
              <a:buNone/>
            </a:pPr>
            <a:r>
              <a:rPr lang="en-US" sz="1300" b="1" spc="300" kern="0" dirty="0">
                <a:solidFill>
                  <a:srgbClr val="FF8A3D"/>
                </a:solidFill>
                <a:latin typeface="Calibri" pitchFamily="34" charset="0"/>
                <a:ea typeface="Calibri" pitchFamily="34" charset="-122"/>
                <a:cs typeface="Calibri" pitchFamily="34" charset="-120"/>
              </a:rPr>
              <a:t>THE TAKEAWAY</a:t>
            </a:r>
            <a:endParaRPr lang="en-US" sz="1300" dirty="0"/>
          </a:p>
        </p:txBody>
      </p:sp>
      <p:sp>
        <p:nvSpPr>
          <p:cNvPr id="6" name="Text 4"/>
          <p:cNvSpPr/>
          <p:nvPr/>
        </p:nvSpPr>
        <p:spPr>
          <a:xfrm>
            <a:off x="640080" y="2468880"/>
            <a:ext cx="10607040" cy="1371600"/>
          </a:xfrm>
          <a:prstGeom prst="rect">
            <a:avLst/>
          </a:prstGeom>
          <a:noFill/>
          <a:ln/>
        </p:spPr>
        <p:txBody>
          <a:bodyPr wrap="square" lIns="0" tIns="0" rIns="0" bIns="0" rtlCol="0" anchor="ctr"/>
          <a:lstStyle/>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Enterprises no longer have to choose between</a:t>
            </a:r>
            <a:endParaRPr lang="en-US" sz="3400" dirty="0"/>
          </a:p>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agentic AI and data governance.</a:t>
            </a:r>
            <a:endParaRPr lang="en-US" sz="3400" dirty="0"/>
          </a:p>
        </p:txBody>
      </p:sp>
      <p:sp>
        <p:nvSpPr>
          <p:cNvPr id="7" name="Text 5"/>
          <p:cNvSpPr/>
          <p:nvPr/>
        </p:nvSpPr>
        <p:spPr>
          <a:xfrm>
            <a:off x="640080" y="3977640"/>
            <a:ext cx="10424160" cy="731520"/>
          </a:xfrm>
          <a:prstGeom prst="rect">
            <a:avLst/>
          </a:prstGeom>
          <a:noFill/>
          <a:ln/>
        </p:spPr>
        <p:txBody>
          <a:bodyPr wrap="square" lIns="0" tIns="0" rIns="0" bIns="0" rtlCol="0" anchor="ctr"/>
          <a:lstStyle/>
          <a:p>
            <a:pPr indent="0" marL="0">
              <a:lnSpc>
                <a:spcPct val="115000"/>
              </a:lnSpc>
              <a:buNone/>
            </a:pPr>
            <a:r>
              <a:rPr lang="en-US" sz="1700" dirty="0">
                <a:solidFill>
                  <a:srgbClr val="93A1AF"/>
                </a:solidFill>
                <a:latin typeface="Calibri" pitchFamily="34" charset="0"/>
                <a:ea typeface="Calibri" pitchFamily="34" charset="-122"/>
                <a:cs typeface="Calibri" pitchFamily="34" charset="-120"/>
              </a:rPr>
              <a:t>IntelligenceStack proves it with running code — real answers, cited guidance, an enforced boundary, and a durable record of every decision.</a:t>
            </a:r>
            <a:endParaRPr lang="en-US" sz="1700" dirty="0"/>
          </a:p>
        </p:txBody>
      </p:sp>
      <p:sp>
        <p:nvSpPr>
          <p:cNvPr id="8" name="Shape 6"/>
          <p:cNvSpPr/>
          <p:nvPr/>
        </p:nvSpPr>
        <p:spPr>
          <a:xfrm>
            <a:off x="640080" y="4937760"/>
            <a:ext cx="10972800" cy="0"/>
          </a:xfrm>
          <a:prstGeom prst="line">
            <a:avLst/>
          </a:prstGeom>
          <a:noFill/>
          <a:ln w="12700">
            <a:solidFill>
              <a:srgbClr val="2A3745"/>
            </a:solidFill>
            <a:prstDash val="solid"/>
          </a:ln>
        </p:spPr>
      </p:sp>
      <p:sp>
        <p:nvSpPr>
          <p:cNvPr id="9" name="Text 7"/>
          <p:cNvSpPr/>
          <p:nvPr/>
        </p:nvSpPr>
        <p:spPr>
          <a:xfrm>
            <a:off x="64008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PILOT</a:t>
            </a:r>
            <a:endParaRPr lang="en-US" sz="1250" dirty="0"/>
          </a:p>
        </p:txBody>
      </p:sp>
      <p:sp>
        <p:nvSpPr>
          <p:cNvPr id="10" name="Text 8"/>
          <p:cNvSpPr/>
          <p:nvPr/>
        </p:nvSpPr>
        <p:spPr>
          <a:xfrm>
            <a:off x="64008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Point it at one governed dataset in a workspace</a:t>
            </a:r>
            <a:endParaRPr lang="en-US" sz="1300" dirty="0"/>
          </a:p>
        </p:txBody>
      </p:sp>
      <p:sp>
        <p:nvSpPr>
          <p:cNvPr id="11" name="Text 9"/>
          <p:cNvSpPr/>
          <p:nvPr/>
        </p:nvSpPr>
        <p:spPr>
          <a:xfrm>
            <a:off x="434340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EXTEND</a:t>
            </a:r>
            <a:endParaRPr lang="en-US" sz="1250" dirty="0"/>
          </a:p>
        </p:txBody>
      </p:sp>
      <p:sp>
        <p:nvSpPr>
          <p:cNvPr id="12" name="Text 10"/>
          <p:cNvSpPr/>
          <p:nvPr/>
        </p:nvSpPr>
        <p:spPr>
          <a:xfrm>
            <a:off x="434340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Register the next approved function on the allowlist</a:t>
            </a:r>
            <a:endParaRPr lang="en-US" sz="1300" dirty="0"/>
          </a:p>
        </p:txBody>
      </p:sp>
      <p:sp>
        <p:nvSpPr>
          <p:cNvPr id="13" name="Text 11"/>
          <p:cNvSpPr/>
          <p:nvPr/>
        </p:nvSpPr>
        <p:spPr>
          <a:xfrm>
            <a:off x="804672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REVIEW</a:t>
            </a:r>
            <a:endParaRPr lang="en-US" sz="1250" dirty="0"/>
          </a:p>
        </p:txBody>
      </p:sp>
      <p:sp>
        <p:nvSpPr>
          <p:cNvPr id="14" name="Text 12"/>
          <p:cNvSpPr/>
          <p:nvPr/>
        </p:nvSpPr>
        <p:spPr>
          <a:xfrm>
            <a:off x="804672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Walk security through the boundary and the audit trail</a:t>
            </a:r>
            <a:endParaRPr lang="en-US" sz="1300" dirty="0"/>
          </a:p>
        </p:txBody>
      </p:sp>
      <p:sp>
        <p:nvSpPr>
          <p:cNvPr id="15" name="Text 13"/>
          <p:cNvSpPr/>
          <p:nvPr/>
        </p:nvSpPr>
        <p:spPr>
          <a:xfrm>
            <a:off x="640080" y="6355080"/>
            <a:ext cx="10972800" cy="320040"/>
          </a:xfrm>
          <a:prstGeom prst="rect">
            <a:avLst/>
          </a:prstGeom>
          <a:noFill/>
          <a:ln/>
        </p:spPr>
        <p:txBody>
          <a:bodyPr wrap="square" lIns="0" tIns="0" rIns="0" bIns="0" rtlCol="0" anchor="ctr"/>
          <a:lstStyle/>
          <a:p>
            <a:pPr indent="0" marL="0">
              <a:buNone/>
            </a:pPr>
            <a:r>
              <a:rPr lang="en-US" sz="1250" dirty="0">
                <a:solidFill>
                  <a:srgbClr val="6C7C8A"/>
                </a:solidFill>
                <a:latin typeface="Calibri" pitchFamily="34" charset="0"/>
                <a:ea typeface="Calibri" pitchFamily="34" charset="-122"/>
                <a:cs typeface="Calibri" pitchFamily="34" charset="-120"/>
              </a:rPr>
              <a:t>github.com/atharvvani464/IntelligenceStack   ·   run locally in four commands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IntelligenceStack — Executive Briefing</dc:title>
  <dc:subject>PptxGenJS Presentation</dc:subject>
  <dc:creator>Atharv Vani</dc:creator>
  <cp:lastModifiedBy>Atharv Vani</cp:lastModifiedBy>
  <cp:revision>1</cp:revision>
  <dcterms:created xsi:type="dcterms:W3CDTF">2026-08-02T03:45:06Z</dcterms:created>
  <dcterms:modified xsi:type="dcterms:W3CDTF">2026-08-02T03:45:06Z</dcterms:modified>
</cp:coreProperties>
</file>