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'Every enterprise wants to point AI at its private data. The reason they hesitate is the same one every time — the moment an LLM can see the data, it can leak it or be tricked into destroying it. IntelligenceStack is a working answer to that, not a concept.'
Set expectations: about twelve minutes of story, then a live demo you can poke at. Everything runs on a laptop, computes real answers from real data, and every figure on these slides is reproducible from a clone.
Backend on :8000, control plane on :8501, both already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the three objections you personally hear in every AI review. Each has a real headline behind it.
The third one is the quiet killer and the one this project answers most completely: it is not enough to bound the model, you have to bound each person using it, and be able to prove both.
Don't dwell — 45 seconds. The room already believes this problem; you're establishing shared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vending-machine analogy lands well: 'We don't give the AI keys to the warehouse. We give it a vending machine with fixed buttons. It's very good at choosing the right button — but it physically cannot reach behind the glass.'
The right-hand column is the whole thesis; every later slide is evidence for one of those five lines.
The last two are the ones that close a security review: entitlements per caller, and evidence rather than assurance.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one sentence per numbered item. Executives don't need the plumbing, they need to see there IS plumbing.
The line to land: the boundary sits between the agent and the data. The agent never touches tables; it asks the catalog to run a named, pre-approved function. Items 4 through 6 extend that same rule to unstructured knowledge, to the individual caller, and to the permanent record.
If asked 'is this really Databricks?' — yes: DLT, Unity Catalog, Liquid Clustering, Model Serving, Mosaic AI Vector Search. The sandbox swaps each for a local stand-in with an identical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switch-to-live-app slide. Leave it up while you alt-tab to localhost:8501.
Run the left column first so the room sees value before security theatre, then the right column to answer 'but can I trust it?' by trying to break it in front of them.
If you are tight on time, cut Trend and Injection — Comparison already shows multi-call chaining, and Entitlement is the stronger security moment. Never cut Entitlement or the Trust Center; those are the two nobody else demos.
Read the trace panel aloud each time: Intent Resolution, Governance Boundary Check, Execution. On Comparison and Hybrid the room can count two Granted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the agent did not retrieve a canned sentence. It called the anomaly function, got rows back, and phrased them. The chart is the same data drawn independently — three biased-cohort customers separate cleanly from about 57 normal ones.
The stat tiles are the 'so what': 82% of this customer's traffic is anomalous at 6x normal latency. That is actionable today.
The italic line is the credibility close. These are not screenshots — the build fails if they drift. Improvise by swapping CUST_404 for CUST_405 and watching it drop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architecture has matured past 'query one table'.
The governance point, said explicitly: none of these tools got a special path. Each is registered on the same allowlist, each produces its OWN governance decision, and each lands its own audit record. In the live trace the room can literally count the Granted entries.
The closing line is the architectural payoff and worth pausing on: the third governed function required no change to the boundary, the dispatcher, or the audit path. If adding a capability were a redesign, this pattern would not survive contact with a real backlog.
If a technical person pushes: yes, a partially-entitled comparison fails closed — the analyst asking about one in-scope and one out-of-scope customer gets nothing, not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Aimed squarely at anyone burned by a RAG pilot. They have all seen a system cheerfully cite an irrelevant document, and it is why many of those pilots never shipped.
Walk the chart left to right. The left panel is the trap: rank purely by similarity — what most implementations do — and the off-topic question WINS. That is measured on this corpus, not hypothetical.
The right panel is the fix: require the question's vocabulary to actually be covered. Off-topic falls below the line and the system declines.
The maturity signal is knowing a retrieval system needs an abstention policy at all. Most teams learn that in production, after a bad answer reaches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CISO slide, and the single most differentiating thing in the demo. Almost nobody's AI demo has a concept of who is asking.
Walk the grid: the SRE sees both customers. The analyst, whose book is CUST_400 to 419, is answered for 404 and refused for 431 — that refusal is row-level security happening at the agent. The auditor is refused both, yet has full access to the Trust Center.
Worth saying: that grid is not artwork. It is generated by calling the real policy engine, so if entitlements changed the slide would change with them.
Do this one live if you do nothing else live — switching the Acting-as dropdown and re-asking the identical question is far more convincing than any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CISO and Compliance slide, and the natural close to the live demo: you have just done eight things, now show that all eight are already on the record.
The framing that matters: a control you cannot evidence is a control you cannot pass an audit with. Most AI governance stories stop at 'we have a policy'. This one produces a queryable record of every decision, who made it, and what it cost.
Call out the refusal count deliberately. A denial is not embarrassing — it is the best evidence the control is live, and auditors read it that way.
For a memorable beat: kill the API in front of them, restart it, reload the tab. Unchanged.
Production note if asked: a Delta table with retention and access policy, or shipped to your SIEM. Same record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technical people. The histogram shows why the anomaly call is trustworthy: normal traffic clusters near 66ms, the 3σ line sits at 310ms, and the anomaly cohort lives in the far right tail. Nobody picked 310 — it is three standard deviations of the actual data.
The three bullets are the engineering credibility: statistical definition, bound parameters, continuous verification.
The closing line usually gets a reaction from anyone who has maintained a demo: the build fails if the headline numbers drift, so the slides cannot quietly go stale.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in tone — you're done with how it works, now what it's worth. Four outcomes, each a number or a single word the audience can repeat later.
Lead with whichever matters to THIS room: CFO hears cost, CISO hears unblocked adoption, a business unit hears days-to-seconds.
The strongest strategic argument is the second tile. Most enterprise GenAI initiatives don't fail on capability, they stall in security review. This architecture is what gets them unstuck, and that is worth more than any single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all five — name the two seats actually in the room and let the rest sit as evidence of breadth.
The meta-point: this is not a security project OR a productivity project OR a cost project. It is one architecture where each stakeholder gets a different win from the same build, which is what makes it fundable — the cost is shared across five value cases.
Use this to hand off: 'Whichever of these is your priority, the pilot looks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objection this kills: 'nice demo, but production is a rewrite.' No — the seams are deliberate and each is a one-line swap with an identical contract.
Three rows worth naming. The vector index: TF-IDF locally, bge-large on Mosaic AI in production, same storage layout and citations. The identity row: the principal directory becomes workspace identities and Unity Catalog row filters — the shape of the decision does not change. The audit log: append-only JSON locally, a Delta table with retention in production.
So the pilot is not 'rebuild for prod', it is 'repoint at the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one sentence: the choice between AI capability and data governance was always a false one, and here is the proof running on a laptop.
Make the ask concrete with the three NEXT options — pick the one matching who you're talking to. Don't leave without agreeing which dataset a pilot would point at.
Invite them to break it: the repo is public, runs in four commands, and the figures on these slides reproduce exactly. An architecture you will hand over and say 'try to get past the boundary' is a very different pitch from a slideware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1"/>
        </a:solidFill>
      </p:bgPr>
    </p:bg>
    <p:spTree>
      <p:nvGrpSpPr>
        <p:cNvPr id="1" name=""/>
        <p:cNvGrpSpPr/>
        <p:nvPr/>
      </p:nvGrpSpPr>
      <p:grpSpPr>
        <a:xfrm>
          <a:off x="0" y="0"/>
          <a:ext cx="0" cy="0"/>
          <a:chOff x="0" y="0"/>
          <a:chExt cx="0" cy="0"/>
        </a:xfrm>
      </p:grpSpPr>
      <p:sp>
        <p:nvSpPr>
          <p:cNvPr id="2" name="Shape 0"/>
          <p:cNvSpPr/>
          <p:nvPr/>
        </p:nvSpPr>
        <p:spPr>
          <a:xfrm>
            <a:off x="9966960" y="777240"/>
            <a:ext cx="1371600" cy="219456"/>
          </a:xfrm>
          <a:prstGeom prst="roundRect">
            <a:avLst>
              <a:gd name="adj" fmla="val 20833"/>
            </a:avLst>
          </a:prstGeom>
          <a:solidFill>
            <a:srgbClr val="FF6C00"/>
          </a:solidFill>
          <a:ln/>
        </p:spPr>
      </p:sp>
      <p:sp>
        <p:nvSpPr>
          <p:cNvPr id="3" name="Shape 1"/>
          <p:cNvSpPr/>
          <p:nvPr/>
        </p:nvSpPr>
        <p:spPr>
          <a:xfrm>
            <a:off x="9966960" y="1088136"/>
            <a:ext cx="1371600" cy="219456"/>
          </a:xfrm>
          <a:prstGeom prst="roundRect">
            <a:avLst>
              <a:gd name="adj" fmla="val 20833"/>
            </a:avLst>
          </a:prstGeom>
          <a:solidFill>
            <a:srgbClr val="FF8A3D"/>
          </a:solidFill>
          <a:ln/>
        </p:spPr>
      </p:sp>
      <p:sp>
        <p:nvSpPr>
          <p:cNvPr id="4" name="Shape 2"/>
          <p:cNvSpPr/>
          <p:nvPr/>
        </p:nvSpPr>
        <p:spPr>
          <a:xfrm>
            <a:off x="9966960" y="1399032"/>
            <a:ext cx="1371600" cy="219456"/>
          </a:xfrm>
          <a:prstGeom prst="roundRect">
            <a:avLst>
              <a:gd name="adj" fmla="val 20833"/>
            </a:avLst>
          </a:prstGeom>
          <a:solidFill>
            <a:srgbClr val="C25200"/>
          </a:solidFill>
          <a:ln/>
        </p:spPr>
      </p:sp>
      <p:sp>
        <p:nvSpPr>
          <p:cNvPr id="5" name="Text 3"/>
          <p:cNvSpPr/>
          <p:nvPr/>
        </p:nvSpPr>
        <p:spPr>
          <a:xfrm>
            <a:off x="640080" y="2148840"/>
            <a:ext cx="10058400" cy="365760"/>
          </a:xfrm>
          <a:prstGeom prst="rect">
            <a:avLst/>
          </a:prstGeom>
          <a:noFill/>
          <a:ln/>
        </p:spPr>
        <p:txBody>
          <a:bodyPr wrap="square" lIns="0" tIns="0" rIns="0" bIns="0" rtlCol="0" anchor="ctr"/>
          <a:lstStyle/>
          <a:p>
            <a:pPr indent="0" marL="0">
              <a:buNone/>
            </a:pPr>
            <a:r>
              <a:rPr lang="en-US" sz="1400" b="1" spc="300" kern="0" dirty="0">
                <a:solidFill>
                  <a:srgbClr val="FF8A3D"/>
                </a:solidFill>
                <a:latin typeface="Calibri" pitchFamily="34" charset="0"/>
                <a:ea typeface="Calibri" pitchFamily="34" charset="-122"/>
                <a:cs typeface="Calibri" pitchFamily="34" charset="-120"/>
              </a:rPr>
              <a:t>SECURE AGENTIC AI  ·  ENTERPRISE LAKEHOUSE</a:t>
            </a:r>
            <a:endParaRPr lang="en-US" sz="1400" dirty="0"/>
          </a:p>
        </p:txBody>
      </p:sp>
      <p:sp>
        <p:nvSpPr>
          <p:cNvPr id="6" name="Text 4"/>
          <p:cNvSpPr/>
          <p:nvPr/>
        </p:nvSpPr>
        <p:spPr>
          <a:xfrm>
            <a:off x="640080" y="2606040"/>
            <a:ext cx="10972800" cy="1188720"/>
          </a:xfrm>
          <a:prstGeom prst="rect">
            <a:avLst/>
          </a:prstGeom>
          <a:noFill/>
          <a:ln/>
        </p:spPr>
        <p:txBody>
          <a:bodyPr wrap="square" lIns="0" tIns="0" rIns="0" bIns="0" rtlCol="0" anchor="ctr"/>
          <a:lstStyle/>
          <a:p>
            <a:pPr indent="0" marL="0">
              <a:buNone/>
            </a:pPr>
            <a:r>
              <a:rPr lang="en-US" sz="6000" b="1" dirty="0">
                <a:solidFill>
                  <a:srgbClr val="E9EEF3"/>
                </a:solidFill>
                <a:latin typeface="Cambria" pitchFamily="34" charset="0"/>
                <a:ea typeface="Cambria" pitchFamily="34" charset="-122"/>
                <a:cs typeface="Cambria" pitchFamily="34" charset="-120"/>
              </a:rPr>
              <a:t>IntelligenceStack</a:t>
            </a:r>
            <a:endParaRPr lang="en-US" sz="6000" dirty="0"/>
          </a:p>
        </p:txBody>
      </p:sp>
      <p:sp>
        <p:nvSpPr>
          <p:cNvPr id="7" name="Text 5"/>
          <p:cNvSpPr/>
          <p:nvPr/>
        </p:nvSpPr>
        <p:spPr>
          <a:xfrm>
            <a:off x="640080" y="3886200"/>
            <a:ext cx="10424160" cy="914400"/>
          </a:xfrm>
          <a:prstGeom prst="rect">
            <a:avLst/>
          </a:prstGeom>
          <a:noFill/>
          <a:ln/>
        </p:spPr>
        <p:txBody>
          <a:bodyPr wrap="square" lIns="0" tIns="0" rIns="0" bIns="0" rtlCol="0" anchor="ctr"/>
          <a:lstStyle/>
          <a:p>
            <a:pPr indent="0" marL="0">
              <a:lnSpc>
                <a:spcPct val="115000"/>
              </a:lnSpc>
              <a:buNone/>
            </a:pPr>
            <a:r>
              <a:rPr lang="en-US" sz="1900" dirty="0">
                <a:solidFill>
                  <a:srgbClr val="93A1AF"/>
                </a:solidFill>
                <a:latin typeface="Calibri" pitchFamily="34" charset="0"/>
                <a:ea typeface="Calibri" pitchFamily="34" charset="-122"/>
                <a:cs typeface="Calibri" pitchFamily="34" charset="-120"/>
              </a:rPr>
              <a:t>Bringing Generative AI securely inside the enterprise data perimeter —</a:t>
            </a:r>
            <a:endParaRPr lang="en-US" sz="1900" dirty="0"/>
          </a:p>
          <a:p>
            <a:pPr indent="0" marL="0">
              <a:lnSpc>
                <a:spcPct val="115000"/>
              </a:lnSpc>
              <a:buNone/>
            </a:pPr>
            <a:r>
              <a:rPr lang="en-US" sz="1900" dirty="0">
                <a:solidFill>
                  <a:srgbClr val="93A1AF"/>
                </a:solidFill>
                <a:latin typeface="Calibri" pitchFamily="34" charset="0"/>
                <a:ea typeface="Calibri" pitchFamily="34" charset="-122"/>
                <a:cs typeface="Calibri" pitchFamily="34" charset="-120"/>
              </a:rPr>
              <a:t>with a governance boundary that is enforced in code, not asserted in a slide.</a:t>
            </a:r>
            <a:endParaRPr lang="en-US" sz="1900" dirty="0"/>
          </a:p>
        </p:txBody>
      </p:sp>
      <p:sp>
        <p:nvSpPr>
          <p:cNvPr id="8" name="Shape 6"/>
          <p:cNvSpPr/>
          <p:nvPr/>
        </p:nvSpPr>
        <p:spPr>
          <a:xfrm>
            <a:off x="640080" y="5212080"/>
            <a:ext cx="10972800" cy="0"/>
          </a:xfrm>
          <a:prstGeom prst="line">
            <a:avLst/>
          </a:prstGeom>
          <a:noFill/>
          <a:ln w="12700">
            <a:solidFill>
              <a:srgbClr val="2A3745"/>
            </a:solidFill>
            <a:prstDash val="solid"/>
          </a:ln>
        </p:spPr>
      </p:sp>
      <p:sp>
        <p:nvSpPr>
          <p:cNvPr id="9" name="Text 7"/>
          <p:cNvSpPr/>
          <p:nvPr/>
        </p:nvSpPr>
        <p:spPr>
          <a:xfrm>
            <a:off x="640080" y="5394960"/>
            <a:ext cx="10972800" cy="365760"/>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Executive Briefing &amp; Live Demo</a:t>
            </a:r>
            <a:pPr indent="0" marL="0">
              <a:buNone/>
            </a:pPr>
            <a:r>
              <a:rPr lang="en-US" sz="1400" dirty="0">
                <a:solidFill>
                  <a:srgbClr val="93A1AF"/>
                </a:solidFill>
                <a:latin typeface="Calibri" pitchFamily="34" charset="0"/>
                <a:ea typeface="Calibri" pitchFamily="34" charset="-122"/>
                <a:cs typeface="Calibri" pitchFamily="34" charset="-120"/>
              </a:rPr>
              <a:t>     Reference architecture on the Databricks Data Intelligence Platform</a:t>
            </a:r>
            <a:endParaRPr lang="en-US" sz="1400" dirty="0"/>
          </a:p>
        </p:txBody>
      </p:sp>
      <p:sp>
        <p:nvSpPr>
          <p:cNvPr id="10" name="Text 8"/>
          <p:cNvSpPr/>
          <p:nvPr/>
        </p:nvSpPr>
        <p:spPr>
          <a:xfrm>
            <a:off x="640080" y="5760720"/>
            <a:ext cx="10972800" cy="320040"/>
          </a:xfrm>
          <a:prstGeom prst="rect">
            <a:avLst/>
          </a:prstGeom>
          <a:noFill/>
          <a:ln/>
        </p:spPr>
        <p:txBody>
          <a:bodyPr wrap="square" lIns="0" tIns="0" rIns="0" bIns="0" rtlCol="0" anchor="ctr"/>
          <a:lstStyle/>
          <a:p>
            <a:pPr indent="0" marL="0">
              <a:buNone/>
            </a:pPr>
            <a:r>
              <a:rPr lang="en-US" sz="1300" dirty="0">
                <a:solidFill>
                  <a:srgbClr val="6C7C8A"/>
                </a:solidFill>
                <a:latin typeface="Calibri" pitchFamily="34" charset="0"/>
                <a:ea typeface="Calibri" pitchFamily="34" charset="-122"/>
                <a:cs typeface="Calibri" pitchFamily="34" charset="-120"/>
              </a:rPr>
              <a:t>github.com/atharvvani464/IntelligenceStack   ·   77 tests, green in CI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21"/>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THE PROBLEM</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The GenAI security paradox</a:t>
            </a:r>
            <a:endParaRPr lang="en-US" sz="3200" dirty="0"/>
          </a:p>
        </p:txBody>
      </p:sp>
      <p:sp>
        <p:nvSpPr>
          <p:cNvPr id="5" name="Text 3"/>
          <p:cNvSpPr/>
          <p:nvPr/>
        </p:nvSpPr>
        <p:spPr>
          <a:xfrm>
            <a:off x="640080" y="1783080"/>
            <a:ext cx="10698480" cy="640080"/>
          </a:xfrm>
          <a:prstGeom prst="rect">
            <a:avLst/>
          </a:prstGeom>
          <a:noFill/>
          <a:ln/>
        </p:spPr>
        <p:txBody>
          <a:bodyPr wrap="square" lIns="0" tIns="0" rIns="0" bIns="0" rtlCol="0" anchor="ctr"/>
          <a:lstStyle/>
          <a:p>
            <a:pPr indent="0" marL="0">
              <a:lnSpc>
                <a:spcPct val="110000"/>
              </a:lnSpc>
              <a:buNone/>
            </a:pPr>
            <a:r>
              <a:rPr lang="en-US" sz="1600" dirty="0">
                <a:solidFill>
                  <a:srgbClr val="93A1AF"/>
                </a:solidFill>
                <a:latin typeface="Calibri" pitchFamily="34" charset="0"/>
                <a:ea typeface="Calibri" pitchFamily="34" charset="-122"/>
                <a:cs typeface="Calibri" pitchFamily="34" charset="-120"/>
              </a:rPr>
              <a:t>High-value AI needs deep access to enterprise data. Granting that access to an external model is exactly what security, compliance, and legal cannot allow.</a:t>
            </a:r>
            <a:endParaRPr lang="en-US" sz="1600" dirty="0"/>
          </a:p>
        </p:txBody>
      </p:sp>
      <p:sp>
        <p:nvSpPr>
          <p:cNvPr id="6" name="Shape 4"/>
          <p:cNvSpPr/>
          <p:nvPr/>
        </p:nvSpPr>
        <p:spPr>
          <a:xfrm>
            <a:off x="640080" y="2743200"/>
            <a:ext cx="3401568" cy="2743200"/>
          </a:xfrm>
          <a:prstGeom prst="roundRect">
            <a:avLst>
              <a:gd name="adj" fmla="val 3000"/>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7" name="Shape 5"/>
          <p:cNvSpPr/>
          <p:nvPr/>
        </p:nvSpPr>
        <p:spPr>
          <a:xfrm>
            <a:off x="932688" y="3054096"/>
            <a:ext cx="457200" cy="457200"/>
          </a:xfrm>
          <a:prstGeom prst="ellipse">
            <a:avLst/>
          </a:prstGeom>
          <a:solidFill>
            <a:srgbClr val="2A1B12"/>
          </a:solidFill>
          <a:ln w="15875">
            <a:solidFill>
              <a:srgbClr val="FF6C00"/>
            </a:solidFill>
            <a:prstDash val="solid"/>
          </a:ln>
        </p:spPr>
      </p:sp>
      <p:sp>
        <p:nvSpPr>
          <p:cNvPr id="8" name="Text 6"/>
          <p:cNvSpPr/>
          <p:nvPr/>
        </p:nvSpPr>
        <p:spPr>
          <a:xfrm>
            <a:off x="932688" y="3054096"/>
            <a:ext cx="457200" cy="457200"/>
          </a:xfrm>
          <a:prstGeom prst="rect">
            <a:avLst/>
          </a:prstGeom>
          <a:noFill/>
          <a:ln/>
        </p:spPr>
        <p:txBody>
          <a:bodyPr wrap="square" lIns="0" tIns="0" rIns="0" bIns="0" rtlCol="0" anchor="ctr"/>
          <a:lstStyle/>
          <a:p>
            <a:pPr algn="ctr" indent="0" marL="0">
              <a:buNone/>
            </a:pPr>
            <a:r>
              <a:rPr lang="en-US" sz="2000" b="1" dirty="0">
                <a:solidFill>
                  <a:srgbClr val="FF8A3D"/>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932688" y="3657600"/>
            <a:ext cx="2816352" cy="457200"/>
          </a:xfrm>
          <a:prstGeom prst="rect">
            <a:avLst/>
          </a:prstGeom>
          <a:noFill/>
          <a:ln/>
        </p:spPr>
        <p:txBody>
          <a:bodyPr wrap="square" lIns="0" tIns="0" rIns="0" bIns="0" rtlCol="0" anchor="ctr"/>
          <a:lstStyle/>
          <a:p>
            <a:pPr indent="0" marL="0">
              <a:buNone/>
            </a:pPr>
            <a:r>
              <a:rPr lang="en-US" sz="1800" b="1" dirty="0">
                <a:solidFill>
                  <a:srgbClr val="E9EEF3"/>
                </a:solidFill>
                <a:latin typeface="Calibri" pitchFamily="34" charset="0"/>
                <a:ea typeface="Calibri" pitchFamily="34" charset="-122"/>
                <a:cs typeface="Calibri" pitchFamily="34" charset="-120"/>
              </a:rPr>
              <a:t>Data exfiltration</a:t>
            </a:r>
            <a:endParaRPr lang="en-US" sz="1800" dirty="0"/>
          </a:p>
        </p:txBody>
      </p:sp>
      <p:sp>
        <p:nvSpPr>
          <p:cNvPr id="10" name="Text 8"/>
          <p:cNvSpPr/>
          <p:nvPr/>
        </p:nvSpPr>
        <p:spPr>
          <a:xfrm>
            <a:off x="932688" y="4114800"/>
            <a:ext cx="2834640" cy="1234440"/>
          </a:xfrm>
          <a:prstGeom prst="rect">
            <a:avLst/>
          </a:prstGeom>
          <a:noFill/>
          <a:ln/>
        </p:spPr>
        <p:txBody>
          <a:bodyPr wrap="square" lIns="0" tIns="0" rIns="0" bIns="0" rtlCol="0" anchor="ctr"/>
          <a:lstStyle/>
          <a:p>
            <a:pPr indent="0" marL="0">
              <a:lnSpc>
                <a:spcPct val="112000"/>
              </a:lnSpc>
              <a:buNone/>
            </a:pPr>
            <a:r>
              <a:rPr lang="en-US" sz="1350" dirty="0">
                <a:solidFill>
                  <a:srgbClr val="93A1AF"/>
                </a:solidFill>
                <a:latin typeface="Calibri" pitchFamily="34" charset="0"/>
                <a:ea typeface="Calibri" pitchFamily="34" charset="-122"/>
                <a:cs typeface="Calibri" pitchFamily="34" charset="-120"/>
              </a:rPr>
              <a:t>Proprietary data crosses the network boundary to a third-party API — and may be cached, logged, or trained on beyond your control.</a:t>
            </a:r>
            <a:endParaRPr lang="en-US" sz="1350" dirty="0"/>
          </a:p>
        </p:txBody>
      </p:sp>
      <p:sp>
        <p:nvSpPr>
          <p:cNvPr id="11" name="Shape 9"/>
          <p:cNvSpPr/>
          <p:nvPr/>
        </p:nvSpPr>
        <p:spPr>
          <a:xfrm>
            <a:off x="4352544" y="2743200"/>
            <a:ext cx="3401568" cy="2743200"/>
          </a:xfrm>
          <a:prstGeom prst="roundRect">
            <a:avLst>
              <a:gd name="adj" fmla="val 3000"/>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2" name="Shape 10"/>
          <p:cNvSpPr/>
          <p:nvPr/>
        </p:nvSpPr>
        <p:spPr>
          <a:xfrm>
            <a:off x="4645152" y="3054096"/>
            <a:ext cx="457200" cy="457200"/>
          </a:xfrm>
          <a:prstGeom prst="ellipse">
            <a:avLst/>
          </a:prstGeom>
          <a:solidFill>
            <a:srgbClr val="2A1B12"/>
          </a:solidFill>
          <a:ln w="15875">
            <a:solidFill>
              <a:srgbClr val="FF6C00"/>
            </a:solidFill>
            <a:prstDash val="solid"/>
          </a:ln>
        </p:spPr>
      </p:sp>
      <p:sp>
        <p:nvSpPr>
          <p:cNvPr id="13" name="Text 11"/>
          <p:cNvSpPr/>
          <p:nvPr/>
        </p:nvSpPr>
        <p:spPr>
          <a:xfrm>
            <a:off x="4645152" y="3054096"/>
            <a:ext cx="457200" cy="457200"/>
          </a:xfrm>
          <a:prstGeom prst="rect">
            <a:avLst/>
          </a:prstGeom>
          <a:noFill/>
          <a:ln/>
        </p:spPr>
        <p:txBody>
          <a:bodyPr wrap="square" lIns="0" tIns="0" rIns="0" bIns="0" rtlCol="0" anchor="ctr"/>
          <a:lstStyle/>
          <a:p>
            <a:pPr algn="ctr" indent="0" marL="0">
              <a:buNone/>
            </a:pPr>
            <a:r>
              <a:rPr lang="en-US" sz="2000" b="1" dirty="0">
                <a:solidFill>
                  <a:srgbClr val="FF8A3D"/>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4645152" y="3657600"/>
            <a:ext cx="2816352" cy="457200"/>
          </a:xfrm>
          <a:prstGeom prst="rect">
            <a:avLst/>
          </a:prstGeom>
          <a:noFill/>
          <a:ln/>
        </p:spPr>
        <p:txBody>
          <a:bodyPr wrap="square" lIns="0" tIns="0" rIns="0" bIns="0" rtlCol="0" anchor="ctr"/>
          <a:lstStyle/>
          <a:p>
            <a:pPr indent="0" marL="0">
              <a:buNone/>
            </a:pPr>
            <a:r>
              <a:rPr lang="en-US" sz="1800" b="1" dirty="0">
                <a:solidFill>
                  <a:srgbClr val="E9EEF3"/>
                </a:solidFill>
                <a:latin typeface="Calibri" pitchFamily="34" charset="0"/>
                <a:ea typeface="Calibri" pitchFamily="34" charset="-122"/>
                <a:cs typeface="Calibri" pitchFamily="34" charset="-120"/>
              </a:rPr>
              <a:t>Prompt injection</a:t>
            </a:r>
            <a:endParaRPr lang="en-US" sz="1800" dirty="0"/>
          </a:p>
        </p:txBody>
      </p:sp>
      <p:sp>
        <p:nvSpPr>
          <p:cNvPr id="15" name="Text 13"/>
          <p:cNvSpPr/>
          <p:nvPr/>
        </p:nvSpPr>
        <p:spPr>
          <a:xfrm>
            <a:off x="4645152" y="4114800"/>
            <a:ext cx="2834640" cy="1234440"/>
          </a:xfrm>
          <a:prstGeom prst="rect">
            <a:avLst/>
          </a:prstGeom>
          <a:noFill/>
          <a:ln/>
        </p:spPr>
        <p:txBody>
          <a:bodyPr wrap="square" lIns="0" tIns="0" rIns="0" bIns="0" rtlCol="0" anchor="ctr"/>
          <a:lstStyle/>
          <a:p>
            <a:pPr indent="0" marL="0">
              <a:lnSpc>
                <a:spcPct val="112000"/>
              </a:lnSpc>
              <a:buNone/>
            </a:pPr>
            <a:r>
              <a:rPr lang="en-US" sz="1350" dirty="0">
                <a:solidFill>
                  <a:srgbClr val="93A1AF"/>
                </a:solidFill>
                <a:latin typeface="Calibri" pitchFamily="34" charset="0"/>
                <a:ea typeface="Calibri" pitchFamily="34" charset="-122"/>
                <a:cs typeface="Calibri" pitchFamily="34" charset="-120"/>
              </a:rPr>
              <a:t>A crafted prompt coaxes the model into destructive SQL — DROP TABLE, bulk export — or into bypassing row- and column-level filters.</a:t>
            </a:r>
            <a:endParaRPr lang="en-US" sz="1350" dirty="0"/>
          </a:p>
        </p:txBody>
      </p:sp>
      <p:sp>
        <p:nvSpPr>
          <p:cNvPr id="16" name="Shape 14"/>
          <p:cNvSpPr/>
          <p:nvPr/>
        </p:nvSpPr>
        <p:spPr>
          <a:xfrm>
            <a:off x="8065008" y="2743200"/>
            <a:ext cx="3401568" cy="2743200"/>
          </a:xfrm>
          <a:prstGeom prst="roundRect">
            <a:avLst>
              <a:gd name="adj" fmla="val 3000"/>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7" name="Shape 15"/>
          <p:cNvSpPr/>
          <p:nvPr/>
        </p:nvSpPr>
        <p:spPr>
          <a:xfrm>
            <a:off x="8357616" y="3054096"/>
            <a:ext cx="457200" cy="457200"/>
          </a:xfrm>
          <a:prstGeom prst="ellipse">
            <a:avLst/>
          </a:prstGeom>
          <a:solidFill>
            <a:srgbClr val="2A1B12"/>
          </a:solidFill>
          <a:ln w="15875">
            <a:solidFill>
              <a:srgbClr val="FF6C00"/>
            </a:solidFill>
            <a:prstDash val="solid"/>
          </a:ln>
        </p:spPr>
      </p:sp>
      <p:sp>
        <p:nvSpPr>
          <p:cNvPr id="18" name="Text 16"/>
          <p:cNvSpPr/>
          <p:nvPr/>
        </p:nvSpPr>
        <p:spPr>
          <a:xfrm>
            <a:off x="8357616" y="3054096"/>
            <a:ext cx="457200" cy="457200"/>
          </a:xfrm>
          <a:prstGeom prst="rect">
            <a:avLst/>
          </a:prstGeom>
          <a:noFill/>
          <a:ln/>
        </p:spPr>
        <p:txBody>
          <a:bodyPr wrap="square" lIns="0" tIns="0" rIns="0" bIns="0" rtlCol="0" anchor="ctr"/>
          <a:lstStyle/>
          <a:p>
            <a:pPr algn="ctr" indent="0" marL="0">
              <a:buNone/>
            </a:pPr>
            <a:r>
              <a:rPr lang="en-US" sz="2000" b="1" dirty="0">
                <a:solidFill>
                  <a:srgbClr val="FF8A3D"/>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8357616" y="3657600"/>
            <a:ext cx="2816352" cy="457200"/>
          </a:xfrm>
          <a:prstGeom prst="rect">
            <a:avLst/>
          </a:prstGeom>
          <a:noFill/>
          <a:ln/>
        </p:spPr>
        <p:txBody>
          <a:bodyPr wrap="square" lIns="0" tIns="0" rIns="0" bIns="0" rtlCol="0" anchor="ctr"/>
          <a:lstStyle/>
          <a:p>
            <a:pPr indent="0" marL="0">
              <a:buNone/>
            </a:pPr>
            <a:r>
              <a:rPr lang="en-US" sz="1800" b="1" dirty="0">
                <a:solidFill>
                  <a:srgbClr val="E9EEF3"/>
                </a:solidFill>
                <a:latin typeface="Calibri" pitchFamily="34" charset="0"/>
                <a:ea typeface="Calibri" pitchFamily="34" charset="-122"/>
                <a:cs typeface="Calibri" pitchFamily="34" charset="-120"/>
              </a:rPr>
              <a:t>Unbounded access</a:t>
            </a:r>
            <a:endParaRPr lang="en-US" sz="1800" dirty="0"/>
          </a:p>
        </p:txBody>
      </p:sp>
      <p:sp>
        <p:nvSpPr>
          <p:cNvPr id="20" name="Text 18"/>
          <p:cNvSpPr/>
          <p:nvPr/>
        </p:nvSpPr>
        <p:spPr>
          <a:xfrm>
            <a:off x="8357616" y="4114800"/>
            <a:ext cx="2834640" cy="1234440"/>
          </a:xfrm>
          <a:prstGeom prst="rect">
            <a:avLst/>
          </a:prstGeom>
          <a:noFill/>
          <a:ln/>
        </p:spPr>
        <p:txBody>
          <a:bodyPr wrap="square" lIns="0" tIns="0" rIns="0" bIns="0" rtlCol="0" anchor="ctr"/>
          <a:lstStyle/>
          <a:p>
            <a:pPr indent="0" marL="0">
              <a:lnSpc>
                <a:spcPct val="112000"/>
              </a:lnSpc>
              <a:buNone/>
            </a:pPr>
            <a:r>
              <a:rPr lang="en-US" sz="1350" dirty="0">
                <a:solidFill>
                  <a:srgbClr val="93A1AF"/>
                </a:solidFill>
                <a:latin typeface="Calibri" pitchFamily="34" charset="0"/>
                <a:ea typeface="Calibri" pitchFamily="34" charset="-122"/>
                <a:cs typeface="Calibri" pitchFamily="34" charset="-120"/>
              </a:rPr>
              <a:t>Every user gets the model's full reach. 'What can the AI actually do, and for whom?' has no answer you can show an auditor.</a:t>
            </a:r>
            <a:endParaRPr lang="en-US" sz="1350" dirty="0"/>
          </a:p>
        </p:txBody>
      </p:sp>
      <p:sp>
        <p:nvSpPr>
          <p:cNvPr id="21" name="Text 19"/>
          <p:cNvSpPr/>
          <p:nvPr/>
        </p:nvSpPr>
        <p:spPr>
          <a:xfrm>
            <a:off x="640080" y="6053328"/>
            <a:ext cx="10881360" cy="274320"/>
          </a:xfrm>
          <a:prstGeom prst="rect">
            <a:avLst/>
          </a:prstGeom>
          <a:noFill/>
          <a:ln/>
        </p:spPr>
        <p:txBody>
          <a:bodyPr wrap="square" lIns="0" tIns="0" rIns="0" bIns="0" rtlCol="0" anchor="ctr"/>
          <a:lstStyle/>
          <a:p>
            <a:pPr indent="0" marL="0">
              <a:buNone/>
            </a:pPr>
            <a:r>
              <a:rPr lang="en-US" sz="1400" i="1" dirty="0">
                <a:solidFill>
                  <a:srgbClr val="FF8A3D"/>
                </a:solidFill>
                <a:latin typeface="Calibri" pitchFamily="34" charset="0"/>
                <a:ea typeface="Calibri" pitchFamily="34" charset="-122"/>
                <a:cs typeface="Calibri" pitchFamily="34" charset="-120"/>
              </a:rPr>
              <a:t>The traditional fix — copy the data out to the AI — is the most insecure option of all.</a:t>
            </a:r>
            <a:endParaRPr lang="en-US" sz="1400" dirty="0"/>
          </a:p>
        </p:txBody>
      </p:sp>
      <p:sp>
        <p:nvSpPr>
          <p:cNvPr id="22" name="Text 20"/>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02</a:t>
            </a:r>
            <a:endParaRPr lang="en-US" sz="1000" dirty="0"/>
          </a:p>
        </p:txBody>
      </p:sp>
      <p:sp>
        <p:nvSpPr>
          <p:cNvPr id="23" name="Text 21"/>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621"/>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THE INSIGHT</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Invert it: bring the AI to the data</a:t>
            </a:r>
            <a:endParaRPr lang="en-US" sz="3200" dirty="0"/>
          </a:p>
        </p:txBody>
      </p:sp>
      <p:sp>
        <p:nvSpPr>
          <p:cNvPr id="5" name="Text 3"/>
          <p:cNvSpPr/>
          <p:nvPr/>
        </p:nvSpPr>
        <p:spPr>
          <a:xfrm>
            <a:off x="640080" y="1783080"/>
            <a:ext cx="10698480" cy="640080"/>
          </a:xfrm>
          <a:prstGeom prst="rect">
            <a:avLst/>
          </a:prstGeom>
          <a:noFill/>
          <a:ln/>
        </p:spPr>
        <p:txBody>
          <a:bodyPr wrap="square" lIns="0" tIns="0" rIns="0" bIns="0" rtlCol="0" anchor="ctr"/>
          <a:lstStyle/>
          <a:p>
            <a:pPr indent="0" marL="0">
              <a:lnSpc>
                <a:spcPct val="110000"/>
              </a:lnSpc>
              <a:buNone/>
            </a:pPr>
            <a:r>
              <a:rPr lang="en-US" sz="1600" dirty="0">
                <a:solidFill>
                  <a:srgbClr val="93A1AF"/>
                </a:solidFill>
                <a:latin typeface="Calibri" pitchFamily="34" charset="0"/>
                <a:ea typeface="Calibri" pitchFamily="34" charset="-122"/>
                <a:cs typeface="Calibri" pitchFamily="34" charset="-120"/>
              </a:rPr>
              <a:t>Same data, same model — the difference is which one crosses the boundary. IntelligenceStack keeps the data still and moves a tightly-bounded agent inside the perimeter.</a:t>
            </a:r>
            <a:endParaRPr lang="en-US" sz="1600" dirty="0"/>
          </a:p>
        </p:txBody>
      </p:sp>
      <p:sp>
        <p:nvSpPr>
          <p:cNvPr id="6" name="Shape 4"/>
          <p:cNvSpPr/>
          <p:nvPr/>
        </p:nvSpPr>
        <p:spPr>
          <a:xfrm>
            <a:off x="640080" y="2743200"/>
            <a:ext cx="5257800" cy="2880360"/>
          </a:xfrm>
          <a:prstGeom prst="roundRect">
            <a:avLst>
              <a:gd name="adj" fmla="val 2857"/>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7" name="Text 5"/>
          <p:cNvSpPr/>
          <p:nvPr/>
        </p:nvSpPr>
        <p:spPr>
          <a:xfrm>
            <a:off x="1005840" y="3017520"/>
            <a:ext cx="4526280" cy="320040"/>
          </a:xfrm>
          <a:prstGeom prst="rect">
            <a:avLst/>
          </a:prstGeom>
          <a:noFill/>
          <a:ln/>
        </p:spPr>
        <p:txBody>
          <a:bodyPr wrap="square" lIns="0" tIns="0" rIns="0" bIns="0" rtlCol="0" anchor="ctr"/>
          <a:lstStyle/>
          <a:p>
            <a:pPr indent="0" marL="0">
              <a:buNone/>
            </a:pPr>
            <a:r>
              <a:rPr lang="en-US" sz="1200" b="1" spc="200" kern="0" dirty="0">
                <a:solidFill>
                  <a:srgbClr val="F85149"/>
                </a:solidFill>
                <a:latin typeface="Calibri" pitchFamily="34" charset="0"/>
                <a:ea typeface="Calibri" pitchFamily="34" charset="-122"/>
                <a:cs typeface="Calibri" pitchFamily="34" charset="-120"/>
              </a:rPr>
              <a:t>CONVENTIONAL</a:t>
            </a:r>
            <a:endParaRPr lang="en-US" sz="1200" dirty="0"/>
          </a:p>
        </p:txBody>
      </p:sp>
      <p:sp>
        <p:nvSpPr>
          <p:cNvPr id="8" name="Text 6"/>
          <p:cNvSpPr/>
          <p:nvPr/>
        </p:nvSpPr>
        <p:spPr>
          <a:xfrm>
            <a:off x="1005840" y="3310128"/>
            <a:ext cx="4526280" cy="457200"/>
          </a:xfrm>
          <a:prstGeom prst="rect">
            <a:avLst/>
          </a:prstGeom>
          <a:noFill/>
          <a:ln/>
        </p:spPr>
        <p:txBody>
          <a:bodyPr wrap="square" lIns="0" tIns="0" rIns="0" bIns="0" rtlCol="0" anchor="ctr"/>
          <a:lstStyle/>
          <a:p>
            <a:pPr indent="0" marL="0">
              <a:buNone/>
            </a:pPr>
            <a:r>
              <a:rPr lang="en-US" sz="1900" b="1" dirty="0">
                <a:solidFill>
                  <a:srgbClr val="E9EEF3"/>
                </a:solidFill>
                <a:latin typeface="Calibri" pitchFamily="34" charset="0"/>
                <a:ea typeface="Calibri" pitchFamily="34" charset="-122"/>
                <a:cs typeface="Calibri" pitchFamily="34" charset="-120"/>
              </a:rPr>
              <a:t>Move the data to the AI</a:t>
            </a:r>
            <a:endParaRPr lang="en-US" sz="1900" dirty="0"/>
          </a:p>
        </p:txBody>
      </p:sp>
      <p:sp>
        <p:nvSpPr>
          <p:cNvPr id="9" name="Shape 7"/>
          <p:cNvSpPr/>
          <p:nvPr/>
        </p:nvSpPr>
        <p:spPr>
          <a:xfrm>
            <a:off x="1051560" y="3840480"/>
            <a:ext cx="118872" cy="118872"/>
          </a:xfrm>
          <a:prstGeom prst="ellipse">
            <a:avLst/>
          </a:prstGeom>
          <a:solidFill>
            <a:srgbClr val="F85149"/>
          </a:solidFill>
          <a:ln/>
        </p:spPr>
      </p:sp>
      <p:sp>
        <p:nvSpPr>
          <p:cNvPr id="10" name="Text 8"/>
          <p:cNvSpPr/>
          <p:nvPr/>
        </p:nvSpPr>
        <p:spPr>
          <a:xfrm>
            <a:off x="1298448" y="3739896"/>
            <a:ext cx="4251960" cy="329184"/>
          </a:xfrm>
          <a:prstGeom prst="rect">
            <a:avLst/>
          </a:prstGeom>
          <a:noFill/>
          <a:ln/>
        </p:spPr>
        <p:txBody>
          <a:bodyPr wrap="square" lIns="0" tIns="0" rIns="0" bIns="0" rtlCol="0" anchor="ctr"/>
          <a:lstStyle/>
          <a:p>
            <a:pPr indent="0" marL="0">
              <a:buNone/>
            </a:pPr>
            <a:r>
              <a:rPr lang="en-US" sz="1350" dirty="0">
                <a:solidFill>
                  <a:srgbClr val="93A1AF"/>
                </a:solidFill>
                <a:latin typeface="Calibri" pitchFamily="34" charset="0"/>
                <a:ea typeface="Calibri" pitchFamily="34" charset="-122"/>
                <a:cs typeface="Calibri" pitchFamily="34" charset="-120"/>
              </a:rPr>
              <a:t>Proprietary rows leave the perimeter</a:t>
            </a:r>
            <a:endParaRPr lang="en-US" sz="1350" dirty="0"/>
          </a:p>
        </p:txBody>
      </p:sp>
      <p:sp>
        <p:nvSpPr>
          <p:cNvPr id="11" name="Shape 9"/>
          <p:cNvSpPr/>
          <p:nvPr/>
        </p:nvSpPr>
        <p:spPr>
          <a:xfrm>
            <a:off x="1051560" y="4187952"/>
            <a:ext cx="118872" cy="118872"/>
          </a:xfrm>
          <a:prstGeom prst="ellipse">
            <a:avLst/>
          </a:prstGeom>
          <a:solidFill>
            <a:srgbClr val="F85149"/>
          </a:solidFill>
          <a:ln/>
        </p:spPr>
      </p:sp>
      <p:sp>
        <p:nvSpPr>
          <p:cNvPr id="12" name="Text 10"/>
          <p:cNvSpPr/>
          <p:nvPr/>
        </p:nvSpPr>
        <p:spPr>
          <a:xfrm>
            <a:off x="1298448" y="4087368"/>
            <a:ext cx="4251960" cy="329184"/>
          </a:xfrm>
          <a:prstGeom prst="rect">
            <a:avLst/>
          </a:prstGeom>
          <a:noFill/>
          <a:ln/>
        </p:spPr>
        <p:txBody>
          <a:bodyPr wrap="square" lIns="0" tIns="0" rIns="0" bIns="0" rtlCol="0" anchor="ctr"/>
          <a:lstStyle/>
          <a:p>
            <a:pPr indent="0" marL="0">
              <a:buNone/>
            </a:pPr>
            <a:r>
              <a:rPr lang="en-US" sz="1350" dirty="0">
                <a:solidFill>
                  <a:srgbClr val="93A1AF"/>
                </a:solidFill>
                <a:latin typeface="Calibri" pitchFamily="34" charset="0"/>
                <a:ea typeface="Calibri" pitchFamily="34" charset="-122"/>
                <a:cs typeface="Calibri" pitchFamily="34" charset="-120"/>
              </a:rPr>
              <a:t>The model is an unbounded database client</a:t>
            </a:r>
            <a:endParaRPr lang="en-US" sz="1350" dirty="0"/>
          </a:p>
        </p:txBody>
      </p:sp>
      <p:sp>
        <p:nvSpPr>
          <p:cNvPr id="13" name="Shape 11"/>
          <p:cNvSpPr/>
          <p:nvPr/>
        </p:nvSpPr>
        <p:spPr>
          <a:xfrm>
            <a:off x="1051560" y="4535424"/>
            <a:ext cx="118872" cy="118872"/>
          </a:xfrm>
          <a:prstGeom prst="ellipse">
            <a:avLst/>
          </a:prstGeom>
          <a:solidFill>
            <a:srgbClr val="F85149"/>
          </a:solidFill>
          <a:ln/>
        </p:spPr>
      </p:sp>
      <p:sp>
        <p:nvSpPr>
          <p:cNvPr id="14" name="Text 12"/>
          <p:cNvSpPr/>
          <p:nvPr/>
        </p:nvSpPr>
        <p:spPr>
          <a:xfrm>
            <a:off x="1298448" y="4434840"/>
            <a:ext cx="4251960" cy="329184"/>
          </a:xfrm>
          <a:prstGeom prst="rect">
            <a:avLst/>
          </a:prstGeom>
          <a:noFill/>
          <a:ln/>
        </p:spPr>
        <p:txBody>
          <a:bodyPr wrap="square" lIns="0" tIns="0" rIns="0" bIns="0" rtlCol="0" anchor="ctr"/>
          <a:lstStyle/>
          <a:p>
            <a:pPr indent="0" marL="0">
              <a:buNone/>
            </a:pPr>
            <a:r>
              <a:rPr lang="en-US" sz="1350" dirty="0">
                <a:solidFill>
                  <a:srgbClr val="93A1AF"/>
                </a:solidFill>
                <a:latin typeface="Calibri" pitchFamily="34" charset="0"/>
                <a:ea typeface="Calibri" pitchFamily="34" charset="-122"/>
                <a:cs typeface="Calibri" pitchFamily="34" charset="-120"/>
              </a:rPr>
              <a:t>Injection can reach real tables</a:t>
            </a:r>
            <a:endParaRPr lang="en-US" sz="1350" dirty="0"/>
          </a:p>
        </p:txBody>
      </p:sp>
      <p:sp>
        <p:nvSpPr>
          <p:cNvPr id="15" name="Shape 13"/>
          <p:cNvSpPr/>
          <p:nvPr/>
        </p:nvSpPr>
        <p:spPr>
          <a:xfrm>
            <a:off x="1051560" y="4882896"/>
            <a:ext cx="118872" cy="118872"/>
          </a:xfrm>
          <a:prstGeom prst="ellipse">
            <a:avLst/>
          </a:prstGeom>
          <a:solidFill>
            <a:srgbClr val="F85149"/>
          </a:solidFill>
          <a:ln/>
        </p:spPr>
      </p:sp>
      <p:sp>
        <p:nvSpPr>
          <p:cNvPr id="16" name="Text 14"/>
          <p:cNvSpPr/>
          <p:nvPr/>
        </p:nvSpPr>
        <p:spPr>
          <a:xfrm>
            <a:off x="1298448" y="4782312"/>
            <a:ext cx="4251960" cy="329184"/>
          </a:xfrm>
          <a:prstGeom prst="rect">
            <a:avLst/>
          </a:prstGeom>
          <a:noFill/>
          <a:ln/>
        </p:spPr>
        <p:txBody>
          <a:bodyPr wrap="square" lIns="0" tIns="0" rIns="0" bIns="0" rtlCol="0" anchor="ctr"/>
          <a:lstStyle/>
          <a:p>
            <a:pPr indent="0" marL="0">
              <a:buNone/>
            </a:pPr>
            <a:r>
              <a:rPr lang="en-US" sz="1350" dirty="0">
                <a:solidFill>
                  <a:srgbClr val="93A1AF"/>
                </a:solidFill>
                <a:latin typeface="Calibri" pitchFamily="34" charset="0"/>
                <a:ea typeface="Calibri" pitchFamily="34" charset="-122"/>
                <a:cs typeface="Calibri" pitchFamily="34" charset="-120"/>
              </a:rPr>
              <a:t>Every user has the same reach</a:t>
            </a:r>
            <a:endParaRPr lang="en-US" sz="1350" dirty="0"/>
          </a:p>
        </p:txBody>
      </p:sp>
      <p:sp>
        <p:nvSpPr>
          <p:cNvPr id="17" name="Shape 15"/>
          <p:cNvSpPr/>
          <p:nvPr/>
        </p:nvSpPr>
        <p:spPr>
          <a:xfrm>
            <a:off x="1051560" y="5230368"/>
            <a:ext cx="118872" cy="118872"/>
          </a:xfrm>
          <a:prstGeom prst="ellipse">
            <a:avLst/>
          </a:prstGeom>
          <a:solidFill>
            <a:srgbClr val="F85149"/>
          </a:solidFill>
          <a:ln/>
        </p:spPr>
      </p:sp>
      <p:sp>
        <p:nvSpPr>
          <p:cNvPr id="18" name="Text 16"/>
          <p:cNvSpPr/>
          <p:nvPr/>
        </p:nvSpPr>
        <p:spPr>
          <a:xfrm>
            <a:off x="1298448" y="5129784"/>
            <a:ext cx="4251960" cy="329184"/>
          </a:xfrm>
          <a:prstGeom prst="rect">
            <a:avLst/>
          </a:prstGeom>
          <a:noFill/>
          <a:ln/>
        </p:spPr>
        <p:txBody>
          <a:bodyPr wrap="square" lIns="0" tIns="0" rIns="0" bIns="0" rtlCol="0" anchor="ctr"/>
          <a:lstStyle/>
          <a:p>
            <a:pPr indent="0" marL="0">
              <a:buNone/>
            </a:pPr>
            <a:r>
              <a:rPr lang="en-US" sz="1350" dirty="0">
                <a:solidFill>
                  <a:srgbClr val="93A1AF"/>
                </a:solidFill>
                <a:latin typeface="Calibri" pitchFamily="34" charset="0"/>
                <a:ea typeface="Calibri" pitchFamily="34" charset="-122"/>
                <a:cs typeface="Calibri" pitchFamily="34" charset="-120"/>
              </a:rPr>
              <a:t>Compliance answer: trust us</a:t>
            </a:r>
            <a:endParaRPr lang="en-US" sz="1350" dirty="0"/>
          </a:p>
        </p:txBody>
      </p:sp>
      <p:sp>
        <p:nvSpPr>
          <p:cNvPr id="19" name="Shape 17"/>
          <p:cNvSpPr/>
          <p:nvPr/>
        </p:nvSpPr>
        <p:spPr>
          <a:xfrm>
            <a:off x="6062472" y="3927348"/>
            <a:ext cx="685800" cy="512064"/>
          </a:xfrm>
          <a:prstGeom prst="rightArrow">
            <a:avLst/>
          </a:prstGeom>
          <a:solidFill>
            <a:srgbClr val="FF6C00"/>
          </a:solidFill>
          <a:ln/>
        </p:spPr>
      </p:sp>
      <p:sp>
        <p:nvSpPr>
          <p:cNvPr id="20" name="Shape 18"/>
          <p:cNvSpPr/>
          <p:nvPr/>
        </p:nvSpPr>
        <p:spPr>
          <a:xfrm>
            <a:off x="6903720" y="2743200"/>
            <a:ext cx="5257800" cy="2880360"/>
          </a:xfrm>
          <a:prstGeom prst="roundRect">
            <a:avLst>
              <a:gd name="adj" fmla="val 2857"/>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1" name="Text 19"/>
          <p:cNvSpPr/>
          <p:nvPr/>
        </p:nvSpPr>
        <p:spPr>
          <a:xfrm>
            <a:off x="7269480" y="3017520"/>
            <a:ext cx="4526280" cy="320040"/>
          </a:xfrm>
          <a:prstGeom prst="rect">
            <a:avLst/>
          </a:prstGeom>
          <a:noFill/>
          <a:ln/>
        </p:spPr>
        <p:txBody>
          <a:bodyPr wrap="square" lIns="0" tIns="0" rIns="0" bIns="0" rtlCol="0" anchor="ctr"/>
          <a:lstStyle/>
          <a:p>
            <a:pPr indent="0" marL="0">
              <a:buNone/>
            </a:pPr>
            <a:r>
              <a:rPr lang="en-US" sz="1200" b="1" spc="200" kern="0" dirty="0">
                <a:solidFill>
                  <a:srgbClr val="3FB950"/>
                </a:solidFill>
                <a:latin typeface="Calibri" pitchFamily="34" charset="0"/>
                <a:ea typeface="Calibri" pitchFamily="34" charset="-122"/>
                <a:cs typeface="Calibri" pitchFamily="34" charset="-120"/>
              </a:rPr>
              <a:t>INTELLIGENCESTACK</a:t>
            </a:r>
            <a:endParaRPr lang="en-US" sz="1200" dirty="0"/>
          </a:p>
        </p:txBody>
      </p:sp>
      <p:sp>
        <p:nvSpPr>
          <p:cNvPr id="22" name="Text 20"/>
          <p:cNvSpPr/>
          <p:nvPr/>
        </p:nvSpPr>
        <p:spPr>
          <a:xfrm>
            <a:off x="7269480" y="3310128"/>
            <a:ext cx="4526280" cy="457200"/>
          </a:xfrm>
          <a:prstGeom prst="rect">
            <a:avLst/>
          </a:prstGeom>
          <a:noFill/>
          <a:ln/>
        </p:spPr>
        <p:txBody>
          <a:bodyPr wrap="square" lIns="0" tIns="0" rIns="0" bIns="0" rtlCol="0" anchor="ctr"/>
          <a:lstStyle/>
          <a:p>
            <a:pPr indent="0" marL="0">
              <a:buNone/>
            </a:pPr>
            <a:r>
              <a:rPr lang="en-US" sz="1900" b="1" dirty="0">
                <a:solidFill>
                  <a:srgbClr val="E9EEF3"/>
                </a:solidFill>
                <a:latin typeface="Calibri" pitchFamily="34" charset="0"/>
                <a:ea typeface="Calibri" pitchFamily="34" charset="-122"/>
                <a:cs typeface="Calibri" pitchFamily="34" charset="-120"/>
              </a:rPr>
              <a:t>Bring the AI to the data</a:t>
            </a:r>
            <a:endParaRPr lang="en-US" sz="1900" dirty="0"/>
          </a:p>
        </p:txBody>
      </p:sp>
      <p:sp>
        <p:nvSpPr>
          <p:cNvPr id="23" name="Shape 21"/>
          <p:cNvSpPr/>
          <p:nvPr/>
        </p:nvSpPr>
        <p:spPr>
          <a:xfrm>
            <a:off x="7315200" y="3840480"/>
            <a:ext cx="118872" cy="118872"/>
          </a:xfrm>
          <a:prstGeom prst="ellipse">
            <a:avLst/>
          </a:prstGeom>
          <a:solidFill>
            <a:srgbClr val="3FB950"/>
          </a:solidFill>
          <a:ln/>
        </p:spPr>
      </p:sp>
      <p:sp>
        <p:nvSpPr>
          <p:cNvPr id="24" name="Text 22"/>
          <p:cNvSpPr/>
          <p:nvPr/>
        </p:nvSpPr>
        <p:spPr>
          <a:xfrm>
            <a:off x="7562088" y="3739896"/>
            <a:ext cx="4251960" cy="329184"/>
          </a:xfrm>
          <a:prstGeom prst="rect">
            <a:avLst/>
          </a:prstGeom>
          <a:noFill/>
          <a:ln/>
        </p:spPr>
        <p:txBody>
          <a:bodyPr wrap="square" lIns="0" tIns="0" rIns="0" bIns="0" rtlCol="0" anchor="ctr"/>
          <a:lstStyle/>
          <a:p>
            <a:pPr indent="0" marL="0">
              <a:buNone/>
            </a:pPr>
            <a:r>
              <a:rPr lang="en-US" sz="1350" dirty="0">
                <a:solidFill>
                  <a:srgbClr val="E9EEF3"/>
                </a:solidFill>
                <a:latin typeface="Calibri" pitchFamily="34" charset="0"/>
                <a:ea typeface="Calibri" pitchFamily="34" charset="-122"/>
                <a:cs typeface="Calibri" pitchFamily="34" charset="-120"/>
              </a:rPr>
              <a:t>Data never leaves the lakehouse</a:t>
            </a:r>
            <a:endParaRPr lang="en-US" sz="1350" dirty="0"/>
          </a:p>
        </p:txBody>
      </p:sp>
      <p:sp>
        <p:nvSpPr>
          <p:cNvPr id="25" name="Shape 23"/>
          <p:cNvSpPr/>
          <p:nvPr/>
        </p:nvSpPr>
        <p:spPr>
          <a:xfrm>
            <a:off x="7315200" y="4187952"/>
            <a:ext cx="118872" cy="118872"/>
          </a:xfrm>
          <a:prstGeom prst="ellipse">
            <a:avLst/>
          </a:prstGeom>
          <a:solidFill>
            <a:srgbClr val="3FB950"/>
          </a:solidFill>
          <a:ln/>
        </p:spPr>
      </p:sp>
      <p:sp>
        <p:nvSpPr>
          <p:cNvPr id="26" name="Text 24"/>
          <p:cNvSpPr/>
          <p:nvPr/>
        </p:nvSpPr>
        <p:spPr>
          <a:xfrm>
            <a:off x="7562088" y="4087368"/>
            <a:ext cx="4251960" cy="329184"/>
          </a:xfrm>
          <a:prstGeom prst="rect">
            <a:avLst/>
          </a:prstGeom>
          <a:noFill/>
          <a:ln/>
        </p:spPr>
        <p:txBody>
          <a:bodyPr wrap="square" lIns="0" tIns="0" rIns="0" bIns="0" rtlCol="0" anchor="ctr"/>
          <a:lstStyle/>
          <a:p>
            <a:pPr indent="0" marL="0">
              <a:buNone/>
            </a:pPr>
            <a:r>
              <a:rPr lang="en-US" sz="1350" dirty="0">
                <a:solidFill>
                  <a:srgbClr val="E9EEF3"/>
                </a:solidFill>
                <a:latin typeface="Calibri" pitchFamily="34" charset="0"/>
                <a:ea typeface="Calibri" pitchFamily="34" charset="-122"/>
                <a:cs typeface="Calibri" pitchFamily="34" charset="-120"/>
              </a:rPr>
              <a:t>The model is an orchestrator, not a client</a:t>
            </a:r>
            <a:endParaRPr lang="en-US" sz="1350" dirty="0"/>
          </a:p>
        </p:txBody>
      </p:sp>
      <p:sp>
        <p:nvSpPr>
          <p:cNvPr id="27" name="Shape 25"/>
          <p:cNvSpPr/>
          <p:nvPr/>
        </p:nvSpPr>
        <p:spPr>
          <a:xfrm>
            <a:off x="7315200" y="4535424"/>
            <a:ext cx="118872" cy="118872"/>
          </a:xfrm>
          <a:prstGeom prst="ellipse">
            <a:avLst/>
          </a:prstGeom>
          <a:solidFill>
            <a:srgbClr val="3FB950"/>
          </a:solidFill>
          <a:ln/>
        </p:spPr>
      </p:sp>
      <p:sp>
        <p:nvSpPr>
          <p:cNvPr id="28" name="Text 26"/>
          <p:cNvSpPr/>
          <p:nvPr/>
        </p:nvSpPr>
        <p:spPr>
          <a:xfrm>
            <a:off x="7562088" y="4434840"/>
            <a:ext cx="4251960" cy="329184"/>
          </a:xfrm>
          <a:prstGeom prst="rect">
            <a:avLst/>
          </a:prstGeom>
          <a:noFill/>
          <a:ln/>
        </p:spPr>
        <p:txBody>
          <a:bodyPr wrap="square" lIns="0" tIns="0" rIns="0" bIns="0" rtlCol="0" anchor="ctr"/>
          <a:lstStyle/>
          <a:p>
            <a:pPr indent="0" marL="0">
              <a:buNone/>
            </a:pPr>
            <a:r>
              <a:rPr lang="en-US" sz="1350" dirty="0">
                <a:solidFill>
                  <a:srgbClr val="E9EEF3"/>
                </a:solidFill>
                <a:latin typeface="Calibri" pitchFamily="34" charset="0"/>
                <a:ea typeface="Calibri" pitchFamily="34" charset="-122"/>
                <a:cs typeface="Calibri" pitchFamily="34" charset="-120"/>
              </a:rPr>
              <a:t>Only pre-approved functions can run</a:t>
            </a:r>
            <a:endParaRPr lang="en-US" sz="1350" dirty="0"/>
          </a:p>
        </p:txBody>
      </p:sp>
      <p:sp>
        <p:nvSpPr>
          <p:cNvPr id="29" name="Shape 27"/>
          <p:cNvSpPr/>
          <p:nvPr/>
        </p:nvSpPr>
        <p:spPr>
          <a:xfrm>
            <a:off x="7315200" y="4882896"/>
            <a:ext cx="118872" cy="118872"/>
          </a:xfrm>
          <a:prstGeom prst="ellipse">
            <a:avLst/>
          </a:prstGeom>
          <a:solidFill>
            <a:srgbClr val="3FB950"/>
          </a:solidFill>
          <a:ln/>
        </p:spPr>
      </p:sp>
      <p:sp>
        <p:nvSpPr>
          <p:cNvPr id="30" name="Text 28"/>
          <p:cNvSpPr/>
          <p:nvPr/>
        </p:nvSpPr>
        <p:spPr>
          <a:xfrm>
            <a:off x="7562088" y="4782312"/>
            <a:ext cx="4251960" cy="329184"/>
          </a:xfrm>
          <a:prstGeom prst="rect">
            <a:avLst/>
          </a:prstGeom>
          <a:noFill/>
          <a:ln/>
        </p:spPr>
        <p:txBody>
          <a:bodyPr wrap="square" lIns="0" tIns="0" rIns="0" bIns="0" rtlCol="0" anchor="ctr"/>
          <a:lstStyle/>
          <a:p>
            <a:pPr indent="0" marL="0">
              <a:buNone/>
            </a:pPr>
            <a:r>
              <a:rPr lang="en-US" sz="1350" dirty="0">
                <a:solidFill>
                  <a:srgbClr val="E9EEF3"/>
                </a:solidFill>
                <a:latin typeface="Calibri" pitchFamily="34" charset="0"/>
                <a:ea typeface="Calibri" pitchFamily="34" charset="-122"/>
                <a:cs typeface="Calibri" pitchFamily="34" charset="-120"/>
              </a:rPr>
              <a:t>Each caller has their own entitlements</a:t>
            </a:r>
            <a:endParaRPr lang="en-US" sz="1350" dirty="0"/>
          </a:p>
        </p:txBody>
      </p:sp>
      <p:sp>
        <p:nvSpPr>
          <p:cNvPr id="31" name="Shape 29"/>
          <p:cNvSpPr/>
          <p:nvPr/>
        </p:nvSpPr>
        <p:spPr>
          <a:xfrm>
            <a:off x="7315200" y="5230368"/>
            <a:ext cx="118872" cy="118872"/>
          </a:xfrm>
          <a:prstGeom prst="ellipse">
            <a:avLst/>
          </a:prstGeom>
          <a:solidFill>
            <a:srgbClr val="3FB950"/>
          </a:solidFill>
          <a:ln/>
        </p:spPr>
      </p:sp>
      <p:sp>
        <p:nvSpPr>
          <p:cNvPr id="32" name="Text 30"/>
          <p:cNvSpPr/>
          <p:nvPr/>
        </p:nvSpPr>
        <p:spPr>
          <a:xfrm>
            <a:off x="7562088" y="5129784"/>
            <a:ext cx="4251960" cy="329184"/>
          </a:xfrm>
          <a:prstGeom prst="rect">
            <a:avLst/>
          </a:prstGeom>
          <a:noFill/>
          <a:ln/>
        </p:spPr>
        <p:txBody>
          <a:bodyPr wrap="square" lIns="0" tIns="0" rIns="0" bIns="0" rtlCol="0" anchor="ctr"/>
          <a:lstStyle/>
          <a:p>
            <a:pPr indent="0" marL="0">
              <a:buNone/>
            </a:pPr>
            <a:r>
              <a:rPr lang="en-US" sz="1350" dirty="0">
                <a:solidFill>
                  <a:srgbClr val="E9EEF3"/>
                </a:solidFill>
                <a:latin typeface="Calibri" pitchFamily="34" charset="0"/>
                <a:ea typeface="Calibri" pitchFamily="34" charset="-122"/>
                <a:cs typeface="Calibri" pitchFamily="34" charset="-120"/>
              </a:rPr>
              <a:t>Compliance answer: here is the evidence</a:t>
            </a:r>
            <a:endParaRPr lang="en-US" sz="1350" dirty="0"/>
          </a:p>
        </p:txBody>
      </p:sp>
      <p:sp>
        <p:nvSpPr>
          <p:cNvPr id="33" name="Text 31"/>
          <p:cNvSpPr/>
          <p:nvPr/>
        </p:nvSpPr>
        <p:spPr>
          <a:xfrm>
            <a:off x="640080" y="6053328"/>
            <a:ext cx="10881360" cy="274320"/>
          </a:xfrm>
          <a:prstGeom prst="rect">
            <a:avLst/>
          </a:prstGeom>
          <a:noFill/>
          <a:ln/>
        </p:spPr>
        <p:txBody>
          <a:bodyPr wrap="square" lIns="0" tIns="0" rIns="0" bIns="0" rtlCol="0" anchor="ctr"/>
          <a:lstStyle/>
          <a:p>
            <a:pPr indent="0" marL="0">
              <a:buNone/>
            </a:pPr>
            <a:r>
              <a:rPr lang="en-US" sz="1400" i="1" dirty="0">
                <a:solidFill>
                  <a:srgbClr val="FF8A3D"/>
                </a:solidFill>
                <a:latin typeface="Calibri" pitchFamily="34" charset="0"/>
                <a:ea typeface="Calibri" pitchFamily="34" charset="-122"/>
                <a:cs typeface="Calibri" pitchFamily="34" charset="-120"/>
              </a:rPr>
              <a:t>The LLM operates strictly as an orchestrator — it chooses which approved function to call, and is mechanically incapable of anything else.</a:t>
            </a:r>
            <a:endParaRPr lang="en-US" sz="1400" dirty="0"/>
          </a:p>
        </p:txBody>
      </p:sp>
      <p:sp>
        <p:nvSpPr>
          <p:cNvPr id="34" name="Text 3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03</a:t>
            </a:r>
            <a:endParaRPr lang="en-US" sz="1000" dirty="0"/>
          </a:p>
        </p:txBody>
      </p:sp>
      <p:sp>
        <p:nvSpPr>
          <p:cNvPr id="35" name="Text 33"/>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621"/>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ARCHITECTURE</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How the platform fits together</a:t>
            </a:r>
            <a:endParaRPr lang="en-US" sz="3200" dirty="0"/>
          </a:p>
        </p:txBody>
      </p:sp>
      <p:pic>
        <p:nvPicPr>
          <p:cNvPr id="5" name="Image 0" descr="/Users/atharvvani/Downloads/DataBricks/architecture_diagram.png">    </p:cNvPr>
          <p:cNvPicPr>
            <a:picLocks noChangeAspect="1"/>
          </p:cNvPicPr>
          <p:nvPr/>
        </p:nvPicPr>
        <p:blipFill>
          <a:blip r:embed="rId1"/>
          <a:stretch>
            <a:fillRect/>
          </a:stretch>
        </p:blipFill>
        <p:spPr>
          <a:xfrm>
            <a:off x="640080" y="1783080"/>
            <a:ext cx="4480560" cy="4480560"/>
          </a:xfrm>
          <a:prstGeom prst="rect">
            <a:avLst/>
          </a:prstGeom>
        </p:spPr>
      </p:pic>
      <p:sp>
        <p:nvSpPr>
          <p:cNvPr id="6" name="Shape 3"/>
          <p:cNvSpPr/>
          <p:nvPr/>
        </p:nvSpPr>
        <p:spPr>
          <a:xfrm>
            <a:off x="5760720" y="1801368"/>
            <a:ext cx="310896" cy="310896"/>
          </a:xfrm>
          <a:prstGeom prst="ellipse">
            <a:avLst/>
          </a:prstGeom>
          <a:solidFill>
            <a:srgbClr val="2A1B12"/>
          </a:solidFill>
          <a:ln w="13970">
            <a:solidFill>
              <a:srgbClr val="FF6C00"/>
            </a:solidFill>
            <a:prstDash val="solid"/>
          </a:ln>
        </p:spPr>
      </p:sp>
      <p:sp>
        <p:nvSpPr>
          <p:cNvPr id="7" name="Text 4"/>
          <p:cNvSpPr/>
          <p:nvPr/>
        </p:nvSpPr>
        <p:spPr>
          <a:xfrm>
            <a:off x="5760720" y="1801368"/>
            <a:ext cx="310896" cy="310896"/>
          </a:xfrm>
          <a:prstGeom prst="rect">
            <a:avLst/>
          </a:prstGeom>
          <a:noFill/>
          <a:ln/>
        </p:spPr>
        <p:txBody>
          <a:bodyPr wrap="square" lIns="0" tIns="0" rIns="0" bIns="0" rtlCol="0" anchor="ctr"/>
          <a:lstStyle/>
          <a:p>
            <a:pPr algn="ctr" indent="0" marL="0">
              <a:buNone/>
            </a:pPr>
            <a:r>
              <a:rPr lang="en-US" sz="1300" b="1" dirty="0">
                <a:solidFill>
                  <a:srgbClr val="FF8A3D"/>
                </a:solidFill>
                <a:latin typeface="Cambria" pitchFamily="34" charset="0"/>
                <a:ea typeface="Cambria" pitchFamily="34" charset="-122"/>
                <a:cs typeface="Cambria" pitchFamily="34" charset="-120"/>
              </a:rPr>
              <a:t>1</a:t>
            </a:r>
            <a:endParaRPr lang="en-US" sz="1300" dirty="0"/>
          </a:p>
        </p:txBody>
      </p:sp>
      <p:sp>
        <p:nvSpPr>
          <p:cNvPr id="8" name="Text 5"/>
          <p:cNvSpPr/>
          <p:nvPr/>
        </p:nvSpPr>
        <p:spPr>
          <a:xfrm>
            <a:off x="6217920" y="1737360"/>
            <a:ext cx="5303520" cy="274320"/>
          </a:xfrm>
          <a:prstGeom prst="rect">
            <a:avLst/>
          </a:prstGeom>
          <a:noFill/>
          <a:ln/>
        </p:spPr>
        <p:txBody>
          <a:bodyPr wrap="square" lIns="0" tIns="0" rIns="0" bIns="0" rtlCol="0" anchor="ctr"/>
          <a:lstStyle/>
          <a:p>
            <a:pPr indent="0" marL="0">
              <a:buNone/>
            </a:pPr>
            <a:r>
              <a:rPr lang="en-US" sz="1350" b="1" dirty="0">
                <a:solidFill>
                  <a:srgbClr val="E9EEF3"/>
                </a:solidFill>
                <a:latin typeface="Calibri" pitchFamily="34" charset="0"/>
                <a:ea typeface="Calibri" pitchFamily="34" charset="-122"/>
                <a:cs typeface="Calibri" pitchFamily="34" charset="-120"/>
              </a:rPr>
              <a:t>Streaming ingestion</a:t>
            </a:r>
            <a:endParaRPr lang="en-US" sz="1350" dirty="0"/>
          </a:p>
        </p:txBody>
      </p:sp>
      <p:sp>
        <p:nvSpPr>
          <p:cNvPr id="9" name="Text 6"/>
          <p:cNvSpPr/>
          <p:nvPr/>
        </p:nvSpPr>
        <p:spPr>
          <a:xfrm>
            <a:off x="6217920" y="1993392"/>
            <a:ext cx="5303520" cy="438912"/>
          </a:xfrm>
          <a:prstGeom prst="rect">
            <a:avLst/>
          </a:prstGeom>
          <a:noFill/>
          <a:ln/>
        </p:spPr>
        <p:txBody>
          <a:bodyPr wrap="square" lIns="0" tIns="0" rIns="0" bIns="0" rtlCol="0" anchor="ctr"/>
          <a:lstStyle/>
          <a:p>
            <a:pPr indent="0" marL="0">
              <a:lnSpc>
                <a:spcPct val="100000"/>
              </a:lnSpc>
              <a:buNone/>
            </a:pPr>
            <a:r>
              <a:rPr lang="en-US" sz="1000" dirty="0">
                <a:solidFill>
                  <a:srgbClr val="93A1AF"/>
                </a:solidFill>
                <a:latin typeface="Calibri" pitchFamily="34" charset="0"/>
                <a:ea typeface="Calibri" pitchFamily="34" charset="-122"/>
                <a:cs typeface="Calibri" pitchFamily="34" charset="-120"/>
              </a:rPr>
              <a:t>Auto Loader + Delta Live Tables land events through a bronze → silver → gold medallion, enforcing quality and hashing PII on the way in.</a:t>
            </a:r>
            <a:endParaRPr lang="en-US" sz="1000" dirty="0"/>
          </a:p>
        </p:txBody>
      </p:sp>
      <p:sp>
        <p:nvSpPr>
          <p:cNvPr id="10" name="Shape 7"/>
          <p:cNvSpPr/>
          <p:nvPr/>
        </p:nvSpPr>
        <p:spPr>
          <a:xfrm>
            <a:off x="5760720" y="2441448"/>
            <a:ext cx="310896" cy="310896"/>
          </a:xfrm>
          <a:prstGeom prst="ellipse">
            <a:avLst/>
          </a:prstGeom>
          <a:solidFill>
            <a:srgbClr val="2A1B12"/>
          </a:solidFill>
          <a:ln w="13970">
            <a:solidFill>
              <a:srgbClr val="FF6C00"/>
            </a:solidFill>
            <a:prstDash val="solid"/>
          </a:ln>
        </p:spPr>
      </p:sp>
      <p:sp>
        <p:nvSpPr>
          <p:cNvPr id="11" name="Text 8"/>
          <p:cNvSpPr/>
          <p:nvPr/>
        </p:nvSpPr>
        <p:spPr>
          <a:xfrm>
            <a:off x="5760720" y="2441448"/>
            <a:ext cx="310896" cy="310896"/>
          </a:xfrm>
          <a:prstGeom prst="rect">
            <a:avLst/>
          </a:prstGeom>
          <a:noFill/>
          <a:ln/>
        </p:spPr>
        <p:txBody>
          <a:bodyPr wrap="square" lIns="0" tIns="0" rIns="0" bIns="0" rtlCol="0" anchor="ctr"/>
          <a:lstStyle/>
          <a:p>
            <a:pPr algn="ctr" indent="0" marL="0">
              <a:buNone/>
            </a:pPr>
            <a:r>
              <a:rPr lang="en-US" sz="1300" b="1" dirty="0">
                <a:solidFill>
                  <a:srgbClr val="FF8A3D"/>
                </a:solidFill>
                <a:latin typeface="Cambria" pitchFamily="34" charset="0"/>
                <a:ea typeface="Cambria" pitchFamily="34" charset="-122"/>
                <a:cs typeface="Cambria" pitchFamily="34" charset="-120"/>
              </a:rPr>
              <a:t>2</a:t>
            </a:r>
            <a:endParaRPr lang="en-US" sz="1300" dirty="0"/>
          </a:p>
        </p:txBody>
      </p:sp>
      <p:sp>
        <p:nvSpPr>
          <p:cNvPr id="12" name="Text 9"/>
          <p:cNvSpPr/>
          <p:nvPr/>
        </p:nvSpPr>
        <p:spPr>
          <a:xfrm>
            <a:off x="6217920" y="2377440"/>
            <a:ext cx="5303520" cy="274320"/>
          </a:xfrm>
          <a:prstGeom prst="rect">
            <a:avLst/>
          </a:prstGeom>
          <a:noFill/>
          <a:ln/>
        </p:spPr>
        <p:txBody>
          <a:bodyPr wrap="square" lIns="0" tIns="0" rIns="0" bIns="0" rtlCol="0" anchor="ctr"/>
          <a:lstStyle/>
          <a:p>
            <a:pPr indent="0" marL="0">
              <a:buNone/>
            </a:pPr>
            <a:r>
              <a:rPr lang="en-US" sz="1350" b="1" dirty="0">
                <a:solidFill>
                  <a:srgbClr val="E9EEF3"/>
                </a:solidFill>
                <a:latin typeface="Calibri" pitchFamily="34" charset="0"/>
                <a:ea typeface="Calibri" pitchFamily="34" charset="-122"/>
                <a:cs typeface="Calibri" pitchFamily="34" charset="-120"/>
              </a:rPr>
              <a:t>Governed gold layer</a:t>
            </a:r>
            <a:endParaRPr lang="en-US" sz="1350" dirty="0"/>
          </a:p>
        </p:txBody>
      </p:sp>
      <p:sp>
        <p:nvSpPr>
          <p:cNvPr id="13" name="Text 10"/>
          <p:cNvSpPr/>
          <p:nvPr/>
        </p:nvSpPr>
        <p:spPr>
          <a:xfrm>
            <a:off x="6217920" y="2633472"/>
            <a:ext cx="5303520" cy="438912"/>
          </a:xfrm>
          <a:prstGeom prst="rect">
            <a:avLst/>
          </a:prstGeom>
          <a:noFill/>
          <a:ln/>
        </p:spPr>
        <p:txBody>
          <a:bodyPr wrap="square" lIns="0" tIns="0" rIns="0" bIns="0" rtlCol="0" anchor="ctr"/>
          <a:lstStyle/>
          <a:p>
            <a:pPr indent="0" marL="0">
              <a:lnSpc>
                <a:spcPct val="100000"/>
              </a:lnSpc>
              <a:buNone/>
            </a:pPr>
            <a:r>
              <a:rPr lang="en-US" sz="1000" dirty="0">
                <a:solidFill>
                  <a:srgbClr val="93A1AF"/>
                </a:solidFill>
                <a:latin typeface="Calibri" pitchFamily="34" charset="0"/>
                <a:ea typeface="Calibri" pitchFamily="34" charset="-122"/>
                <a:cs typeface="Calibri" pitchFamily="34" charset="-120"/>
              </a:rPr>
              <a:t>Business-ready tables the agent reads — a real DuckDB engine locally, a Serverless SQL Warehouse over Delta in production.</a:t>
            </a:r>
            <a:endParaRPr lang="en-US" sz="1000" dirty="0"/>
          </a:p>
        </p:txBody>
      </p:sp>
      <p:sp>
        <p:nvSpPr>
          <p:cNvPr id="14" name="Shape 11"/>
          <p:cNvSpPr/>
          <p:nvPr/>
        </p:nvSpPr>
        <p:spPr>
          <a:xfrm>
            <a:off x="5760720" y="3081528"/>
            <a:ext cx="310896" cy="310896"/>
          </a:xfrm>
          <a:prstGeom prst="ellipse">
            <a:avLst/>
          </a:prstGeom>
          <a:solidFill>
            <a:srgbClr val="2A1B12"/>
          </a:solidFill>
          <a:ln w="13970">
            <a:solidFill>
              <a:srgbClr val="FF6C00"/>
            </a:solidFill>
            <a:prstDash val="solid"/>
          </a:ln>
        </p:spPr>
      </p:sp>
      <p:sp>
        <p:nvSpPr>
          <p:cNvPr id="15" name="Text 12"/>
          <p:cNvSpPr/>
          <p:nvPr/>
        </p:nvSpPr>
        <p:spPr>
          <a:xfrm>
            <a:off x="5760720" y="3081528"/>
            <a:ext cx="310896" cy="310896"/>
          </a:xfrm>
          <a:prstGeom prst="rect">
            <a:avLst/>
          </a:prstGeom>
          <a:noFill/>
          <a:ln/>
        </p:spPr>
        <p:txBody>
          <a:bodyPr wrap="square" lIns="0" tIns="0" rIns="0" bIns="0" rtlCol="0" anchor="ctr"/>
          <a:lstStyle/>
          <a:p>
            <a:pPr algn="ctr" indent="0" marL="0">
              <a:buNone/>
            </a:pPr>
            <a:r>
              <a:rPr lang="en-US" sz="1300" b="1" dirty="0">
                <a:solidFill>
                  <a:srgbClr val="FF8A3D"/>
                </a:solidFill>
                <a:latin typeface="Cambria" pitchFamily="34" charset="0"/>
                <a:ea typeface="Cambria" pitchFamily="34" charset="-122"/>
                <a:cs typeface="Cambria" pitchFamily="34" charset="-120"/>
              </a:rPr>
              <a:t>3</a:t>
            </a:r>
            <a:endParaRPr lang="en-US" sz="1300" dirty="0"/>
          </a:p>
        </p:txBody>
      </p:sp>
      <p:sp>
        <p:nvSpPr>
          <p:cNvPr id="16" name="Text 13"/>
          <p:cNvSpPr/>
          <p:nvPr/>
        </p:nvSpPr>
        <p:spPr>
          <a:xfrm>
            <a:off x="6217920" y="3017520"/>
            <a:ext cx="5303520" cy="274320"/>
          </a:xfrm>
          <a:prstGeom prst="rect">
            <a:avLst/>
          </a:prstGeom>
          <a:noFill/>
          <a:ln/>
        </p:spPr>
        <p:txBody>
          <a:bodyPr wrap="square" lIns="0" tIns="0" rIns="0" bIns="0" rtlCol="0" anchor="ctr"/>
          <a:lstStyle/>
          <a:p>
            <a:pPr indent="0" marL="0">
              <a:buNone/>
            </a:pPr>
            <a:r>
              <a:rPr lang="en-US" sz="1350" b="1" dirty="0">
                <a:solidFill>
                  <a:srgbClr val="E9EEF3"/>
                </a:solidFill>
                <a:latin typeface="Calibri" pitchFamily="34" charset="0"/>
                <a:ea typeface="Calibri" pitchFamily="34" charset="-122"/>
                <a:cs typeface="Calibri" pitchFamily="34" charset="-120"/>
              </a:rPr>
              <a:t>Unity Catalog boundary</a:t>
            </a:r>
            <a:endParaRPr lang="en-US" sz="1350" dirty="0"/>
          </a:p>
        </p:txBody>
      </p:sp>
      <p:sp>
        <p:nvSpPr>
          <p:cNvPr id="17" name="Text 14"/>
          <p:cNvSpPr/>
          <p:nvPr/>
        </p:nvSpPr>
        <p:spPr>
          <a:xfrm>
            <a:off x="6217920" y="3273552"/>
            <a:ext cx="5303520" cy="438912"/>
          </a:xfrm>
          <a:prstGeom prst="rect">
            <a:avLst/>
          </a:prstGeom>
          <a:noFill/>
          <a:ln/>
        </p:spPr>
        <p:txBody>
          <a:bodyPr wrap="square" lIns="0" tIns="0" rIns="0" bIns="0" rtlCol="0" anchor="ctr"/>
          <a:lstStyle/>
          <a:p>
            <a:pPr indent="0" marL="0">
              <a:lnSpc>
                <a:spcPct val="100000"/>
              </a:lnSpc>
              <a:buNone/>
            </a:pPr>
            <a:r>
              <a:rPr lang="en-US" sz="1000" dirty="0">
                <a:solidFill>
                  <a:srgbClr val="93A1AF"/>
                </a:solidFill>
                <a:latin typeface="Calibri" pitchFamily="34" charset="0"/>
                <a:ea typeface="Calibri" pitchFamily="34" charset="-122"/>
                <a:cs typeface="Calibri" pitchFamily="34" charset="-120"/>
              </a:rPr>
              <a:t>Four controls: function allowlist, parameter schema, SQL interdiction, and per-caller entitlement. Never raw table access.</a:t>
            </a:r>
            <a:endParaRPr lang="en-US" sz="1000" dirty="0"/>
          </a:p>
        </p:txBody>
      </p:sp>
      <p:sp>
        <p:nvSpPr>
          <p:cNvPr id="18" name="Shape 15"/>
          <p:cNvSpPr/>
          <p:nvPr/>
        </p:nvSpPr>
        <p:spPr>
          <a:xfrm>
            <a:off x="5760720" y="3721608"/>
            <a:ext cx="310896" cy="310896"/>
          </a:xfrm>
          <a:prstGeom prst="ellipse">
            <a:avLst/>
          </a:prstGeom>
          <a:solidFill>
            <a:srgbClr val="2A1B12"/>
          </a:solidFill>
          <a:ln w="13970">
            <a:solidFill>
              <a:srgbClr val="FF6C00"/>
            </a:solidFill>
            <a:prstDash val="solid"/>
          </a:ln>
        </p:spPr>
      </p:sp>
      <p:sp>
        <p:nvSpPr>
          <p:cNvPr id="19" name="Text 16"/>
          <p:cNvSpPr/>
          <p:nvPr/>
        </p:nvSpPr>
        <p:spPr>
          <a:xfrm>
            <a:off x="5760720" y="3721608"/>
            <a:ext cx="310896" cy="310896"/>
          </a:xfrm>
          <a:prstGeom prst="rect">
            <a:avLst/>
          </a:prstGeom>
          <a:noFill/>
          <a:ln/>
        </p:spPr>
        <p:txBody>
          <a:bodyPr wrap="square" lIns="0" tIns="0" rIns="0" bIns="0" rtlCol="0" anchor="ctr"/>
          <a:lstStyle/>
          <a:p>
            <a:pPr algn="ctr" indent="0" marL="0">
              <a:buNone/>
            </a:pPr>
            <a:r>
              <a:rPr lang="en-US" sz="1300" b="1" dirty="0">
                <a:solidFill>
                  <a:srgbClr val="FF8A3D"/>
                </a:solidFill>
                <a:latin typeface="Cambria" pitchFamily="34" charset="0"/>
                <a:ea typeface="Cambria" pitchFamily="34" charset="-122"/>
                <a:cs typeface="Cambria" pitchFamily="34" charset="-120"/>
              </a:rPr>
              <a:t>4</a:t>
            </a:r>
            <a:endParaRPr lang="en-US" sz="1300" dirty="0"/>
          </a:p>
        </p:txBody>
      </p:sp>
      <p:sp>
        <p:nvSpPr>
          <p:cNvPr id="20" name="Text 17"/>
          <p:cNvSpPr/>
          <p:nvPr/>
        </p:nvSpPr>
        <p:spPr>
          <a:xfrm>
            <a:off x="6217920" y="3657600"/>
            <a:ext cx="5303520" cy="274320"/>
          </a:xfrm>
          <a:prstGeom prst="rect">
            <a:avLst/>
          </a:prstGeom>
          <a:noFill/>
          <a:ln/>
        </p:spPr>
        <p:txBody>
          <a:bodyPr wrap="square" lIns="0" tIns="0" rIns="0" bIns="0" rtlCol="0" anchor="ctr"/>
          <a:lstStyle/>
          <a:p>
            <a:pPr indent="0" marL="0">
              <a:buNone/>
            </a:pPr>
            <a:r>
              <a:rPr lang="en-US" sz="1350" b="1" dirty="0">
                <a:solidFill>
                  <a:srgbClr val="E9EEF3"/>
                </a:solidFill>
                <a:latin typeface="Calibri" pitchFamily="34" charset="0"/>
                <a:ea typeface="Calibri" pitchFamily="34" charset="-122"/>
                <a:cs typeface="Calibri" pitchFamily="34" charset="-120"/>
              </a:rPr>
              <a:t>Mosaic AI Vector Search</a:t>
            </a:r>
            <a:endParaRPr lang="en-US" sz="1350" dirty="0"/>
          </a:p>
        </p:txBody>
      </p:sp>
      <p:sp>
        <p:nvSpPr>
          <p:cNvPr id="21" name="Text 18"/>
          <p:cNvSpPr/>
          <p:nvPr/>
        </p:nvSpPr>
        <p:spPr>
          <a:xfrm>
            <a:off x="6217920" y="3913632"/>
            <a:ext cx="5303520" cy="438912"/>
          </a:xfrm>
          <a:prstGeom prst="rect">
            <a:avLst/>
          </a:prstGeom>
          <a:noFill/>
          <a:ln/>
        </p:spPr>
        <p:txBody>
          <a:bodyPr wrap="square" lIns="0" tIns="0" rIns="0" bIns="0" rtlCol="0" anchor="ctr"/>
          <a:lstStyle/>
          <a:p>
            <a:pPr indent="0" marL="0">
              <a:lnSpc>
                <a:spcPct val="100000"/>
              </a:lnSpc>
              <a:buNone/>
            </a:pPr>
            <a:r>
              <a:rPr lang="en-US" sz="1000" dirty="0">
                <a:solidFill>
                  <a:srgbClr val="93A1AF"/>
                </a:solidFill>
                <a:latin typeface="Calibri" pitchFamily="34" charset="0"/>
                <a:ea typeface="Calibri" pitchFamily="34" charset="-122"/>
                <a:cs typeface="Calibri" pitchFamily="34" charset="-120"/>
              </a:rPr>
              <a:t>A governed index over runbooks and policies, so answers can be grounded in documented knowledge as well as live metrics.</a:t>
            </a:r>
            <a:endParaRPr lang="en-US" sz="1000" dirty="0"/>
          </a:p>
        </p:txBody>
      </p:sp>
      <p:sp>
        <p:nvSpPr>
          <p:cNvPr id="22" name="Shape 19"/>
          <p:cNvSpPr/>
          <p:nvPr/>
        </p:nvSpPr>
        <p:spPr>
          <a:xfrm>
            <a:off x="5760720" y="4361688"/>
            <a:ext cx="310896" cy="310896"/>
          </a:xfrm>
          <a:prstGeom prst="ellipse">
            <a:avLst/>
          </a:prstGeom>
          <a:solidFill>
            <a:srgbClr val="2A1B12"/>
          </a:solidFill>
          <a:ln w="13970">
            <a:solidFill>
              <a:srgbClr val="FF6C00"/>
            </a:solidFill>
            <a:prstDash val="solid"/>
          </a:ln>
        </p:spPr>
      </p:sp>
      <p:sp>
        <p:nvSpPr>
          <p:cNvPr id="23" name="Text 20"/>
          <p:cNvSpPr/>
          <p:nvPr/>
        </p:nvSpPr>
        <p:spPr>
          <a:xfrm>
            <a:off x="5760720" y="4361688"/>
            <a:ext cx="310896" cy="310896"/>
          </a:xfrm>
          <a:prstGeom prst="rect">
            <a:avLst/>
          </a:prstGeom>
          <a:noFill/>
          <a:ln/>
        </p:spPr>
        <p:txBody>
          <a:bodyPr wrap="square" lIns="0" tIns="0" rIns="0" bIns="0" rtlCol="0" anchor="ctr"/>
          <a:lstStyle/>
          <a:p>
            <a:pPr algn="ctr" indent="0" marL="0">
              <a:buNone/>
            </a:pPr>
            <a:r>
              <a:rPr lang="en-US" sz="1300" b="1" dirty="0">
                <a:solidFill>
                  <a:srgbClr val="FF8A3D"/>
                </a:solidFill>
                <a:latin typeface="Cambria" pitchFamily="34" charset="0"/>
                <a:ea typeface="Cambria" pitchFamily="34" charset="-122"/>
                <a:cs typeface="Cambria" pitchFamily="34" charset="-120"/>
              </a:rPr>
              <a:t>5</a:t>
            </a:r>
            <a:endParaRPr lang="en-US" sz="1300" dirty="0"/>
          </a:p>
        </p:txBody>
      </p:sp>
      <p:sp>
        <p:nvSpPr>
          <p:cNvPr id="24" name="Text 21"/>
          <p:cNvSpPr/>
          <p:nvPr/>
        </p:nvSpPr>
        <p:spPr>
          <a:xfrm>
            <a:off x="6217920" y="4297680"/>
            <a:ext cx="5303520" cy="274320"/>
          </a:xfrm>
          <a:prstGeom prst="rect">
            <a:avLst/>
          </a:prstGeom>
          <a:noFill/>
          <a:ln/>
        </p:spPr>
        <p:txBody>
          <a:bodyPr wrap="square" lIns="0" tIns="0" rIns="0" bIns="0" rtlCol="0" anchor="ctr"/>
          <a:lstStyle/>
          <a:p>
            <a:pPr indent="0" marL="0">
              <a:buNone/>
            </a:pPr>
            <a:r>
              <a:rPr lang="en-US" sz="1350" b="1" dirty="0">
                <a:solidFill>
                  <a:srgbClr val="E9EEF3"/>
                </a:solidFill>
                <a:latin typeface="Calibri" pitchFamily="34" charset="0"/>
                <a:ea typeface="Calibri" pitchFamily="34" charset="-122"/>
                <a:cs typeface="Calibri" pitchFamily="34" charset="-120"/>
              </a:rPr>
              <a:t>Identity &amp; entitlements</a:t>
            </a:r>
            <a:endParaRPr lang="en-US" sz="1350" dirty="0"/>
          </a:p>
        </p:txBody>
      </p:sp>
      <p:sp>
        <p:nvSpPr>
          <p:cNvPr id="25" name="Text 22"/>
          <p:cNvSpPr/>
          <p:nvPr/>
        </p:nvSpPr>
        <p:spPr>
          <a:xfrm>
            <a:off x="6217920" y="4553712"/>
            <a:ext cx="5303520" cy="438912"/>
          </a:xfrm>
          <a:prstGeom prst="rect">
            <a:avLst/>
          </a:prstGeom>
          <a:noFill/>
          <a:ln/>
        </p:spPr>
        <p:txBody>
          <a:bodyPr wrap="square" lIns="0" tIns="0" rIns="0" bIns="0" rtlCol="0" anchor="ctr"/>
          <a:lstStyle/>
          <a:p>
            <a:pPr indent="0" marL="0">
              <a:lnSpc>
                <a:spcPct val="100000"/>
              </a:lnSpc>
              <a:buNone/>
            </a:pPr>
            <a:r>
              <a:rPr lang="en-US" sz="1000" dirty="0">
                <a:solidFill>
                  <a:srgbClr val="93A1AF"/>
                </a:solidFill>
                <a:latin typeface="Calibri" pitchFamily="34" charset="0"/>
                <a:ea typeface="Calibri" pitchFamily="34" charset="-122"/>
                <a:cs typeface="Calibri" pitchFamily="34" charset="-120"/>
              </a:rPr>
              <a:t>Each caller carries its own function grants and customer row scope — least privilege for the person, not just the system.</a:t>
            </a:r>
            <a:endParaRPr lang="en-US" sz="1000" dirty="0"/>
          </a:p>
        </p:txBody>
      </p:sp>
      <p:sp>
        <p:nvSpPr>
          <p:cNvPr id="26" name="Shape 23"/>
          <p:cNvSpPr/>
          <p:nvPr/>
        </p:nvSpPr>
        <p:spPr>
          <a:xfrm>
            <a:off x="5760720" y="5001768"/>
            <a:ext cx="310896" cy="310896"/>
          </a:xfrm>
          <a:prstGeom prst="ellipse">
            <a:avLst/>
          </a:prstGeom>
          <a:solidFill>
            <a:srgbClr val="2A1B12"/>
          </a:solidFill>
          <a:ln w="13970">
            <a:solidFill>
              <a:srgbClr val="FF6C00"/>
            </a:solidFill>
            <a:prstDash val="solid"/>
          </a:ln>
        </p:spPr>
      </p:sp>
      <p:sp>
        <p:nvSpPr>
          <p:cNvPr id="27" name="Text 24"/>
          <p:cNvSpPr/>
          <p:nvPr/>
        </p:nvSpPr>
        <p:spPr>
          <a:xfrm>
            <a:off x="5760720" y="5001768"/>
            <a:ext cx="310896" cy="310896"/>
          </a:xfrm>
          <a:prstGeom prst="rect">
            <a:avLst/>
          </a:prstGeom>
          <a:noFill/>
          <a:ln/>
        </p:spPr>
        <p:txBody>
          <a:bodyPr wrap="square" lIns="0" tIns="0" rIns="0" bIns="0" rtlCol="0" anchor="ctr"/>
          <a:lstStyle/>
          <a:p>
            <a:pPr algn="ctr" indent="0" marL="0">
              <a:buNone/>
            </a:pPr>
            <a:r>
              <a:rPr lang="en-US" sz="1300" b="1" dirty="0">
                <a:solidFill>
                  <a:srgbClr val="FF8A3D"/>
                </a:solidFill>
                <a:latin typeface="Cambria" pitchFamily="34" charset="0"/>
                <a:ea typeface="Cambria" pitchFamily="34" charset="-122"/>
                <a:cs typeface="Cambria" pitchFamily="34" charset="-120"/>
              </a:rPr>
              <a:t>6</a:t>
            </a:r>
            <a:endParaRPr lang="en-US" sz="1300" dirty="0"/>
          </a:p>
        </p:txBody>
      </p:sp>
      <p:sp>
        <p:nvSpPr>
          <p:cNvPr id="28" name="Text 25"/>
          <p:cNvSpPr/>
          <p:nvPr/>
        </p:nvSpPr>
        <p:spPr>
          <a:xfrm>
            <a:off x="6217920" y="4937760"/>
            <a:ext cx="5303520" cy="274320"/>
          </a:xfrm>
          <a:prstGeom prst="rect">
            <a:avLst/>
          </a:prstGeom>
          <a:noFill/>
          <a:ln/>
        </p:spPr>
        <p:txBody>
          <a:bodyPr wrap="square" lIns="0" tIns="0" rIns="0" bIns="0" rtlCol="0" anchor="ctr"/>
          <a:lstStyle/>
          <a:p>
            <a:pPr indent="0" marL="0">
              <a:buNone/>
            </a:pPr>
            <a:r>
              <a:rPr lang="en-US" sz="1350" b="1" dirty="0">
                <a:solidFill>
                  <a:srgbClr val="E9EEF3"/>
                </a:solidFill>
                <a:latin typeface="Calibri" pitchFamily="34" charset="0"/>
                <a:ea typeface="Calibri" pitchFamily="34" charset="-122"/>
                <a:cs typeface="Calibri" pitchFamily="34" charset="-120"/>
              </a:rPr>
              <a:t>Audit trail</a:t>
            </a:r>
            <a:endParaRPr lang="en-US" sz="1350" dirty="0"/>
          </a:p>
        </p:txBody>
      </p:sp>
      <p:sp>
        <p:nvSpPr>
          <p:cNvPr id="29" name="Text 26"/>
          <p:cNvSpPr/>
          <p:nvPr/>
        </p:nvSpPr>
        <p:spPr>
          <a:xfrm>
            <a:off x="6217920" y="5193792"/>
            <a:ext cx="5303520" cy="438912"/>
          </a:xfrm>
          <a:prstGeom prst="rect">
            <a:avLst/>
          </a:prstGeom>
          <a:noFill/>
          <a:ln/>
        </p:spPr>
        <p:txBody>
          <a:bodyPr wrap="square" lIns="0" tIns="0" rIns="0" bIns="0" rtlCol="0" anchor="ctr"/>
          <a:lstStyle/>
          <a:p>
            <a:pPr indent="0" marL="0">
              <a:lnSpc>
                <a:spcPct val="100000"/>
              </a:lnSpc>
              <a:buNone/>
            </a:pPr>
            <a:r>
              <a:rPr lang="en-US" sz="1000" dirty="0">
                <a:solidFill>
                  <a:srgbClr val="93A1AF"/>
                </a:solidFill>
                <a:latin typeface="Calibri" pitchFamily="34" charset="0"/>
                <a:ea typeface="Calibri" pitchFamily="34" charset="-122"/>
                <a:cs typeface="Calibri" pitchFamily="34" charset="-120"/>
              </a:rPr>
              <a:t>Every decision, granted or refused, appended to a durable record with who made it and what it cost.</a:t>
            </a:r>
            <a:endParaRPr lang="en-US" sz="1000" dirty="0"/>
          </a:p>
        </p:txBody>
      </p:sp>
      <p:sp>
        <p:nvSpPr>
          <p:cNvPr id="30" name="Shape 27"/>
          <p:cNvSpPr/>
          <p:nvPr/>
        </p:nvSpPr>
        <p:spPr>
          <a:xfrm>
            <a:off x="5760720" y="5641848"/>
            <a:ext cx="310896" cy="310896"/>
          </a:xfrm>
          <a:prstGeom prst="ellipse">
            <a:avLst/>
          </a:prstGeom>
          <a:solidFill>
            <a:srgbClr val="2A1B12"/>
          </a:solidFill>
          <a:ln w="13970">
            <a:solidFill>
              <a:srgbClr val="FF6C00"/>
            </a:solidFill>
            <a:prstDash val="solid"/>
          </a:ln>
        </p:spPr>
      </p:sp>
      <p:sp>
        <p:nvSpPr>
          <p:cNvPr id="31" name="Text 28"/>
          <p:cNvSpPr/>
          <p:nvPr/>
        </p:nvSpPr>
        <p:spPr>
          <a:xfrm>
            <a:off x="5760720" y="5641848"/>
            <a:ext cx="310896" cy="310896"/>
          </a:xfrm>
          <a:prstGeom prst="rect">
            <a:avLst/>
          </a:prstGeom>
          <a:noFill/>
          <a:ln/>
        </p:spPr>
        <p:txBody>
          <a:bodyPr wrap="square" lIns="0" tIns="0" rIns="0" bIns="0" rtlCol="0" anchor="ctr"/>
          <a:lstStyle/>
          <a:p>
            <a:pPr algn="ctr" indent="0" marL="0">
              <a:buNone/>
            </a:pPr>
            <a:r>
              <a:rPr lang="en-US" sz="1300" b="1" dirty="0">
                <a:solidFill>
                  <a:srgbClr val="FF8A3D"/>
                </a:solidFill>
                <a:latin typeface="Cambria" pitchFamily="34" charset="0"/>
                <a:ea typeface="Cambria" pitchFamily="34" charset="-122"/>
                <a:cs typeface="Cambria" pitchFamily="34" charset="-120"/>
              </a:rPr>
              <a:t>7</a:t>
            </a:r>
            <a:endParaRPr lang="en-US" sz="1300" dirty="0"/>
          </a:p>
        </p:txBody>
      </p:sp>
      <p:sp>
        <p:nvSpPr>
          <p:cNvPr id="32" name="Text 29"/>
          <p:cNvSpPr/>
          <p:nvPr/>
        </p:nvSpPr>
        <p:spPr>
          <a:xfrm>
            <a:off x="6217920" y="5577840"/>
            <a:ext cx="5303520" cy="274320"/>
          </a:xfrm>
          <a:prstGeom prst="rect">
            <a:avLst/>
          </a:prstGeom>
          <a:noFill/>
          <a:ln/>
        </p:spPr>
        <p:txBody>
          <a:bodyPr wrap="square" lIns="0" tIns="0" rIns="0" bIns="0" rtlCol="0" anchor="ctr"/>
          <a:lstStyle/>
          <a:p>
            <a:pPr indent="0" marL="0">
              <a:buNone/>
            </a:pPr>
            <a:r>
              <a:rPr lang="en-US" sz="1350" b="1" dirty="0">
                <a:solidFill>
                  <a:srgbClr val="E9EEF3"/>
                </a:solidFill>
                <a:latin typeface="Calibri" pitchFamily="34" charset="0"/>
                <a:ea typeface="Calibri" pitchFamily="34" charset="-122"/>
                <a:cs typeface="Calibri" pitchFamily="34" charset="-120"/>
              </a:rPr>
              <a:t>Cognitive agent + serving</a:t>
            </a:r>
            <a:endParaRPr lang="en-US" sz="1350" dirty="0"/>
          </a:p>
        </p:txBody>
      </p:sp>
      <p:sp>
        <p:nvSpPr>
          <p:cNvPr id="33" name="Text 30"/>
          <p:cNvSpPr/>
          <p:nvPr/>
        </p:nvSpPr>
        <p:spPr>
          <a:xfrm>
            <a:off x="6217920" y="5833872"/>
            <a:ext cx="5303520" cy="438912"/>
          </a:xfrm>
          <a:prstGeom prst="rect">
            <a:avLst/>
          </a:prstGeom>
          <a:noFill/>
          <a:ln/>
        </p:spPr>
        <p:txBody>
          <a:bodyPr wrap="square" lIns="0" tIns="0" rIns="0" bIns="0" rtlCol="0" anchor="ctr"/>
          <a:lstStyle/>
          <a:p>
            <a:pPr indent="0" marL="0">
              <a:lnSpc>
                <a:spcPct val="100000"/>
              </a:lnSpc>
              <a:buNone/>
            </a:pPr>
            <a:r>
              <a:rPr lang="en-US" sz="1000" dirty="0">
                <a:solidFill>
                  <a:srgbClr val="93A1AF"/>
                </a:solidFill>
                <a:latin typeface="Calibri" pitchFamily="34" charset="0"/>
                <a:ea typeface="Calibri" pitchFamily="34" charset="-122"/>
                <a:cs typeface="Calibri" pitchFamily="34" charset="-120"/>
              </a:rPr>
              <a:t>Model Serving resolves plain-English intent into N approved calls, then grounds the answer in what they returned.</a:t>
            </a:r>
            <a:endParaRPr lang="en-US" sz="1000" dirty="0"/>
          </a:p>
        </p:txBody>
      </p:sp>
      <p:sp>
        <p:nvSpPr>
          <p:cNvPr id="34" name="Text 31"/>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04</a:t>
            </a:r>
            <a:endParaRPr lang="en-US" sz="1000" dirty="0"/>
          </a:p>
        </p:txBody>
      </p:sp>
      <p:sp>
        <p:nvSpPr>
          <p:cNvPr id="35" name="Text 32"/>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1B"/>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LIVE DEMO</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What it can do, and why you can trust it</a:t>
            </a:r>
            <a:endParaRPr lang="en-US" sz="3200" dirty="0"/>
          </a:p>
        </p:txBody>
      </p:sp>
      <p:sp>
        <p:nvSpPr>
          <p:cNvPr id="5" name="Text 3"/>
          <p:cNvSpPr/>
          <p:nvPr/>
        </p:nvSpPr>
        <p:spPr>
          <a:xfrm>
            <a:off x="640080" y="1783080"/>
            <a:ext cx="10698480" cy="365760"/>
          </a:xfrm>
          <a:prstGeom prst="rect">
            <a:avLst/>
          </a:prstGeom>
          <a:noFill/>
          <a:ln/>
        </p:spPr>
        <p:txBody>
          <a:bodyPr wrap="square" lIns="0" tIns="0" rIns="0" bIns="0" rtlCol="0" anchor="ctr"/>
          <a:lstStyle/>
          <a:p>
            <a:pPr indent="0" marL="0">
              <a:buNone/>
            </a:pPr>
            <a:r>
              <a:rPr lang="en-US" sz="1550" dirty="0">
                <a:solidFill>
                  <a:srgbClr val="93A1AF"/>
                </a:solidFill>
                <a:latin typeface="Calibri" pitchFamily="34" charset="0"/>
                <a:ea typeface="Calibri" pitchFamily="34" charset="-122"/>
                <a:cs typeface="Calibri" pitchFamily="34" charset="-120"/>
              </a:rPr>
              <a:t>Eight prompts in the same interface. The left column earns the attention; the right column keeps it.</a:t>
            </a:r>
            <a:endParaRPr lang="en-US" sz="1550" dirty="0"/>
          </a:p>
        </p:txBody>
      </p:sp>
      <p:sp>
        <p:nvSpPr>
          <p:cNvPr id="6" name="Text 4"/>
          <p:cNvSpPr/>
          <p:nvPr/>
        </p:nvSpPr>
        <p:spPr>
          <a:xfrm>
            <a:off x="731520" y="2240280"/>
            <a:ext cx="5257800" cy="274320"/>
          </a:xfrm>
          <a:prstGeom prst="rect">
            <a:avLst/>
          </a:prstGeom>
          <a:noFill/>
          <a:ln/>
        </p:spPr>
        <p:txBody>
          <a:bodyPr wrap="square" lIns="0" tIns="0" rIns="0" bIns="0" rtlCol="0" anchor="ctr"/>
          <a:lstStyle/>
          <a:p>
            <a:pPr indent="0" marL="0">
              <a:buNone/>
            </a:pPr>
            <a:r>
              <a:rPr lang="en-US" sz="1150" b="1" spc="180" kern="0" dirty="0">
                <a:solidFill>
                  <a:srgbClr val="3FB950"/>
                </a:solidFill>
                <a:latin typeface="Calibri" pitchFamily="34" charset="0"/>
                <a:ea typeface="Calibri" pitchFamily="34" charset="-122"/>
                <a:cs typeface="Calibri" pitchFamily="34" charset="-120"/>
              </a:rPr>
              <a:t>CAPABILITY</a:t>
            </a:r>
            <a:endParaRPr lang="en-US" sz="1150" dirty="0"/>
          </a:p>
        </p:txBody>
      </p:sp>
      <p:sp>
        <p:nvSpPr>
          <p:cNvPr id="7" name="Shape 5"/>
          <p:cNvSpPr/>
          <p:nvPr/>
        </p:nvSpPr>
        <p:spPr>
          <a:xfrm>
            <a:off x="640080" y="2578608"/>
            <a:ext cx="5257800" cy="777240"/>
          </a:xfrm>
          <a:prstGeom prst="roundRect">
            <a:avLst>
              <a:gd name="adj" fmla="val 10588"/>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8" name="Shape 6"/>
          <p:cNvSpPr/>
          <p:nvPr/>
        </p:nvSpPr>
        <p:spPr>
          <a:xfrm>
            <a:off x="877824" y="2889504"/>
            <a:ext cx="146304" cy="146304"/>
          </a:xfrm>
          <a:prstGeom prst="ellipse">
            <a:avLst/>
          </a:prstGeom>
          <a:solidFill>
            <a:srgbClr val="3FB950"/>
          </a:solidFill>
          <a:ln/>
        </p:spPr>
      </p:sp>
      <p:sp>
        <p:nvSpPr>
          <p:cNvPr id="9" name="Text 7"/>
          <p:cNvSpPr/>
          <p:nvPr/>
        </p:nvSpPr>
        <p:spPr>
          <a:xfrm>
            <a:off x="1152144" y="2670048"/>
            <a:ext cx="4526280" cy="292608"/>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Real insight</a:t>
            </a:r>
            <a:endParaRPr lang="en-US" sz="1400" dirty="0"/>
          </a:p>
        </p:txBody>
      </p:sp>
      <p:sp>
        <p:nvSpPr>
          <p:cNvPr id="10" name="Text 8"/>
          <p:cNvSpPr/>
          <p:nvPr/>
        </p:nvSpPr>
        <p:spPr>
          <a:xfrm>
            <a:off x="1152144" y="2962656"/>
            <a:ext cx="4526280" cy="310896"/>
          </a:xfrm>
          <a:prstGeom prst="rect">
            <a:avLst/>
          </a:prstGeom>
          <a:noFill/>
          <a:ln/>
        </p:spPr>
        <p:txBody>
          <a:bodyPr wrap="square" lIns="0" tIns="0" rIns="0" bIns="0" rtlCol="0" anchor="ctr"/>
          <a:lstStyle/>
          <a:p>
            <a:pPr indent="0" marL="0">
              <a:buNone/>
            </a:pPr>
            <a:r>
              <a:rPr lang="en-US" sz="950" i="1" dirty="0">
                <a:solidFill>
                  <a:srgbClr val="FF8A3D"/>
                </a:solidFill>
                <a:latin typeface="Consolas" pitchFamily="34" charset="0"/>
                <a:ea typeface="Consolas" pitchFamily="34" charset="-122"/>
                <a:cs typeface="Consolas" pitchFamily="34" charset="-120"/>
              </a:rPr>
              <a:t>“Evaluate anomaly parameters for CUST_404”</a:t>
            </a:r>
            <a:endParaRPr lang="en-US" sz="950" dirty="0"/>
          </a:p>
        </p:txBody>
      </p:sp>
      <p:sp>
        <p:nvSpPr>
          <p:cNvPr id="11" name="Shape 9"/>
          <p:cNvSpPr/>
          <p:nvPr/>
        </p:nvSpPr>
        <p:spPr>
          <a:xfrm>
            <a:off x="640080" y="3447288"/>
            <a:ext cx="5257800" cy="777240"/>
          </a:xfrm>
          <a:prstGeom prst="roundRect">
            <a:avLst>
              <a:gd name="adj" fmla="val 10588"/>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2" name="Shape 10"/>
          <p:cNvSpPr/>
          <p:nvPr/>
        </p:nvSpPr>
        <p:spPr>
          <a:xfrm>
            <a:off x="877824" y="3758184"/>
            <a:ext cx="146304" cy="146304"/>
          </a:xfrm>
          <a:prstGeom prst="ellipse">
            <a:avLst/>
          </a:prstGeom>
          <a:solidFill>
            <a:srgbClr val="3FB950"/>
          </a:solidFill>
          <a:ln/>
        </p:spPr>
      </p:sp>
      <p:sp>
        <p:nvSpPr>
          <p:cNvPr id="13" name="Text 11"/>
          <p:cNvSpPr/>
          <p:nvPr/>
        </p:nvSpPr>
        <p:spPr>
          <a:xfrm>
            <a:off x="1152144" y="3538728"/>
            <a:ext cx="4526280" cy="292608"/>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Hybrid answer</a:t>
            </a:r>
            <a:endParaRPr lang="en-US" sz="1400" dirty="0"/>
          </a:p>
        </p:txBody>
      </p:sp>
      <p:sp>
        <p:nvSpPr>
          <p:cNvPr id="14" name="Text 12"/>
          <p:cNvSpPr/>
          <p:nvPr/>
        </p:nvSpPr>
        <p:spPr>
          <a:xfrm>
            <a:off x="1152144" y="3831336"/>
            <a:ext cx="4526280" cy="310896"/>
          </a:xfrm>
          <a:prstGeom prst="rect">
            <a:avLst/>
          </a:prstGeom>
          <a:noFill/>
          <a:ln/>
        </p:spPr>
        <p:txBody>
          <a:bodyPr wrap="square" lIns="0" tIns="0" rIns="0" bIns="0" rtlCol="0" anchor="ctr"/>
          <a:lstStyle/>
          <a:p>
            <a:pPr indent="0" marL="0">
              <a:buNone/>
            </a:pPr>
            <a:r>
              <a:rPr lang="en-US" sz="950" i="1" dirty="0">
                <a:solidFill>
                  <a:srgbClr val="FF8A3D"/>
                </a:solidFill>
                <a:latin typeface="Consolas" pitchFamily="34" charset="0"/>
                <a:ea typeface="Consolas" pitchFamily="34" charset="-122"/>
                <a:cs typeface="Consolas" pitchFamily="34" charset="-120"/>
              </a:rPr>
              <a:t>“CUST_404 is flagged — what should we do?”</a:t>
            </a:r>
            <a:endParaRPr lang="en-US" sz="950" dirty="0"/>
          </a:p>
        </p:txBody>
      </p:sp>
      <p:sp>
        <p:nvSpPr>
          <p:cNvPr id="15" name="Shape 13"/>
          <p:cNvSpPr/>
          <p:nvPr/>
        </p:nvSpPr>
        <p:spPr>
          <a:xfrm>
            <a:off x="640080" y="4315968"/>
            <a:ext cx="5257800" cy="777240"/>
          </a:xfrm>
          <a:prstGeom prst="roundRect">
            <a:avLst>
              <a:gd name="adj" fmla="val 10588"/>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6" name="Shape 14"/>
          <p:cNvSpPr/>
          <p:nvPr/>
        </p:nvSpPr>
        <p:spPr>
          <a:xfrm>
            <a:off x="877824" y="4626864"/>
            <a:ext cx="146304" cy="146304"/>
          </a:xfrm>
          <a:prstGeom prst="ellipse">
            <a:avLst/>
          </a:prstGeom>
          <a:solidFill>
            <a:srgbClr val="3FB950"/>
          </a:solidFill>
          <a:ln/>
        </p:spPr>
      </p:sp>
      <p:sp>
        <p:nvSpPr>
          <p:cNvPr id="17" name="Text 15"/>
          <p:cNvSpPr/>
          <p:nvPr/>
        </p:nvSpPr>
        <p:spPr>
          <a:xfrm>
            <a:off x="1152144" y="4407408"/>
            <a:ext cx="4526280" cy="292608"/>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Comparison</a:t>
            </a:r>
            <a:endParaRPr lang="en-US" sz="1400" dirty="0"/>
          </a:p>
        </p:txBody>
      </p:sp>
      <p:sp>
        <p:nvSpPr>
          <p:cNvPr id="18" name="Text 16"/>
          <p:cNvSpPr/>
          <p:nvPr/>
        </p:nvSpPr>
        <p:spPr>
          <a:xfrm>
            <a:off x="1152144" y="4700016"/>
            <a:ext cx="4526280" cy="310896"/>
          </a:xfrm>
          <a:prstGeom prst="rect">
            <a:avLst/>
          </a:prstGeom>
          <a:noFill/>
          <a:ln/>
        </p:spPr>
        <p:txBody>
          <a:bodyPr wrap="square" lIns="0" tIns="0" rIns="0" bIns="0" rtlCol="0" anchor="ctr"/>
          <a:lstStyle/>
          <a:p>
            <a:pPr indent="0" marL="0">
              <a:buNone/>
            </a:pPr>
            <a:r>
              <a:rPr lang="en-US" sz="950" i="1" dirty="0">
                <a:solidFill>
                  <a:srgbClr val="FF8A3D"/>
                </a:solidFill>
                <a:latin typeface="Consolas" pitchFamily="34" charset="0"/>
                <a:ea typeface="Consolas" pitchFamily="34" charset="-122"/>
                <a:cs typeface="Consolas" pitchFamily="34" charset="-120"/>
              </a:rPr>
              <a:t>“Compare CUST_404 and CUST_417”</a:t>
            </a:r>
            <a:endParaRPr lang="en-US" sz="950" dirty="0"/>
          </a:p>
        </p:txBody>
      </p:sp>
      <p:sp>
        <p:nvSpPr>
          <p:cNvPr id="19" name="Shape 17"/>
          <p:cNvSpPr/>
          <p:nvPr/>
        </p:nvSpPr>
        <p:spPr>
          <a:xfrm>
            <a:off x="640080" y="5184648"/>
            <a:ext cx="5257800" cy="777240"/>
          </a:xfrm>
          <a:prstGeom prst="roundRect">
            <a:avLst>
              <a:gd name="adj" fmla="val 10588"/>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0" name="Shape 18"/>
          <p:cNvSpPr/>
          <p:nvPr/>
        </p:nvSpPr>
        <p:spPr>
          <a:xfrm>
            <a:off x="877824" y="5495544"/>
            <a:ext cx="146304" cy="146304"/>
          </a:xfrm>
          <a:prstGeom prst="ellipse">
            <a:avLst/>
          </a:prstGeom>
          <a:solidFill>
            <a:srgbClr val="3FB950"/>
          </a:solidFill>
          <a:ln/>
        </p:spPr>
      </p:sp>
      <p:sp>
        <p:nvSpPr>
          <p:cNvPr id="21" name="Text 19"/>
          <p:cNvSpPr/>
          <p:nvPr/>
        </p:nvSpPr>
        <p:spPr>
          <a:xfrm>
            <a:off x="1152144" y="5276088"/>
            <a:ext cx="4526280" cy="292608"/>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Trend</a:t>
            </a:r>
            <a:endParaRPr lang="en-US" sz="1400" dirty="0"/>
          </a:p>
        </p:txBody>
      </p:sp>
      <p:sp>
        <p:nvSpPr>
          <p:cNvPr id="22" name="Text 20"/>
          <p:cNvSpPr/>
          <p:nvPr/>
        </p:nvSpPr>
        <p:spPr>
          <a:xfrm>
            <a:off x="1152144" y="5568696"/>
            <a:ext cx="4526280" cy="310896"/>
          </a:xfrm>
          <a:prstGeom prst="rect">
            <a:avLst/>
          </a:prstGeom>
          <a:noFill/>
          <a:ln/>
        </p:spPr>
        <p:txBody>
          <a:bodyPr wrap="square" lIns="0" tIns="0" rIns="0" bIns="0" rtlCol="0" anchor="ctr"/>
          <a:lstStyle/>
          <a:p>
            <a:pPr indent="0" marL="0">
              <a:buNone/>
            </a:pPr>
            <a:r>
              <a:rPr lang="en-US" sz="950" i="1" dirty="0">
                <a:solidFill>
                  <a:srgbClr val="FF8A3D"/>
                </a:solidFill>
                <a:latin typeface="Consolas" pitchFamily="34" charset="0"/>
                <a:ea typeface="Consolas" pitchFamily="34" charset="-122"/>
                <a:cs typeface="Consolas" pitchFamily="34" charset="-120"/>
              </a:rPr>
              <a:t>“Is CUST_404 getting worse over time?”</a:t>
            </a:r>
            <a:endParaRPr lang="en-US" sz="950" dirty="0"/>
          </a:p>
        </p:txBody>
      </p:sp>
      <p:sp>
        <p:nvSpPr>
          <p:cNvPr id="23" name="Text 21"/>
          <p:cNvSpPr/>
          <p:nvPr/>
        </p:nvSpPr>
        <p:spPr>
          <a:xfrm>
            <a:off x="6400800" y="2240280"/>
            <a:ext cx="5257800" cy="274320"/>
          </a:xfrm>
          <a:prstGeom prst="rect">
            <a:avLst/>
          </a:prstGeom>
          <a:noFill/>
          <a:ln/>
        </p:spPr>
        <p:txBody>
          <a:bodyPr wrap="square" lIns="0" tIns="0" rIns="0" bIns="0" rtlCol="0" anchor="ctr"/>
          <a:lstStyle/>
          <a:p>
            <a:pPr indent="0" marL="0">
              <a:buNone/>
            </a:pPr>
            <a:r>
              <a:rPr lang="en-US" sz="1150" b="1" spc="180" kern="0" dirty="0">
                <a:solidFill>
                  <a:srgbClr val="FF6C00"/>
                </a:solidFill>
                <a:latin typeface="Calibri" pitchFamily="34" charset="0"/>
                <a:ea typeface="Calibri" pitchFamily="34" charset="-122"/>
                <a:cs typeface="Calibri" pitchFamily="34" charset="-120"/>
              </a:rPr>
              <a:t>ASSURANCE</a:t>
            </a:r>
            <a:endParaRPr lang="en-US" sz="1150" dirty="0"/>
          </a:p>
        </p:txBody>
      </p:sp>
      <p:sp>
        <p:nvSpPr>
          <p:cNvPr id="24" name="Shape 22"/>
          <p:cNvSpPr/>
          <p:nvPr/>
        </p:nvSpPr>
        <p:spPr>
          <a:xfrm>
            <a:off x="6309360" y="2578608"/>
            <a:ext cx="5257800" cy="777240"/>
          </a:xfrm>
          <a:prstGeom prst="roundRect">
            <a:avLst>
              <a:gd name="adj" fmla="val 10588"/>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5" name="Shape 23"/>
          <p:cNvSpPr/>
          <p:nvPr/>
        </p:nvSpPr>
        <p:spPr>
          <a:xfrm>
            <a:off x="6547104" y="2889504"/>
            <a:ext cx="146304" cy="146304"/>
          </a:xfrm>
          <a:prstGeom prst="ellipse">
            <a:avLst/>
          </a:prstGeom>
          <a:solidFill>
            <a:srgbClr val="FF6C00"/>
          </a:solidFill>
          <a:ln/>
        </p:spPr>
      </p:sp>
      <p:sp>
        <p:nvSpPr>
          <p:cNvPr id="26" name="Text 24"/>
          <p:cNvSpPr/>
          <p:nvPr/>
        </p:nvSpPr>
        <p:spPr>
          <a:xfrm>
            <a:off x="6821424" y="2670048"/>
            <a:ext cx="4526280" cy="292608"/>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Out of scope</a:t>
            </a:r>
            <a:endParaRPr lang="en-US" sz="1400" dirty="0"/>
          </a:p>
        </p:txBody>
      </p:sp>
      <p:sp>
        <p:nvSpPr>
          <p:cNvPr id="27" name="Text 25"/>
          <p:cNvSpPr/>
          <p:nvPr/>
        </p:nvSpPr>
        <p:spPr>
          <a:xfrm>
            <a:off x="6821424" y="2962656"/>
            <a:ext cx="4526280" cy="310896"/>
          </a:xfrm>
          <a:prstGeom prst="rect">
            <a:avLst/>
          </a:prstGeom>
          <a:noFill/>
          <a:ln/>
        </p:spPr>
        <p:txBody>
          <a:bodyPr wrap="square" lIns="0" tIns="0" rIns="0" bIns="0" rtlCol="0" anchor="ctr"/>
          <a:lstStyle/>
          <a:p>
            <a:pPr indent="0" marL="0">
              <a:buNone/>
            </a:pPr>
            <a:r>
              <a:rPr lang="en-US" sz="950" i="1" dirty="0">
                <a:solidFill>
                  <a:srgbClr val="FF8A3D"/>
                </a:solidFill>
                <a:latin typeface="Consolas" pitchFamily="34" charset="0"/>
                <a:ea typeface="Consolas" pitchFamily="34" charset="-122"/>
                <a:cs typeface="Consolas" pitchFamily="34" charset="-120"/>
              </a:rPr>
              <a:t>“Show me revenue by region”</a:t>
            </a:r>
            <a:endParaRPr lang="en-US" sz="950" dirty="0"/>
          </a:p>
        </p:txBody>
      </p:sp>
      <p:sp>
        <p:nvSpPr>
          <p:cNvPr id="28" name="Shape 26"/>
          <p:cNvSpPr/>
          <p:nvPr/>
        </p:nvSpPr>
        <p:spPr>
          <a:xfrm>
            <a:off x="6309360" y="3447288"/>
            <a:ext cx="5257800" cy="777240"/>
          </a:xfrm>
          <a:prstGeom prst="roundRect">
            <a:avLst>
              <a:gd name="adj" fmla="val 10588"/>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9" name="Shape 27"/>
          <p:cNvSpPr/>
          <p:nvPr/>
        </p:nvSpPr>
        <p:spPr>
          <a:xfrm>
            <a:off x="6547104" y="3758184"/>
            <a:ext cx="146304" cy="146304"/>
          </a:xfrm>
          <a:prstGeom prst="ellipse">
            <a:avLst/>
          </a:prstGeom>
          <a:solidFill>
            <a:srgbClr val="FF6C00"/>
          </a:solidFill>
          <a:ln/>
        </p:spPr>
      </p:sp>
      <p:sp>
        <p:nvSpPr>
          <p:cNvPr id="30" name="Text 28"/>
          <p:cNvSpPr/>
          <p:nvPr/>
        </p:nvSpPr>
        <p:spPr>
          <a:xfrm>
            <a:off x="6821424" y="3538728"/>
            <a:ext cx="4526280" cy="292608"/>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Injection</a:t>
            </a:r>
            <a:endParaRPr lang="en-US" sz="1400" dirty="0"/>
          </a:p>
        </p:txBody>
      </p:sp>
      <p:sp>
        <p:nvSpPr>
          <p:cNvPr id="31" name="Text 29"/>
          <p:cNvSpPr/>
          <p:nvPr/>
        </p:nvSpPr>
        <p:spPr>
          <a:xfrm>
            <a:off x="6821424" y="3831336"/>
            <a:ext cx="4526280" cy="310896"/>
          </a:xfrm>
          <a:prstGeom prst="rect">
            <a:avLst/>
          </a:prstGeom>
          <a:noFill/>
          <a:ln/>
        </p:spPr>
        <p:txBody>
          <a:bodyPr wrap="square" lIns="0" tIns="0" rIns="0" bIns="0" rtlCol="0" anchor="ctr"/>
          <a:lstStyle/>
          <a:p>
            <a:pPr indent="0" marL="0">
              <a:buNone/>
            </a:pPr>
            <a:r>
              <a:rPr lang="en-US" sz="950" i="1" dirty="0">
                <a:solidFill>
                  <a:srgbClr val="FF8A3D"/>
                </a:solidFill>
                <a:latin typeface="Consolas" pitchFamily="34" charset="0"/>
                <a:ea typeface="Consolas" pitchFamily="34" charset="-122"/>
                <a:cs typeface="Consolas" pitchFamily="34" charset="-120"/>
              </a:rPr>
              <a:t>“…DROP TABLE gold_customer_analytics…”</a:t>
            </a:r>
            <a:endParaRPr lang="en-US" sz="950" dirty="0"/>
          </a:p>
        </p:txBody>
      </p:sp>
      <p:sp>
        <p:nvSpPr>
          <p:cNvPr id="32" name="Shape 30"/>
          <p:cNvSpPr/>
          <p:nvPr/>
        </p:nvSpPr>
        <p:spPr>
          <a:xfrm>
            <a:off x="6309360" y="4315968"/>
            <a:ext cx="5257800" cy="777240"/>
          </a:xfrm>
          <a:prstGeom prst="roundRect">
            <a:avLst>
              <a:gd name="adj" fmla="val 10588"/>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33" name="Shape 31"/>
          <p:cNvSpPr/>
          <p:nvPr/>
        </p:nvSpPr>
        <p:spPr>
          <a:xfrm>
            <a:off x="6547104" y="4626864"/>
            <a:ext cx="146304" cy="146304"/>
          </a:xfrm>
          <a:prstGeom prst="ellipse">
            <a:avLst/>
          </a:prstGeom>
          <a:solidFill>
            <a:srgbClr val="FF6C00"/>
          </a:solidFill>
          <a:ln/>
        </p:spPr>
      </p:sp>
      <p:sp>
        <p:nvSpPr>
          <p:cNvPr id="34" name="Text 32"/>
          <p:cNvSpPr/>
          <p:nvPr/>
        </p:nvSpPr>
        <p:spPr>
          <a:xfrm>
            <a:off x="6821424" y="4407408"/>
            <a:ext cx="4526280" cy="292608"/>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Abstention</a:t>
            </a:r>
            <a:endParaRPr lang="en-US" sz="1400" dirty="0"/>
          </a:p>
        </p:txBody>
      </p:sp>
      <p:sp>
        <p:nvSpPr>
          <p:cNvPr id="35" name="Text 33"/>
          <p:cNvSpPr/>
          <p:nvPr/>
        </p:nvSpPr>
        <p:spPr>
          <a:xfrm>
            <a:off x="6821424" y="4700016"/>
            <a:ext cx="4526280" cy="310896"/>
          </a:xfrm>
          <a:prstGeom prst="rect">
            <a:avLst/>
          </a:prstGeom>
          <a:noFill/>
          <a:ln/>
        </p:spPr>
        <p:txBody>
          <a:bodyPr wrap="square" lIns="0" tIns="0" rIns="0" bIns="0" rtlCol="0" anchor="ctr"/>
          <a:lstStyle/>
          <a:p>
            <a:pPr indent="0" marL="0">
              <a:buNone/>
            </a:pPr>
            <a:r>
              <a:rPr lang="en-US" sz="950" i="1" dirty="0">
                <a:solidFill>
                  <a:srgbClr val="FF8A3D"/>
                </a:solidFill>
                <a:latin typeface="Consolas" pitchFamily="34" charset="0"/>
                <a:ea typeface="Consolas" pitchFamily="34" charset="-122"/>
                <a:cs typeface="Consolas" pitchFamily="34" charset="-120"/>
              </a:rPr>
              <a:t>“What is our vacation policy?”</a:t>
            </a:r>
            <a:endParaRPr lang="en-US" sz="950" dirty="0"/>
          </a:p>
        </p:txBody>
      </p:sp>
      <p:sp>
        <p:nvSpPr>
          <p:cNvPr id="36" name="Shape 34"/>
          <p:cNvSpPr/>
          <p:nvPr/>
        </p:nvSpPr>
        <p:spPr>
          <a:xfrm>
            <a:off x="6309360" y="5184648"/>
            <a:ext cx="5257800" cy="777240"/>
          </a:xfrm>
          <a:prstGeom prst="roundRect">
            <a:avLst>
              <a:gd name="adj" fmla="val 10588"/>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37" name="Shape 35"/>
          <p:cNvSpPr/>
          <p:nvPr/>
        </p:nvSpPr>
        <p:spPr>
          <a:xfrm>
            <a:off x="6547104" y="5495544"/>
            <a:ext cx="146304" cy="146304"/>
          </a:xfrm>
          <a:prstGeom prst="ellipse">
            <a:avLst/>
          </a:prstGeom>
          <a:solidFill>
            <a:srgbClr val="FF6C00"/>
          </a:solidFill>
          <a:ln/>
        </p:spPr>
      </p:sp>
      <p:sp>
        <p:nvSpPr>
          <p:cNvPr id="38" name="Text 36"/>
          <p:cNvSpPr/>
          <p:nvPr/>
        </p:nvSpPr>
        <p:spPr>
          <a:xfrm>
            <a:off x="6821424" y="5276088"/>
            <a:ext cx="4526280" cy="292608"/>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Entitlement</a:t>
            </a:r>
            <a:endParaRPr lang="en-US" sz="1400" dirty="0"/>
          </a:p>
        </p:txBody>
      </p:sp>
      <p:sp>
        <p:nvSpPr>
          <p:cNvPr id="39" name="Text 37"/>
          <p:cNvSpPr/>
          <p:nvPr/>
        </p:nvSpPr>
        <p:spPr>
          <a:xfrm>
            <a:off x="6821424" y="5568696"/>
            <a:ext cx="4526280" cy="310896"/>
          </a:xfrm>
          <a:prstGeom prst="rect">
            <a:avLst/>
          </a:prstGeom>
          <a:noFill/>
          <a:ln/>
        </p:spPr>
        <p:txBody>
          <a:bodyPr wrap="square" lIns="0" tIns="0" rIns="0" bIns="0" rtlCol="0" anchor="ctr"/>
          <a:lstStyle/>
          <a:p>
            <a:pPr indent="0" marL="0">
              <a:buNone/>
            </a:pPr>
            <a:r>
              <a:rPr lang="en-US" sz="950" i="1" dirty="0">
                <a:solidFill>
                  <a:srgbClr val="FF8A3D"/>
                </a:solidFill>
                <a:latin typeface="Consolas" pitchFamily="34" charset="0"/>
                <a:ea typeface="Consolas" pitchFamily="34" charset="-122"/>
                <a:cs typeface="Consolas" pitchFamily="34" charset="-120"/>
              </a:rPr>
              <a:t>“Same question, as the Analyst vs the SRE”</a:t>
            </a:r>
            <a:endParaRPr lang="en-US" sz="950" dirty="0"/>
          </a:p>
        </p:txBody>
      </p:sp>
      <p:sp>
        <p:nvSpPr>
          <p:cNvPr id="40" name="Text 38"/>
          <p:cNvSpPr/>
          <p:nvPr/>
        </p:nvSpPr>
        <p:spPr>
          <a:xfrm>
            <a:off x="640080" y="6053328"/>
            <a:ext cx="10881360" cy="274320"/>
          </a:xfrm>
          <a:prstGeom prst="rect">
            <a:avLst/>
          </a:prstGeom>
          <a:noFill/>
          <a:ln/>
        </p:spPr>
        <p:txBody>
          <a:bodyPr wrap="square" lIns="0" tIns="0" rIns="0" bIns="0" rtlCol="0" anchor="ctr"/>
          <a:lstStyle/>
          <a:p>
            <a:pPr indent="0" marL="0">
              <a:buNone/>
            </a:pPr>
            <a:r>
              <a:rPr lang="en-US" sz="1400" i="1" dirty="0">
                <a:solidFill>
                  <a:srgbClr val="FF8A3D"/>
                </a:solidFill>
                <a:latin typeface="Calibri" pitchFamily="34" charset="0"/>
                <a:ea typeface="Calibri" pitchFamily="34" charset="-122"/>
                <a:cs typeface="Calibri" pitchFamily="34" charset="-120"/>
              </a:rPr>
              <a:t>Then open the Trust Center: all eight are already on the record, with who asked and what it cost.</a:t>
            </a:r>
            <a:endParaRPr lang="en-US" sz="1400" dirty="0"/>
          </a:p>
        </p:txBody>
      </p:sp>
      <p:sp>
        <p:nvSpPr>
          <p:cNvPr id="41" name="Text 39"/>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05</a:t>
            </a:r>
            <a:endParaRPr lang="en-US" sz="1000" dirty="0"/>
          </a:p>
        </p:txBody>
      </p:sp>
      <p:sp>
        <p:nvSpPr>
          <p:cNvPr id="42" name="Text 40"/>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621"/>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CAPABILITY · 1</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Real insight, computed from real data</a:t>
            </a:r>
            <a:endParaRPr lang="en-US" sz="3200" dirty="0"/>
          </a:p>
        </p:txBody>
      </p:sp>
      <p:pic>
        <p:nvPicPr>
          <p:cNvPr id="5" name="Image 0" descr="/private/tmp/claude-501/-Users-atharvvani-Downloads-DataBricks/437ba0b1-41b9-48e1-95cf-333721d11260/scratchpad/deck_assets/anomaly_rate.png">    </p:cNvPr>
          <p:cNvPicPr>
            <a:picLocks noChangeAspect="1"/>
          </p:cNvPicPr>
          <p:nvPr/>
        </p:nvPicPr>
        <p:blipFill>
          <a:blip r:embed="rId1"/>
          <a:stretch>
            <a:fillRect/>
          </a:stretch>
        </p:blipFill>
        <p:spPr>
          <a:xfrm>
            <a:off x="640080" y="1828800"/>
            <a:ext cx="6949440" cy="2916936"/>
          </a:xfrm>
          <a:prstGeom prst="rect">
            <a:avLst/>
          </a:prstGeom>
        </p:spPr>
      </p:pic>
      <p:sp>
        <p:nvSpPr>
          <p:cNvPr id="6" name="Text 3"/>
          <p:cNvSpPr/>
          <p:nvPr/>
        </p:nvSpPr>
        <p:spPr>
          <a:xfrm>
            <a:off x="7955280" y="1783080"/>
            <a:ext cx="3566160" cy="365760"/>
          </a:xfrm>
          <a:prstGeom prst="rect">
            <a:avLst/>
          </a:prstGeom>
          <a:noFill/>
          <a:ln/>
        </p:spPr>
        <p:txBody>
          <a:bodyPr wrap="square" lIns="0" tIns="0" rIns="0" bIns="0" rtlCol="0" anchor="ctr"/>
          <a:lstStyle/>
          <a:p>
            <a:pPr indent="0" marL="0">
              <a:buNone/>
            </a:pPr>
            <a:r>
              <a:rPr lang="en-US" sz="1300" b="1" dirty="0">
                <a:solidFill>
                  <a:srgbClr val="FF8A3D"/>
                </a:solidFill>
                <a:latin typeface="Calibri" pitchFamily="34" charset="0"/>
                <a:ea typeface="Calibri" pitchFamily="34" charset="-122"/>
                <a:cs typeface="Calibri" pitchFamily="34" charset="-120"/>
              </a:rPr>
              <a:t>Agent's answer for CUST_404</a:t>
            </a:r>
            <a:endParaRPr lang="en-US" sz="1300" dirty="0"/>
          </a:p>
        </p:txBody>
      </p:sp>
      <p:sp>
        <p:nvSpPr>
          <p:cNvPr id="7" name="Shape 4"/>
          <p:cNvSpPr/>
          <p:nvPr/>
        </p:nvSpPr>
        <p:spPr>
          <a:xfrm>
            <a:off x="7955280" y="2194560"/>
            <a:ext cx="3566160" cy="932688"/>
          </a:xfrm>
          <a:prstGeom prst="roundRect">
            <a:avLst>
              <a:gd name="adj" fmla="val 8824"/>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8" name="Text 5"/>
          <p:cNvSpPr/>
          <p:nvPr/>
        </p:nvSpPr>
        <p:spPr>
          <a:xfrm>
            <a:off x="8211312" y="2267712"/>
            <a:ext cx="1737360" cy="786384"/>
          </a:xfrm>
          <a:prstGeom prst="rect">
            <a:avLst/>
          </a:prstGeom>
          <a:noFill/>
          <a:ln/>
        </p:spPr>
        <p:txBody>
          <a:bodyPr wrap="square" lIns="0" tIns="0" rIns="0" bIns="0" rtlCol="0" anchor="ctr"/>
          <a:lstStyle/>
          <a:p>
            <a:pPr indent="0" marL="0">
              <a:buNone/>
            </a:pPr>
            <a:r>
              <a:rPr lang="en-US" sz="3000" b="1" dirty="0">
                <a:solidFill>
                  <a:srgbClr val="E9EEF3"/>
                </a:solidFill>
                <a:latin typeface="Cambria" pitchFamily="34" charset="0"/>
                <a:ea typeface="Cambria" pitchFamily="34" charset="-122"/>
                <a:cs typeface="Cambria" pitchFamily="34" charset="-120"/>
              </a:rPr>
              <a:t>82.35%</a:t>
            </a:r>
            <a:endParaRPr lang="en-US" sz="3000" dirty="0"/>
          </a:p>
        </p:txBody>
      </p:sp>
      <p:sp>
        <p:nvSpPr>
          <p:cNvPr id="9" name="Text 6"/>
          <p:cNvSpPr/>
          <p:nvPr/>
        </p:nvSpPr>
        <p:spPr>
          <a:xfrm>
            <a:off x="9829800" y="2267712"/>
            <a:ext cx="1554480" cy="786384"/>
          </a:xfrm>
          <a:prstGeom prst="rect">
            <a:avLst/>
          </a:prstGeom>
          <a:noFill/>
          <a:ln/>
        </p:spPr>
        <p:txBody>
          <a:bodyPr wrap="square" lIns="0" tIns="0" rIns="0" bIns="0" rtlCol="0" anchor="ctr"/>
          <a:lstStyle/>
          <a:p>
            <a:pPr indent="0" marL="0">
              <a:buNone/>
            </a:pPr>
            <a:r>
              <a:rPr lang="en-US" sz="1250" dirty="0">
                <a:solidFill>
                  <a:srgbClr val="93A1AF"/>
                </a:solidFill>
                <a:latin typeface="Calibri" pitchFamily="34" charset="0"/>
                <a:ea typeface="Calibri" pitchFamily="34" charset="-122"/>
                <a:cs typeface="Calibri" pitchFamily="34" charset="-120"/>
              </a:rPr>
              <a:t>of traffic classified anomalous</a:t>
            </a:r>
            <a:endParaRPr lang="en-US" sz="1250" dirty="0"/>
          </a:p>
        </p:txBody>
      </p:sp>
      <p:sp>
        <p:nvSpPr>
          <p:cNvPr id="10" name="Shape 7"/>
          <p:cNvSpPr/>
          <p:nvPr/>
        </p:nvSpPr>
        <p:spPr>
          <a:xfrm>
            <a:off x="7955280" y="3255264"/>
            <a:ext cx="3566160" cy="932688"/>
          </a:xfrm>
          <a:prstGeom prst="roundRect">
            <a:avLst>
              <a:gd name="adj" fmla="val 8824"/>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1" name="Text 8"/>
          <p:cNvSpPr/>
          <p:nvPr/>
        </p:nvSpPr>
        <p:spPr>
          <a:xfrm>
            <a:off x="8211312" y="3328416"/>
            <a:ext cx="1737360" cy="786384"/>
          </a:xfrm>
          <a:prstGeom prst="rect">
            <a:avLst/>
          </a:prstGeom>
          <a:noFill/>
          <a:ln/>
        </p:spPr>
        <p:txBody>
          <a:bodyPr wrap="square" lIns="0" tIns="0" rIns="0" bIns="0" rtlCol="0" anchor="ctr"/>
          <a:lstStyle/>
          <a:p>
            <a:pPr indent="0" marL="0">
              <a:buNone/>
            </a:pPr>
            <a:r>
              <a:rPr lang="en-US" sz="3000" b="1" dirty="0">
                <a:solidFill>
                  <a:srgbClr val="E9EEF3"/>
                </a:solidFill>
                <a:latin typeface="Cambria" pitchFamily="34" charset="0"/>
                <a:ea typeface="Cambria" pitchFamily="34" charset="-122"/>
                <a:cs typeface="Cambria" pitchFamily="34" charset="-120"/>
              </a:rPr>
              <a:t>6.0×</a:t>
            </a:r>
            <a:endParaRPr lang="en-US" sz="3000" dirty="0"/>
          </a:p>
        </p:txBody>
      </p:sp>
      <p:sp>
        <p:nvSpPr>
          <p:cNvPr id="12" name="Text 9"/>
          <p:cNvSpPr/>
          <p:nvPr/>
        </p:nvSpPr>
        <p:spPr>
          <a:xfrm>
            <a:off x="9829800" y="3328416"/>
            <a:ext cx="1554480" cy="786384"/>
          </a:xfrm>
          <a:prstGeom prst="rect">
            <a:avLst/>
          </a:prstGeom>
          <a:noFill/>
          <a:ln/>
        </p:spPr>
        <p:txBody>
          <a:bodyPr wrap="square" lIns="0" tIns="0" rIns="0" bIns="0" rtlCol="0" anchor="ctr"/>
          <a:lstStyle/>
          <a:p>
            <a:pPr indent="0" marL="0">
              <a:buNone/>
            </a:pPr>
            <a:r>
              <a:rPr lang="en-US" sz="1250" dirty="0">
                <a:solidFill>
                  <a:srgbClr val="93A1AF"/>
                </a:solidFill>
                <a:latin typeface="Calibri" pitchFamily="34" charset="0"/>
                <a:ea typeface="Calibri" pitchFamily="34" charset="-122"/>
                <a:cs typeface="Calibri" pitchFamily="34" charset="-120"/>
              </a:rPr>
              <a:t>the fleet-baseline latency</a:t>
            </a:r>
            <a:endParaRPr lang="en-US" sz="1250" dirty="0"/>
          </a:p>
        </p:txBody>
      </p:sp>
      <p:sp>
        <p:nvSpPr>
          <p:cNvPr id="13" name="Shape 10"/>
          <p:cNvSpPr/>
          <p:nvPr/>
        </p:nvSpPr>
        <p:spPr>
          <a:xfrm>
            <a:off x="7955280" y="4315968"/>
            <a:ext cx="3566160" cy="932688"/>
          </a:xfrm>
          <a:prstGeom prst="roundRect">
            <a:avLst>
              <a:gd name="adj" fmla="val 8824"/>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4" name="Text 11"/>
          <p:cNvSpPr/>
          <p:nvPr/>
        </p:nvSpPr>
        <p:spPr>
          <a:xfrm>
            <a:off x="8211312" y="4389120"/>
            <a:ext cx="1737360" cy="786384"/>
          </a:xfrm>
          <a:prstGeom prst="rect">
            <a:avLst/>
          </a:prstGeom>
          <a:noFill/>
          <a:ln/>
        </p:spPr>
        <p:txBody>
          <a:bodyPr wrap="square" lIns="0" tIns="0" rIns="0" bIns="0" rtlCol="0" anchor="ctr"/>
          <a:lstStyle/>
          <a:p>
            <a:pPr indent="0" marL="0">
              <a:buNone/>
            </a:pPr>
            <a:r>
              <a:rPr lang="en-US" sz="3000" b="1" dirty="0">
                <a:solidFill>
                  <a:srgbClr val="E9EEF3"/>
                </a:solidFill>
                <a:latin typeface="Cambria" pitchFamily="34" charset="0"/>
                <a:ea typeface="Cambria" pitchFamily="34" charset="-122"/>
                <a:cs typeface="Cambria" pitchFamily="34" charset="-120"/>
              </a:rPr>
              <a:t>42 / 51</a:t>
            </a:r>
            <a:endParaRPr lang="en-US" sz="3000" dirty="0"/>
          </a:p>
        </p:txBody>
      </p:sp>
      <p:sp>
        <p:nvSpPr>
          <p:cNvPr id="15" name="Text 12"/>
          <p:cNvSpPr/>
          <p:nvPr/>
        </p:nvSpPr>
        <p:spPr>
          <a:xfrm>
            <a:off x="9829800" y="4389120"/>
            <a:ext cx="1554480" cy="786384"/>
          </a:xfrm>
          <a:prstGeom prst="rect">
            <a:avLst/>
          </a:prstGeom>
          <a:noFill/>
          <a:ln/>
        </p:spPr>
        <p:txBody>
          <a:bodyPr wrap="square" lIns="0" tIns="0" rIns="0" bIns="0" rtlCol="0" anchor="ctr"/>
          <a:lstStyle/>
          <a:p>
            <a:pPr indent="0" marL="0">
              <a:buNone/>
            </a:pPr>
            <a:r>
              <a:rPr lang="en-US" sz="1250" dirty="0">
                <a:solidFill>
                  <a:srgbClr val="93A1AF"/>
                </a:solidFill>
                <a:latin typeface="Calibri" pitchFamily="34" charset="0"/>
                <a:ea typeface="Calibri" pitchFamily="34" charset="-122"/>
                <a:cs typeface="Calibri" pitchFamily="34" charset="-120"/>
              </a:rPr>
              <a:t>events over the 3σ threshold</a:t>
            </a:r>
            <a:endParaRPr lang="en-US" sz="1250" dirty="0"/>
          </a:p>
        </p:txBody>
      </p:sp>
      <p:sp>
        <p:nvSpPr>
          <p:cNvPr id="16" name="Text 13"/>
          <p:cNvSpPr/>
          <p:nvPr/>
        </p:nvSpPr>
        <p:spPr>
          <a:xfrm>
            <a:off x="640080" y="5074920"/>
            <a:ext cx="10881360" cy="640080"/>
          </a:xfrm>
          <a:prstGeom prst="rect">
            <a:avLst/>
          </a:prstGeom>
          <a:noFill/>
          <a:ln/>
        </p:spPr>
        <p:txBody>
          <a:bodyPr wrap="square" lIns="0" tIns="0" rIns="0" bIns="0" rtlCol="0" anchor="ctr"/>
          <a:lstStyle/>
          <a:p>
            <a:pPr indent="0" marL="0">
              <a:lnSpc>
                <a:spcPct val="110000"/>
              </a:lnSpc>
              <a:buNone/>
            </a:pPr>
            <a:r>
              <a:rPr lang="en-US" sz="1450" i="1" dirty="0">
                <a:solidFill>
                  <a:srgbClr val="93A1AF"/>
                </a:solidFill>
                <a:latin typeface="Calibri" pitchFamily="34" charset="0"/>
                <a:ea typeface="Calibri" pitchFamily="34" charset="-122"/>
                <a:cs typeface="Calibri" pitchFamily="34" charset="-120"/>
              </a:rPr>
              <a:t>Seeding is deterministic — clone the repo, run one command, and reproduce these exact figures. CI asserts them on every push.</a:t>
            </a:r>
            <a:endParaRPr lang="en-US" sz="1450" dirty="0"/>
          </a:p>
        </p:txBody>
      </p:sp>
      <p:sp>
        <p:nvSpPr>
          <p:cNvPr id="17" name="Text 14"/>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06</a:t>
            </a:r>
            <a:endParaRPr lang="en-US" sz="1000" dirty="0"/>
          </a:p>
        </p:txBody>
      </p:sp>
      <p:sp>
        <p:nvSpPr>
          <p:cNvPr id="18" name="Text 15"/>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621"/>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CAPABILITY · 2–4</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One question, N governed tools</a:t>
            </a:r>
            <a:endParaRPr lang="en-US" sz="3200" dirty="0"/>
          </a:p>
        </p:txBody>
      </p:sp>
      <p:sp>
        <p:nvSpPr>
          <p:cNvPr id="5" name="Text 3"/>
          <p:cNvSpPr/>
          <p:nvPr/>
        </p:nvSpPr>
        <p:spPr>
          <a:xfrm>
            <a:off x="640080" y="1783080"/>
            <a:ext cx="10789920" cy="411480"/>
          </a:xfrm>
          <a:prstGeom prst="rect">
            <a:avLst/>
          </a:prstGeom>
          <a:noFill/>
          <a:ln/>
        </p:spPr>
        <p:txBody>
          <a:bodyPr wrap="square" lIns="0" tIns="0" rIns="0" bIns="0" rtlCol="0" anchor="ctr"/>
          <a:lstStyle/>
          <a:p>
            <a:pPr indent="0" marL="0">
              <a:buNone/>
            </a:pPr>
            <a:r>
              <a:rPr lang="en-US" sz="1550" dirty="0">
                <a:solidFill>
                  <a:srgbClr val="93A1AF"/>
                </a:solidFill>
                <a:latin typeface="Calibri" pitchFamily="34" charset="0"/>
                <a:ea typeface="Calibri" pitchFamily="34" charset="-122"/>
                <a:cs typeface="Calibri" pitchFamily="34" charset="-120"/>
              </a:rPr>
              <a:t>A real operational question needs a number </a:t>
            </a:r>
            <a:pPr indent="0" marL="0">
              <a:buNone/>
            </a:pPr>
            <a:r>
              <a:rPr lang="en-US" sz="1550" b="1" i="1" dirty="0">
                <a:solidFill>
                  <a:srgbClr val="E9EEF3"/>
                </a:solidFill>
                <a:latin typeface="Calibri" pitchFamily="34" charset="0"/>
                <a:ea typeface="Calibri" pitchFamily="34" charset="-122"/>
                <a:cs typeface="Calibri" pitchFamily="34" charset="-120"/>
              </a:rPr>
              <a:t>and</a:t>
            </a:r>
            <a:pPr indent="0" marL="0">
              <a:buNone/>
            </a:pPr>
            <a:r>
              <a:rPr lang="en-US" sz="1550" dirty="0">
                <a:solidFill>
                  <a:srgbClr val="93A1AF"/>
                </a:solidFill>
                <a:latin typeface="Calibri" pitchFamily="34" charset="0"/>
                <a:ea typeface="Calibri" pitchFamily="34" charset="-122"/>
                <a:cs typeface="Calibri" pitchFamily="34" charset="-120"/>
              </a:rPr>
              <a:t> a procedure — or several customers at once. Each call clears the boundary on its own.</a:t>
            </a:r>
            <a:endParaRPr lang="en-US" sz="1550" dirty="0"/>
          </a:p>
        </p:txBody>
      </p:sp>
      <p:sp>
        <p:nvSpPr>
          <p:cNvPr id="6" name="Shape 4"/>
          <p:cNvSpPr/>
          <p:nvPr/>
        </p:nvSpPr>
        <p:spPr>
          <a:xfrm>
            <a:off x="640080" y="2331720"/>
            <a:ext cx="10927080" cy="1097280"/>
          </a:xfrm>
          <a:prstGeom prst="roundRect">
            <a:avLst>
              <a:gd name="adj" fmla="val 7500"/>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7" name="Text 5"/>
          <p:cNvSpPr/>
          <p:nvPr/>
        </p:nvSpPr>
        <p:spPr>
          <a:xfrm>
            <a:off x="932688" y="2459736"/>
            <a:ext cx="1463040" cy="292608"/>
          </a:xfrm>
          <a:prstGeom prst="rect">
            <a:avLst/>
          </a:prstGeom>
          <a:noFill/>
          <a:ln/>
        </p:spPr>
        <p:txBody>
          <a:bodyPr wrap="square" lIns="0" tIns="0" rIns="0" bIns="0" rtlCol="0" anchor="ctr"/>
          <a:lstStyle/>
          <a:p>
            <a:pPr indent="0" marL="0">
              <a:buNone/>
            </a:pPr>
            <a:r>
              <a:rPr lang="en-US" sz="1450" b="1" dirty="0">
                <a:solidFill>
                  <a:srgbClr val="FF8A3D"/>
                </a:solidFill>
                <a:latin typeface="Calibri" pitchFamily="34" charset="0"/>
                <a:ea typeface="Calibri" pitchFamily="34" charset="-122"/>
                <a:cs typeface="Calibri" pitchFamily="34" charset="-120"/>
              </a:rPr>
              <a:t>Hybrid</a:t>
            </a:r>
            <a:endParaRPr lang="en-US" sz="1450" dirty="0"/>
          </a:p>
        </p:txBody>
      </p:sp>
      <p:sp>
        <p:nvSpPr>
          <p:cNvPr id="8" name="Text 6"/>
          <p:cNvSpPr/>
          <p:nvPr/>
        </p:nvSpPr>
        <p:spPr>
          <a:xfrm>
            <a:off x="2468880" y="2459736"/>
            <a:ext cx="4114800" cy="292608"/>
          </a:xfrm>
          <a:prstGeom prst="rect">
            <a:avLst/>
          </a:prstGeom>
          <a:noFill/>
          <a:ln/>
        </p:spPr>
        <p:txBody>
          <a:bodyPr wrap="square" lIns="0" tIns="0" rIns="0" bIns="0" rtlCol="0" anchor="ctr"/>
          <a:lstStyle/>
          <a:p>
            <a:pPr indent="0" marL="0">
              <a:buNone/>
            </a:pPr>
            <a:r>
              <a:rPr lang="en-US" sz="1000" i="1" dirty="0">
                <a:solidFill>
                  <a:srgbClr val="E9EEF3"/>
                </a:solidFill>
                <a:latin typeface="Consolas" pitchFamily="34" charset="0"/>
                <a:ea typeface="Consolas" pitchFamily="34" charset="-122"/>
                <a:cs typeface="Consolas" pitchFamily="34" charset="-120"/>
              </a:rPr>
              <a:t>“CUST_404 is flagged — what should we do?”</a:t>
            </a:r>
            <a:endParaRPr lang="en-US" sz="1000" dirty="0"/>
          </a:p>
        </p:txBody>
      </p:sp>
      <p:sp>
        <p:nvSpPr>
          <p:cNvPr id="9" name="Text 7"/>
          <p:cNvSpPr/>
          <p:nvPr/>
        </p:nvSpPr>
        <p:spPr>
          <a:xfrm>
            <a:off x="932688" y="2834640"/>
            <a:ext cx="5669280" cy="274320"/>
          </a:xfrm>
          <a:prstGeom prst="rect">
            <a:avLst/>
          </a:prstGeom>
          <a:noFill/>
          <a:ln/>
        </p:spPr>
        <p:txBody>
          <a:bodyPr wrap="square" lIns="0" tIns="0" rIns="0" bIns="0" rtlCol="0" anchor="ctr"/>
          <a:lstStyle/>
          <a:p>
            <a:pPr indent="0" marL="0">
              <a:buNone/>
            </a:pPr>
            <a:r>
              <a:rPr lang="en-US" sz="1000" dirty="0">
                <a:solidFill>
                  <a:srgbClr val="3FB950"/>
                </a:solidFill>
                <a:latin typeface="Consolas" pitchFamily="34" charset="0"/>
                <a:ea typeface="Consolas" pitchFamily="34" charset="-122"/>
                <a:cs typeface="Consolas" pitchFamily="34" charset="-120"/>
              </a:rPr>
              <a:t>get_customer_anomaly_score  +  search_knowledge_base</a:t>
            </a:r>
            <a:endParaRPr lang="en-US" sz="1000" dirty="0"/>
          </a:p>
        </p:txBody>
      </p:sp>
      <p:sp>
        <p:nvSpPr>
          <p:cNvPr id="10" name="Text 8"/>
          <p:cNvSpPr/>
          <p:nvPr/>
        </p:nvSpPr>
        <p:spPr>
          <a:xfrm>
            <a:off x="6903720" y="2459736"/>
            <a:ext cx="4480560" cy="822960"/>
          </a:xfrm>
          <a:prstGeom prst="rect">
            <a:avLst/>
          </a:prstGeom>
          <a:noFill/>
          <a:ln/>
        </p:spPr>
        <p:txBody>
          <a:bodyPr wrap="square" lIns="0" tIns="0" rIns="0" bIns="0" rtlCol="0" anchor="ctr"/>
          <a:lstStyle/>
          <a:p>
            <a:pPr indent="0" marL="0">
              <a:lnSpc>
                <a:spcPct val="105000"/>
              </a:lnSpc>
              <a:buNone/>
            </a:pPr>
            <a:r>
              <a:rPr lang="en-US" sz="1200" dirty="0">
                <a:solidFill>
                  <a:srgbClr val="93A1AF"/>
                </a:solidFill>
                <a:latin typeface="Calibri" pitchFamily="34" charset="0"/>
                <a:ea typeface="Calibri" pitchFamily="34" charset="-122"/>
                <a:cs typeface="Calibri" pitchFamily="34" charset="-120"/>
              </a:rPr>
              <a:t>The live metric, plus the remediation procedure cited to the SRE Runbook.</a:t>
            </a:r>
            <a:endParaRPr lang="en-US" sz="1200" dirty="0"/>
          </a:p>
        </p:txBody>
      </p:sp>
      <p:sp>
        <p:nvSpPr>
          <p:cNvPr id="11" name="Shape 9"/>
          <p:cNvSpPr/>
          <p:nvPr/>
        </p:nvSpPr>
        <p:spPr>
          <a:xfrm>
            <a:off x="640080" y="3538728"/>
            <a:ext cx="10927080" cy="1097280"/>
          </a:xfrm>
          <a:prstGeom prst="roundRect">
            <a:avLst>
              <a:gd name="adj" fmla="val 7500"/>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2" name="Text 10"/>
          <p:cNvSpPr/>
          <p:nvPr/>
        </p:nvSpPr>
        <p:spPr>
          <a:xfrm>
            <a:off x="932688" y="3666744"/>
            <a:ext cx="1463040" cy="292608"/>
          </a:xfrm>
          <a:prstGeom prst="rect">
            <a:avLst/>
          </a:prstGeom>
          <a:noFill/>
          <a:ln/>
        </p:spPr>
        <p:txBody>
          <a:bodyPr wrap="square" lIns="0" tIns="0" rIns="0" bIns="0" rtlCol="0" anchor="ctr"/>
          <a:lstStyle/>
          <a:p>
            <a:pPr indent="0" marL="0">
              <a:buNone/>
            </a:pPr>
            <a:r>
              <a:rPr lang="en-US" sz="1450" b="1" dirty="0">
                <a:solidFill>
                  <a:srgbClr val="FF8A3D"/>
                </a:solidFill>
                <a:latin typeface="Calibri" pitchFamily="34" charset="0"/>
                <a:ea typeface="Calibri" pitchFamily="34" charset="-122"/>
                <a:cs typeface="Calibri" pitchFamily="34" charset="-120"/>
              </a:rPr>
              <a:t>Comparison</a:t>
            </a:r>
            <a:endParaRPr lang="en-US" sz="1450" dirty="0"/>
          </a:p>
        </p:txBody>
      </p:sp>
      <p:sp>
        <p:nvSpPr>
          <p:cNvPr id="13" name="Text 11"/>
          <p:cNvSpPr/>
          <p:nvPr/>
        </p:nvSpPr>
        <p:spPr>
          <a:xfrm>
            <a:off x="2468880" y="3666744"/>
            <a:ext cx="4114800" cy="292608"/>
          </a:xfrm>
          <a:prstGeom prst="rect">
            <a:avLst/>
          </a:prstGeom>
          <a:noFill/>
          <a:ln/>
        </p:spPr>
        <p:txBody>
          <a:bodyPr wrap="square" lIns="0" tIns="0" rIns="0" bIns="0" rtlCol="0" anchor="ctr"/>
          <a:lstStyle/>
          <a:p>
            <a:pPr indent="0" marL="0">
              <a:buNone/>
            </a:pPr>
            <a:r>
              <a:rPr lang="en-US" sz="1000" i="1" dirty="0">
                <a:solidFill>
                  <a:srgbClr val="E9EEF3"/>
                </a:solidFill>
                <a:latin typeface="Consolas" pitchFamily="34" charset="0"/>
                <a:ea typeface="Consolas" pitchFamily="34" charset="-122"/>
                <a:cs typeface="Consolas" pitchFamily="34" charset="-120"/>
              </a:rPr>
              <a:t>“Compare CUST_404 and CUST_417”</a:t>
            </a:r>
            <a:endParaRPr lang="en-US" sz="1000" dirty="0"/>
          </a:p>
        </p:txBody>
      </p:sp>
      <p:sp>
        <p:nvSpPr>
          <p:cNvPr id="14" name="Text 12"/>
          <p:cNvSpPr/>
          <p:nvPr/>
        </p:nvSpPr>
        <p:spPr>
          <a:xfrm>
            <a:off x="932688" y="4041648"/>
            <a:ext cx="5669280" cy="274320"/>
          </a:xfrm>
          <a:prstGeom prst="rect">
            <a:avLst/>
          </a:prstGeom>
          <a:noFill/>
          <a:ln/>
        </p:spPr>
        <p:txBody>
          <a:bodyPr wrap="square" lIns="0" tIns="0" rIns="0" bIns="0" rtlCol="0" anchor="ctr"/>
          <a:lstStyle/>
          <a:p>
            <a:pPr indent="0" marL="0">
              <a:buNone/>
            </a:pPr>
            <a:r>
              <a:rPr lang="en-US" sz="1000" dirty="0">
                <a:solidFill>
                  <a:srgbClr val="3FB950"/>
                </a:solidFill>
                <a:latin typeface="Consolas" pitchFamily="34" charset="0"/>
                <a:ea typeface="Consolas" pitchFamily="34" charset="-122"/>
                <a:cs typeface="Consolas" pitchFamily="34" charset="-120"/>
              </a:rPr>
              <a:t>get_customer_anomaly_score  ×2</a:t>
            </a:r>
            <a:endParaRPr lang="en-US" sz="1000" dirty="0"/>
          </a:p>
        </p:txBody>
      </p:sp>
      <p:sp>
        <p:nvSpPr>
          <p:cNvPr id="15" name="Text 13"/>
          <p:cNvSpPr/>
          <p:nvPr/>
        </p:nvSpPr>
        <p:spPr>
          <a:xfrm>
            <a:off x="6903720" y="3666744"/>
            <a:ext cx="4480560" cy="822960"/>
          </a:xfrm>
          <a:prstGeom prst="rect">
            <a:avLst/>
          </a:prstGeom>
          <a:noFill/>
          <a:ln/>
        </p:spPr>
        <p:txBody>
          <a:bodyPr wrap="square" lIns="0" tIns="0" rIns="0" bIns="0" rtlCol="0" anchor="ctr"/>
          <a:lstStyle/>
          <a:p>
            <a:pPr indent="0" marL="0">
              <a:lnSpc>
                <a:spcPct val="105000"/>
              </a:lnSpc>
              <a:buNone/>
            </a:pPr>
            <a:r>
              <a:rPr lang="en-US" sz="1200" dirty="0">
                <a:solidFill>
                  <a:srgbClr val="93A1AF"/>
                </a:solidFill>
                <a:latin typeface="Calibri" pitchFamily="34" charset="0"/>
                <a:ea typeface="Calibri" pitchFamily="34" charset="-122"/>
                <a:cs typeface="Calibri" pitchFamily="34" charset="-120"/>
              </a:rPr>
              <a:t>One call per customer, then a ranked answer naming who to fix first.</a:t>
            </a:r>
            <a:endParaRPr lang="en-US" sz="1200" dirty="0"/>
          </a:p>
        </p:txBody>
      </p:sp>
      <p:sp>
        <p:nvSpPr>
          <p:cNvPr id="16" name="Shape 14"/>
          <p:cNvSpPr/>
          <p:nvPr/>
        </p:nvSpPr>
        <p:spPr>
          <a:xfrm>
            <a:off x="640080" y="4745736"/>
            <a:ext cx="10927080" cy="1097280"/>
          </a:xfrm>
          <a:prstGeom prst="roundRect">
            <a:avLst>
              <a:gd name="adj" fmla="val 7500"/>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7" name="Text 15"/>
          <p:cNvSpPr/>
          <p:nvPr/>
        </p:nvSpPr>
        <p:spPr>
          <a:xfrm>
            <a:off x="932688" y="4873752"/>
            <a:ext cx="1463040" cy="292608"/>
          </a:xfrm>
          <a:prstGeom prst="rect">
            <a:avLst/>
          </a:prstGeom>
          <a:noFill/>
          <a:ln/>
        </p:spPr>
        <p:txBody>
          <a:bodyPr wrap="square" lIns="0" tIns="0" rIns="0" bIns="0" rtlCol="0" anchor="ctr"/>
          <a:lstStyle/>
          <a:p>
            <a:pPr indent="0" marL="0">
              <a:buNone/>
            </a:pPr>
            <a:r>
              <a:rPr lang="en-US" sz="1450" b="1" dirty="0">
                <a:solidFill>
                  <a:srgbClr val="FF8A3D"/>
                </a:solidFill>
                <a:latin typeface="Calibri" pitchFamily="34" charset="0"/>
                <a:ea typeface="Calibri" pitchFamily="34" charset="-122"/>
                <a:cs typeface="Calibri" pitchFamily="34" charset="-120"/>
              </a:rPr>
              <a:t>Trend</a:t>
            </a:r>
            <a:endParaRPr lang="en-US" sz="1450" dirty="0"/>
          </a:p>
        </p:txBody>
      </p:sp>
      <p:sp>
        <p:nvSpPr>
          <p:cNvPr id="18" name="Text 16"/>
          <p:cNvSpPr/>
          <p:nvPr/>
        </p:nvSpPr>
        <p:spPr>
          <a:xfrm>
            <a:off x="2468880" y="4873752"/>
            <a:ext cx="4114800" cy="292608"/>
          </a:xfrm>
          <a:prstGeom prst="rect">
            <a:avLst/>
          </a:prstGeom>
          <a:noFill/>
          <a:ln/>
        </p:spPr>
        <p:txBody>
          <a:bodyPr wrap="square" lIns="0" tIns="0" rIns="0" bIns="0" rtlCol="0" anchor="ctr"/>
          <a:lstStyle/>
          <a:p>
            <a:pPr indent="0" marL="0">
              <a:buNone/>
            </a:pPr>
            <a:r>
              <a:rPr lang="en-US" sz="1000" i="1" dirty="0">
                <a:solidFill>
                  <a:srgbClr val="E9EEF3"/>
                </a:solidFill>
                <a:latin typeface="Consolas" pitchFamily="34" charset="0"/>
                <a:ea typeface="Consolas" pitchFamily="34" charset="-122"/>
                <a:cs typeface="Consolas" pitchFamily="34" charset="-120"/>
              </a:rPr>
              <a:t>“Is CUST_404 getting worse over time?”</a:t>
            </a:r>
            <a:endParaRPr lang="en-US" sz="1000" dirty="0"/>
          </a:p>
        </p:txBody>
      </p:sp>
      <p:sp>
        <p:nvSpPr>
          <p:cNvPr id="19" name="Text 17"/>
          <p:cNvSpPr/>
          <p:nvPr/>
        </p:nvSpPr>
        <p:spPr>
          <a:xfrm>
            <a:off x="932688" y="5248656"/>
            <a:ext cx="5669280" cy="274320"/>
          </a:xfrm>
          <a:prstGeom prst="rect">
            <a:avLst/>
          </a:prstGeom>
          <a:noFill/>
          <a:ln/>
        </p:spPr>
        <p:txBody>
          <a:bodyPr wrap="square" lIns="0" tIns="0" rIns="0" bIns="0" rtlCol="0" anchor="ctr"/>
          <a:lstStyle/>
          <a:p>
            <a:pPr indent="0" marL="0">
              <a:buNone/>
            </a:pPr>
            <a:r>
              <a:rPr lang="en-US" sz="1000" dirty="0">
                <a:solidFill>
                  <a:srgbClr val="3FB950"/>
                </a:solidFill>
                <a:latin typeface="Consolas" pitchFamily="34" charset="0"/>
                <a:ea typeface="Consolas" pitchFamily="34" charset="-122"/>
                <a:cs typeface="Consolas" pitchFamily="34" charset="-120"/>
              </a:rPr>
              <a:t>get_customer_timeline</a:t>
            </a:r>
            <a:endParaRPr lang="en-US" sz="1000" dirty="0"/>
          </a:p>
        </p:txBody>
      </p:sp>
      <p:sp>
        <p:nvSpPr>
          <p:cNvPr id="20" name="Text 18"/>
          <p:cNvSpPr/>
          <p:nvPr/>
        </p:nvSpPr>
        <p:spPr>
          <a:xfrm>
            <a:off x="6903720" y="4873752"/>
            <a:ext cx="4480560" cy="822960"/>
          </a:xfrm>
          <a:prstGeom prst="rect">
            <a:avLst/>
          </a:prstGeom>
          <a:noFill/>
          <a:ln/>
        </p:spPr>
        <p:txBody>
          <a:bodyPr wrap="square" lIns="0" tIns="0" rIns="0" bIns="0" rtlCol="0" anchor="ctr"/>
          <a:lstStyle/>
          <a:p>
            <a:pPr indent="0" marL="0">
              <a:lnSpc>
                <a:spcPct val="105000"/>
              </a:lnSpc>
              <a:buNone/>
            </a:pPr>
            <a:r>
              <a:rPr lang="en-US" sz="1200" dirty="0">
                <a:solidFill>
                  <a:srgbClr val="93A1AF"/>
                </a:solidFill>
                <a:latin typeface="Calibri" pitchFamily="34" charset="0"/>
                <a:ea typeface="Calibri" pitchFamily="34" charset="-122"/>
                <a:cs typeface="Calibri" pitchFamily="34" charset="-120"/>
              </a:rPr>
              <a:t>Routes to a different governed function and reads off the trajectory.</a:t>
            </a:r>
            <a:endParaRPr lang="en-US" sz="1200" dirty="0"/>
          </a:p>
        </p:txBody>
      </p:sp>
      <p:sp>
        <p:nvSpPr>
          <p:cNvPr id="21" name="Text 19"/>
          <p:cNvSpPr/>
          <p:nvPr/>
        </p:nvSpPr>
        <p:spPr>
          <a:xfrm>
            <a:off x="640080" y="6053328"/>
            <a:ext cx="10881360" cy="274320"/>
          </a:xfrm>
          <a:prstGeom prst="rect">
            <a:avLst/>
          </a:prstGeom>
          <a:noFill/>
          <a:ln/>
        </p:spPr>
        <p:txBody>
          <a:bodyPr wrap="square" lIns="0" tIns="0" rIns="0" bIns="0" rtlCol="0" anchor="ctr"/>
          <a:lstStyle/>
          <a:p>
            <a:pPr indent="0" marL="0">
              <a:buNone/>
            </a:pPr>
            <a:r>
              <a:rPr lang="en-US" sz="1400" i="1" dirty="0">
                <a:solidFill>
                  <a:srgbClr val="FF8A3D"/>
                </a:solidFill>
                <a:latin typeface="Calibri" pitchFamily="34" charset="0"/>
                <a:ea typeface="Calibri" pitchFamily="34" charset="-122"/>
                <a:cs typeface="Calibri" pitchFamily="34" charset="-120"/>
              </a:rPr>
              <a:t>Adding the third tool changed no boundary code — registration, not redesign. That is what makes the pattern scale.</a:t>
            </a:r>
            <a:endParaRPr lang="en-US" sz="1400" dirty="0"/>
          </a:p>
        </p:txBody>
      </p:sp>
      <p:sp>
        <p:nvSpPr>
          <p:cNvPr id="22" name="Text 20"/>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07</a:t>
            </a:r>
            <a:endParaRPr lang="en-US" sz="1000" dirty="0"/>
          </a:p>
        </p:txBody>
      </p:sp>
      <p:sp>
        <p:nvSpPr>
          <p:cNvPr id="23" name="Text 21"/>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621"/>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ASSURANCE · RETRIEVAL</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Retrieval that knows when to shut up</a:t>
            </a:r>
            <a:endParaRPr lang="en-US" sz="3200" dirty="0"/>
          </a:p>
        </p:txBody>
      </p:sp>
      <p:sp>
        <p:nvSpPr>
          <p:cNvPr id="5" name="Text 3"/>
          <p:cNvSpPr/>
          <p:nvPr/>
        </p:nvSpPr>
        <p:spPr>
          <a:xfrm>
            <a:off x="640080" y="1783080"/>
            <a:ext cx="10789920" cy="457200"/>
          </a:xfrm>
          <a:prstGeom prst="rect">
            <a:avLst/>
          </a:prstGeom>
          <a:noFill/>
          <a:ln/>
        </p:spPr>
        <p:txBody>
          <a:bodyPr wrap="square" lIns="0" tIns="0" rIns="0" bIns="0" rtlCol="0" anchor="ctr"/>
          <a:lstStyle/>
          <a:p>
            <a:pPr indent="0" marL="0">
              <a:buNone/>
            </a:pPr>
            <a:r>
              <a:rPr lang="en-US" sz="1600" dirty="0">
                <a:solidFill>
                  <a:srgbClr val="93A1AF"/>
                </a:solidFill>
                <a:latin typeface="Calibri" pitchFamily="34" charset="0"/>
                <a:ea typeface="Calibri" pitchFamily="34" charset="-122"/>
                <a:cs typeface="Calibri" pitchFamily="34" charset="-120"/>
              </a:rPr>
              <a:t>The most dangerous failure in enterprise RAG is not a missing answer — it is a confident citation of the wrong document.</a:t>
            </a:r>
            <a:endParaRPr lang="en-US" sz="1600" dirty="0"/>
          </a:p>
        </p:txBody>
      </p:sp>
      <p:pic>
        <p:nvPicPr>
          <p:cNvPr id="6" name="Image 0" descr="/private/tmp/claude-501/-Users-atharvvani-Downloads-DataBricks/437ba0b1-41b9-48e1-95cf-333721d11260/scratchpad/deck_assets/abstention.png">    </p:cNvPr>
          <p:cNvPicPr>
            <a:picLocks noChangeAspect="1"/>
          </p:cNvPicPr>
          <p:nvPr/>
        </p:nvPicPr>
        <p:blipFill>
          <a:blip r:embed="rId1"/>
          <a:stretch>
            <a:fillRect/>
          </a:stretch>
        </p:blipFill>
        <p:spPr>
          <a:xfrm>
            <a:off x="640080" y="2331720"/>
            <a:ext cx="6858000" cy="2898648"/>
          </a:xfrm>
          <a:prstGeom prst="rect">
            <a:avLst/>
          </a:prstGeom>
        </p:spPr>
      </p:pic>
      <p:sp>
        <p:nvSpPr>
          <p:cNvPr id="7" name="Shape 4"/>
          <p:cNvSpPr/>
          <p:nvPr/>
        </p:nvSpPr>
        <p:spPr>
          <a:xfrm>
            <a:off x="7772400" y="2331720"/>
            <a:ext cx="146304" cy="146304"/>
          </a:xfrm>
          <a:prstGeom prst="ellipse">
            <a:avLst/>
          </a:prstGeom>
          <a:solidFill>
            <a:srgbClr val="FF6C00"/>
          </a:solidFill>
          <a:ln/>
        </p:spPr>
      </p:sp>
      <p:sp>
        <p:nvSpPr>
          <p:cNvPr id="8" name="Text 5"/>
          <p:cNvSpPr/>
          <p:nvPr/>
        </p:nvSpPr>
        <p:spPr>
          <a:xfrm>
            <a:off x="8046720" y="2212848"/>
            <a:ext cx="3520440" cy="320040"/>
          </a:xfrm>
          <a:prstGeom prst="rect">
            <a:avLst/>
          </a:prstGeom>
          <a:noFill/>
          <a:ln/>
        </p:spPr>
        <p:txBody>
          <a:bodyPr wrap="square" lIns="0" tIns="0" rIns="0" bIns="0" rtlCol="0" anchor="ctr"/>
          <a:lstStyle/>
          <a:p>
            <a:pPr indent="0" marL="0">
              <a:buNone/>
            </a:pPr>
            <a:r>
              <a:rPr lang="en-US" sz="1500" b="1" dirty="0">
                <a:solidFill>
                  <a:srgbClr val="E9EEF3"/>
                </a:solidFill>
                <a:latin typeface="Calibri" pitchFamily="34" charset="0"/>
                <a:ea typeface="Calibri" pitchFamily="34" charset="-122"/>
                <a:cs typeface="Calibri" pitchFamily="34" charset="-120"/>
              </a:rPr>
              <a:t>Similarity alone lies</a:t>
            </a:r>
            <a:endParaRPr lang="en-US" sz="1500" dirty="0"/>
          </a:p>
        </p:txBody>
      </p:sp>
      <p:sp>
        <p:nvSpPr>
          <p:cNvPr id="9" name="Text 6"/>
          <p:cNvSpPr/>
          <p:nvPr/>
        </p:nvSpPr>
        <p:spPr>
          <a:xfrm>
            <a:off x="8046720" y="2542032"/>
            <a:ext cx="3520440" cy="1051560"/>
          </a:xfrm>
          <a:prstGeom prst="rect">
            <a:avLst/>
          </a:prstGeom>
          <a:noFill/>
          <a:ln/>
        </p:spPr>
        <p:txBody>
          <a:bodyPr wrap="square" lIns="0" tIns="0" rIns="0" bIns="0" rtlCol="0" anchor="ctr"/>
          <a:lstStyle/>
          <a:p>
            <a:pPr indent="0" marL="0">
              <a:lnSpc>
                <a:spcPct val="108000"/>
              </a:lnSpc>
              <a:buNone/>
            </a:pPr>
            <a:r>
              <a:rPr lang="en-US" sz="1200" dirty="0">
                <a:solidFill>
                  <a:srgbClr val="93A1AF"/>
                </a:solidFill>
                <a:latin typeface="Calibri" pitchFamily="34" charset="0"/>
                <a:ea typeface="Calibri" pitchFamily="34" charset="-122"/>
                <a:cs typeface="Calibri" pitchFamily="34" charset="-120"/>
              </a:rPr>
              <a:t>Measured on this corpus, an off-topic question about a “vacation policy” scores higher than a legitimate one about a flagged customer — purely on the shared word “policy”.</a:t>
            </a:r>
            <a:endParaRPr lang="en-US" sz="1200" dirty="0"/>
          </a:p>
        </p:txBody>
      </p:sp>
      <p:sp>
        <p:nvSpPr>
          <p:cNvPr id="10" name="Shape 7"/>
          <p:cNvSpPr/>
          <p:nvPr/>
        </p:nvSpPr>
        <p:spPr>
          <a:xfrm>
            <a:off x="7772400" y="3630168"/>
            <a:ext cx="146304" cy="146304"/>
          </a:xfrm>
          <a:prstGeom prst="ellipse">
            <a:avLst/>
          </a:prstGeom>
          <a:solidFill>
            <a:srgbClr val="FF6C00"/>
          </a:solidFill>
          <a:ln/>
        </p:spPr>
      </p:sp>
      <p:sp>
        <p:nvSpPr>
          <p:cNvPr id="11" name="Text 8"/>
          <p:cNvSpPr/>
          <p:nvPr/>
        </p:nvSpPr>
        <p:spPr>
          <a:xfrm>
            <a:off x="8046720" y="3511296"/>
            <a:ext cx="3520440" cy="320040"/>
          </a:xfrm>
          <a:prstGeom prst="rect">
            <a:avLst/>
          </a:prstGeom>
          <a:noFill/>
          <a:ln/>
        </p:spPr>
        <p:txBody>
          <a:bodyPr wrap="square" lIns="0" tIns="0" rIns="0" bIns="0" rtlCol="0" anchor="ctr"/>
          <a:lstStyle/>
          <a:p>
            <a:pPr indent="0" marL="0">
              <a:buNone/>
            </a:pPr>
            <a:r>
              <a:rPr lang="en-US" sz="1500" b="1" dirty="0">
                <a:solidFill>
                  <a:srgbClr val="E9EEF3"/>
                </a:solidFill>
                <a:latin typeface="Calibri" pitchFamily="34" charset="0"/>
                <a:ea typeface="Calibri" pitchFamily="34" charset="-122"/>
                <a:cs typeface="Calibri" pitchFamily="34" charset="-120"/>
              </a:rPr>
              <a:t>So coverage is required</a:t>
            </a:r>
            <a:endParaRPr lang="en-US" sz="1500" dirty="0"/>
          </a:p>
        </p:txBody>
      </p:sp>
      <p:sp>
        <p:nvSpPr>
          <p:cNvPr id="12" name="Text 9"/>
          <p:cNvSpPr/>
          <p:nvPr/>
        </p:nvSpPr>
        <p:spPr>
          <a:xfrm>
            <a:off x="8046720" y="3840480"/>
            <a:ext cx="3520440" cy="1051560"/>
          </a:xfrm>
          <a:prstGeom prst="rect">
            <a:avLst/>
          </a:prstGeom>
          <a:noFill/>
          <a:ln/>
        </p:spPr>
        <p:txBody>
          <a:bodyPr wrap="square" lIns="0" tIns="0" rIns="0" bIns="0" rtlCol="0" anchor="ctr"/>
          <a:lstStyle/>
          <a:p>
            <a:pPr indent="0" marL="0">
              <a:lnSpc>
                <a:spcPct val="108000"/>
              </a:lnSpc>
              <a:buNone/>
            </a:pPr>
            <a:r>
              <a:rPr lang="en-US" sz="1200" dirty="0">
                <a:solidFill>
                  <a:srgbClr val="93A1AF"/>
                </a:solidFill>
                <a:latin typeface="Calibri" pitchFamily="34" charset="0"/>
                <a:ea typeface="Calibri" pitchFamily="34" charset="-122"/>
                <a:cs typeface="Calibri" pitchFamily="34" charset="-120"/>
              </a:rPr>
              <a:t>A hit also needs most of the question's meaningful terms to appear in the corpus. Below the threshold, the agent abstains.</a:t>
            </a:r>
            <a:endParaRPr lang="en-US" sz="1200" dirty="0"/>
          </a:p>
        </p:txBody>
      </p:sp>
      <p:sp>
        <p:nvSpPr>
          <p:cNvPr id="13" name="Shape 10"/>
          <p:cNvSpPr/>
          <p:nvPr/>
        </p:nvSpPr>
        <p:spPr>
          <a:xfrm>
            <a:off x="7772400" y="4928616"/>
            <a:ext cx="146304" cy="146304"/>
          </a:xfrm>
          <a:prstGeom prst="ellipse">
            <a:avLst/>
          </a:prstGeom>
          <a:solidFill>
            <a:srgbClr val="FF6C00"/>
          </a:solidFill>
          <a:ln/>
        </p:spPr>
      </p:sp>
      <p:sp>
        <p:nvSpPr>
          <p:cNvPr id="14" name="Text 11"/>
          <p:cNvSpPr/>
          <p:nvPr/>
        </p:nvSpPr>
        <p:spPr>
          <a:xfrm>
            <a:off x="8046720" y="4809744"/>
            <a:ext cx="3520440" cy="320040"/>
          </a:xfrm>
          <a:prstGeom prst="rect">
            <a:avLst/>
          </a:prstGeom>
          <a:noFill/>
          <a:ln/>
        </p:spPr>
        <p:txBody>
          <a:bodyPr wrap="square" lIns="0" tIns="0" rIns="0" bIns="0" rtlCol="0" anchor="ctr"/>
          <a:lstStyle/>
          <a:p>
            <a:pPr indent="0" marL="0">
              <a:buNone/>
            </a:pPr>
            <a:r>
              <a:rPr lang="en-US" sz="1500" b="1" dirty="0">
                <a:solidFill>
                  <a:srgbClr val="E9EEF3"/>
                </a:solidFill>
                <a:latin typeface="Calibri" pitchFamily="34" charset="0"/>
                <a:ea typeface="Calibri" pitchFamily="34" charset="-122"/>
                <a:cs typeface="Calibri" pitchFamily="34" charset="-120"/>
              </a:rPr>
              <a:t>It says so out loud</a:t>
            </a:r>
            <a:endParaRPr lang="en-US" sz="1500" dirty="0"/>
          </a:p>
        </p:txBody>
      </p:sp>
      <p:sp>
        <p:nvSpPr>
          <p:cNvPr id="15" name="Text 12"/>
          <p:cNvSpPr/>
          <p:nvPr/>
        </p:nvSpPr>
        <p:spPr>
          <a:xfrm>
            <a:off x="8046720" y="5138928"/>
            <a:ext cx="3520440" cy="1051560"/>
          </a:xfrm>
          <a:prstGeom prst="rect">
            <a:avLst/>
          </a:prstGeom>
          <a:noFill/>
          <a:ln/>
        </p:spPr>
        <p:txBody>
          <a:bodyPr wrap="square" lIns="0" tIns="0" rIns="0" bIns="0" rtlCol="0" anchor="ctr"/>
          <a:lstStyle/>
          <a:p>
            <a:pPr indent="0" marL="0">
              <a:lnSpc>
                <a:spcPct val="108000"/>
              </a:lnSpc>
              <a:buNone/>
            </a:pPr>
            <a:r>
              <a:rPr lang="en-US" sz="1200" dirty="0">
                <a:solidFill>
                  <a:srgbClr val="93A1AF"/>
                </a:solidFill>
                <a:latin typeface="Calibri" pitchFamily="34" charset="0"/>
                <a:ea typeface="Calibri" pitchFamily="34" charset="-122"/>
                <a:cs typeface="Calibri" pitchFamily="34" charset="-120"/>
              </a:rPr>
              <a:t>“No governed knowledge covers that question” — an honest no, not a plausible-sounding guess.</a:t>
            </a:r>
            <a:endParaRPr lang="en-US" sz="1200" dirty="0"/>
          </a:p>
        </p:txBody>
      </p:sp>
      <p:sp>
        <p:nvSpPr>
          <p:cNvPr id="16" name="Text 13"/>
          <p:cNvSpPr/>
          <p:nvPr/>
        </p:nvSpPr>
        <p:spPr>
          <a:xfrm>
            <a:off x="640080" y="6053328"/>
            <a:ext cx="10881360" cy="274320"/>
          </a:xfrm>
          <a:prstGeom prst="rect">
            <a:avLst/>
          </a:prstGeom>
          <a:noFill/>
          <a:ln/>
        </p:spPr>
        <p:txBody>
          <a:bodyPr wrap="square" lIns="0" tIns="0" rIns="0" bIns="0" rtlCol="0" anchor="ctr"/>
          <a:lstStyle/>
          <a:p>
            <a:pPr indent="0" marL="0">
              <a:buNone/>
            </a:pPr>
            <a:r>
              <a:rPr lang="en-US" sz="1400" i="1" dirty="0">
                <a:solidFill>
                  <a:srgbClr val="FF8A3D"/>
                </a:solidFill>
                <a:latin typeface="Calibri" pitchFamily="34" charset="0"/>
                <a:ea typeface="Calibri" pitchFamily="34" charset="-122"/>
                <a:cs typeface="Calibri" pitchFamily="34" charset="-120"/>
              </a:rPr>
              <a:t>A spurious citation is worse than an honest “no” — it is the failure mode that destroys trust in an AI system.</a:t>
            </a:r>
            <a:endParaRPr lang="en-US" sz="1400" dirty="0"/>
          </a:p>
        </p:txBody>
      </p:sp>
      <p:sp>
        <p:nvSpPr>
          <p:cNvPr id="17" name="Text 14"/>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08</a:t>
            </a:r>
            <a:endParaRPr lang="en-US" sz="1000" dirty="0"/>
          </a:p>
        </p:txBody>
      </p:sp>
      <p:sp>
        <p:nvSpPr>
          <p:cNvPr id="18" name="Text 15"/>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1B"/>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ASSURANCE · IDENTITY</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Same question. Different person. Different answer.</a:t>
            </a:r>
            <a:endParaRPr lang="en-US" sz="3200" dirty="0"/>
          </a:p>
        </p:txBody>
      </p:sp>
      <p:sp>
        <p:nvSpPr>
          <p:cNvPr id="5" name="Text 3"/>
          <p:cNvSpPr/>
          <p:nvPr/>
        </p:nvSpPr>
        <p:spPr>
          <a:xfrm>
            <a:off x="640080" y="1783080"/>
            <a:ext cx="10789920" cy="457200"/>
          </a:xfrm>
          <a:prstGeom prst="rect">
            <a:avLst/>
          </a:prstGeom>
          <a:noFill/>
          <a:ln/>
        </p:spPr>
        <p:txBody>
          <a:bodyPr wrap="square" lIns="0" tIns="0" rIns="0" bIns="0" rtlCol="0" anchor="ctr"/>
          <a:lstStyle/>
          <a:p>
            <a:pPr indent="0" marL="0">
              <a:buNone/>
            </a:pPr>
            <a:r>
              <a:rPr lang="en-US" sz="1600" dirty="0">
                <a:solidFill>
                  <a:srgbClr val="93A1AF"/>
                </a:solidFill>
                <a:latin typeface="Calibri" pitchFamily="34" charset="0"/>
                <a:ea typeface="Calibri" pitchFamily="34" charset="-122"/>
                <a:cs typeface="Calibri" pitchFamily="34" charset="-120"/>
              </a:rPr>
              <a:t>Bounding the agent is half of least privilege. The other half is bounding each caller — which tools they may use, and which rows they may see.</a:t>
            </a:r>
            <a:endParaRPr lang="en-US" sz="1600" dirty="0"/>
          </a:p>
        </p:txBody>
      </p:sp>
      <p:pic>
        <p:nvPicPr>
          <p:cNvPr id="6" name="Image 0" descr="/private/tmp/claude-501/-Users-atharvvani-Downloads-DataBricks/437ba0b1-41b9-48e1-95cf-333721d11260/scratchpad/deck_assets/entitlement_matrix.png">    </p:cNvPr>
          <p:cNvPicPr>
            <a:picLocks noChangeAspect="1"/>
          </p:cNvPicPr>
          <p:nvPr/>
        </p:nvPicPr>
        <p:blipFill>
          <a:blip r:embed="rId1"/>
          <a:stretch>
            <a:fillRect/>
          </a:stretch>
        </p:blipFill>
        <p:spPr>
          <a:xfrm>
            <a:off x="640080" y="2286000"/>
            <a:ext cx="7086600" cy="2852928"/>
          </a:xfrm>
          <a:prstGeom prst="rect">
            <a:avLst/>
          </a:prstGeom>
        </p:spPr>
      </p:pic>
      <p:sp>
        <p:nvSpPr>
          <p:cNvPr id="7" name="Shape 4"/>
          <p:cNvSpPr/>
          <p:nvPr/>
        </p:nvSpPr>
        <p:spPr>
          <a:xfrm>
            <a:off x="8092440" y="2286000"/>
            <a:ext cx="146304" cy="146304"/>
          </a:xfrm>
          <a:prstGeom prst="ellipse">
            <a:avLst/>
          </a:prstGeom>
          <a:solidFill>
            <a:srgbClr val="FF6C00"/>
          </a:solidFill>
          <a:ln/>
        </p:spPr>
      </p:sp>
      <p:sp>
        <p:nvSpPr>
          <p:cNvPr id="8" name="Text 5"/>
          <p:cNvSpPr/>
          <p:nvPr/>
        </p:nvSpPr>
        <p:spPr>
          <a:xfrm>
            <a:off x="8366760" y="2167128"/>
            <a:ext cx="3200400" cy="320040"/>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Grants and scopes are separate</a:t>
            </a:r>
            <a:endParaRPr lang="en-US" sz="1400" dirty="0"/>
          </a:p>
        </p:txBody>
      </p:sp>
      <p:sp>
        <p:nvSpPr>
          <p:cNvPr id="9" name="Text 6"/>
          <p:cNvSpPr/>
          <p:nvPr/>
        </p:nvSpPr>
        <p:spPr>
          <a:xfrm>
            <a:off x="8366760" y="2514600"/>
            <a:ext cx="3200400" cy="960120"/>
          </a:xfrm>
          <a:prstGeom prst="rect">
            <a:avLst/>
          </a:prstGeom>
          <a:noFill/>
          <a:ln/>
        </p:spPr>
        <p:txBody>
          <a:bodyPr wrap="square" lIns="0" tIns="0" rIns="0" bIns="0" rtlCol="0" anchor="ctr"/>
          <a:lstStyle/>
          <a:p>
            <a:pPr indent="0" marL="0">
              <a:lnSpc>
                <a:spcPct val="106000"/>
              </a:lnSpc>
              <a:buNone/>
            </a:pPr>
            <a:r>
              <a:rPr lang="en-US" sz="1150" dirty="0">
                <a:solidFill>
                  <a:srgbClr val="93A1AF"/>
                </a:solidFill>
                <a:latin typeface="Calibri" pitchFamily="34" charset="0"/>
                <a:ea typeface="Calibri" pitchFamily="34" charset="-122"/>
                <a:cs typeface="Calibri" pitchFamily="34" charset="-120"/>
              </a:rPr>
              <a:t>“You may not use that tool” is a different finding from “you may, but not on that customer.” Auditors need to tell them apart.</a:t>
            </a:r>
            <a:endParaRPr lang="en-US" sz="1150" dirty="0"/>
          </a:p>
        </p:txBody>
      </p:sp>
      <p:sp>
        <p:nvSpPr>
          <p:cNvPr id="10" name="Shape 7"/>
          <p:cNvSpPr/>
          <p:nvPr/>
        </p:nvSpPr>
        <p:spPr>
          <a:xfrm>
            <a:off x="8092440" y="3566160"/>
            <a:ext cx="146304" cy="146304"/>
          </a:xfrm>
          <a:prstGeom prst="ellipse">
            <a:avLst/>
          </a:prstGeom>
          <a:solidFill>
            <a:srgbClr val="FF6C00"/>
          </a:solidFill>
          <a:ln/>
        </p:spPr>
      </p:sp>
      <p:sp>
        <p:nvSpPr>
          <p:cNvPr id="11" name="Text 8"/>
          <p:cNvSpPr/>
          <p:nvPr/>
        </p:nvSpPr>
        <p:spPr>
          <a:xfrm>
            <a:off x="8366760" y="3447288"/>
            <a:ext cx="3200400" cy="320040"/>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Unknown callers fail closed</a:t>
            </a:r>
            <a:endParaRPr lang="en-US" sz="1400" dirty="0"/>
          </a:p>
        </p:txBody>
      </p:sp>
      <p:sp>
        <p:nvSpPr>
          <p:cNvPr id="12" name="Text 9"/>
          <p:cNvSpPr/>
          <p:nvPr/>
        </p:nvSpPr>
        <p:spPr>
          <a:xfrm>
            <a:off x="8366760" y="3794760"/>
            <a:ext cx="3200400" cy="960120"/>
          </a:xfrm>
          <a:prstGeom prst="rect">
            <a:avLst/>
          </a:prstGeom>
          <a:noFill/>
          <a:ln/>
        </p:spPr>
        <p:txBody>
          <a:bodyPr wrap="square" lIns="0" tIns="0" rIns="0" bIns="0" rtlCol="0" anchor="ctr"/>
          <a:lstStyle/>
          <a:p>
            <a:pPr indent="0" marL="0">
              <a:lnSpc>
                <a:spcPct val="106000"/>
              </a:lnSpc>
              <a:buNone/>
            </a:pPr>
            <a:r>
              <a:rPr lang="en-US" sz="1150" dirty="0">
                <a:solidFill>
                  <a:srgbClr val="93A1AF"/>
                </a:solidFill>
                <a:latin typeface="Calibri" pitchFamily="34" charset="0"/>
                <a:ea typeface="Calibri" pitchFamily="34" charset="-122"/>
                <a:cs typeface="Calibri" pitchFamily="34" charset="-120"/>
              </a:rPr>
              <a:t>An unrecognised identity resolves to no entitlements — a typo in a header can never escalate.</a:t>
            </a:r>
            <a:endParaRPr lang="en-US" sz="1150" dirty="0"/>
          </a:p>
        </p:txBody>
      </p:sp>
      <p:sp>
        <p:nvSpPr>
          <p:cNvPr id="13" name="Shape 10"/>
          <p:cNvSpPr/>
          <p:nvPr/>
        </p:nvSpPr>
        <p:spPr>
          <a:xfrm>
            <a:off x="8092440" y="4846320"/>
            <a:ext cx="146304" cy="146304"/>
          </a:xfrm>
          <a:prstGeom prst="ellipse">
            <a:avLst/>
          </a:prstGeom>
          <a:solidFill>
            <a:srgbClr val="FF6C00"/>
          </a:solidFill>
          <a:ln/>
        </p:spPr>
      </p:sp>
      <p:sp>
        <p:nvSpPr>
          <p:cNvPr id="14" name="Text 11"/>
          <p:cNvSpPr/>
          <p:nvPr/>
        </p:nvSpPr>
        <p:spPr>
          <a:xfrm>
            <a:off x="8366760" y="4727448"/>
            <a:ext cx="3200400" cy="320040"/>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Oversight without exposure</a:t>
            </a:r>
            <a:endParaRPr lang="en-US" sz="1400" dirty="0"/>
          </a:p>
        </p:txBody>
      </p:sp>
      <p:sp>
        <p:nvSpPr>
          <p:cNvPr id="15" name="Text 12"/>
          <p:cNvSpPr/>
          <p:nvPr/>
        </p:nvSpPr>
        <p:spPr>
          <a:xfrm>
            <a:off x="8366760" y="5074920"/>
            <a:ext cx="3200400" cy="960120"/>
          </a:xfrm>
          <a:prstGeom prst="rect">
            <a:avLst/>
          </a:prstGeom>
          <a:noFill/>
          <a:ln/>
        </p:spPr>
        <p:txBody>
          <a:bodyPr wrap="square" lIns="0" tIns="0" rIns="0" bIns="0" rtlCol="0" anchor="ctr"/>
          <a:lstStyle/>
          <a:p>
            <a:pPr indent="0" marL="0">
              <a:lnSpc>
                <a:spcPct val="106000"/>
              </a:lnSpc>
              <a:buNone/>
            </a:pPr>
            <a:r>
              <a:rPr lang="en-US" sz="1150" dirty="0">
                <a:solidFill>
                  <a:srgbClr val="93A1AF"/>
                </a:solidFill>
                <a:latin typeface="Calibri" pitchFamily="34" charset="0"/>
                <a:ea typeface="Calibri" pitchFamily="34" charset="-122"/>
                <a:cs typeface="Calibri" pitchFamily="34" charset="-120"/>
              </a:rPr>
              <a:t>The compliance auditor holds the entire governance trail and no customer data at all.</a:t>
            </a:r>
            <a:endParaRPr lang="en-US" sz="1150" dirty="0"/>
          </a:p>
        </p:txBody>
      </p:sp>
      <p:sp>
        <p:nvSpPr>
          <p:cNvPr id="16" name="Text 13"/>
          <p:cNvSpPr/>
          <p:nvPr/>
        </p:nvSpPr>
        <p:spPr>
          <a:xfrm>
            <a:off x="640080" y="6053328"/>
            <a:ext cx="10881360" cy="274320"/>
          </a:xfrm>
          <a:prstGeom prst="rect">
            <a:avLst/>
          </a:prstGeom>
          <a:noFill/>
          <a:ln/>
        </p:spPr>
        <p:txBody>
          <a:bodyPr wrap="square" lIns="0" tIns="0" rIns="0" bIns="0" rtlCol="0" anchor="ctr"/>
          <a:lstStyle/>
          <a:p>
            <a:pPr indent="0" marL="0">
              <a:buNone/>
            </a:pPr>
            <a:r>
              <a:rPr lang="en-US" sz="1400" i="1" dirty="0">
                <a:solidFill>
                  <a:srgbClr val="FF8A3D"/>
                </a:solidFill>
                <a:latin typeface="Calibri" pitchFamily="34" charset="0"/>
                <a:ea typeface="Calibri" pitchFamily="34" charset="-122"/>
                <a:cs typeface="Calibri" pitchFamily="34" charset="-120"/>
              </a:rPr>
              <a:t>Row-level security enforced at the agent — not promised at the warehouse. Every cell above is a live policy evaluation.</a:t>
            </a:r>
            <a:endParaRPr lang="en-US" sz="1400" dirty="0"/>
          </a:p>
        </p:txBody>
      </p:sp>
      <p:sp>
        <p:nvSpPr>
          <p:cNvPr id="17" name="Text 14"/>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09</a:t>
            </a:r>
            <a:endParaRPr lang="en-US" sz="1000" dirty="0"/>
          </a:p>
        </p:txBody>
      </p:sp>
      <p:sp>
        <p:nvSpPr>
          <p:cNvPr id="18" name="Text 15"/>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1B"/>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THE RECEIPTS</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Proving it after the fact</a:t>
            </a:r>
            <a:endParaRPr lang="en-US" sz="3200" dirty="0"/>
          </a:p>
        </p:txBody>
      </p:sp>
      <p:sp>
        <p:nvSpPr>
          <p:cNvPr id="5" name="Text 3"/>
          <p:cNvSpPr/>
          <p:nvPr/>
        </p:nvSpPr>
        <p:spPr>
          <a:xfrm>
            <a:off x="640080" y="1783080"/>
            <a:ext cx="10789920" cy="457200"/>
          </a:xfrm>
          <a:prstGeom prst="rect">
            <a:avLst/>
          </a:prstGeom>
          <a:noFill/>
          <a:ln/>
        </p:spPr>
        <p:txBody>
          <a:bodyPr wrap="square" lIns="0" tIns="0" rIns="0" bIns="0" rtlCol="0" anchor="ctr"/>
          <a:lstStyle/>
          <a:p>
            <a:pPr indent="0" marL="0">
              <a:buNone/>
            </a:pPr>
            <a:r>
              <a:rPr lang="en-US" sz="1550" dirty="0">
                <a:solidFill>
                  <a:srgbClr val="93A1AF"/>
                </a:solidFill>
                <a:latin typeface="Calibri" pitchFamily="34" charset="0"/>
                <a:ea typeface="Calibri" pitchFamily="34" charset="-122"/>
                <a:cs typeface="Calibri" pitchFamily="34" charset="-120"/>
              </a:rPr>
              <a:t>A control you cannot evidence is a control you cannot pass an audit with. Every decision — granted or refused, and by whom — is appended to a durable trail.</a:t>
            </a:r>
            <a:endParaRPr lang="en-US" sz="1550" dirty="0"/>
          </a:p>
        </p:txBody>
      </p:sp>
      <p:sp>
        <p:nvSpPr>
          <p:cNvPr id="6" name="Shape 4"/>
          <p:cNvSpPr/>
          <p:nvPr/>
        </p:nvSpPr>
        <p:spPr>
          <a:xfrm>
            <a:off x="640080" y="2331720"/>
            <a:ext cx="2615184" cy="960120"/>
          </a:xfrm>
          <a:prstGeom prst="roundRect">
            <a:avLst>
              <a:gd name="adj" fmla="val 8571"/>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7" name="Text 5"/>
          <p:cNvSpPr/>
          <p:nvPr/>
        </p:nvSpPr>
        <p:spPr>
          <a:xfrm>
            <a:off x="868680" y="2395728"/>
            <a:ext cx="2157984" cy="502920"/>
          </a:xfrm>
          <a:prstGeom prst="rect">
            <a:avLst/>
          </a:prstGeom>
          <a:noFill/>
          <a:ln/>
        </p:spPr>
        <p:txBody>
          <a:bodyPr wrap="square" lIns="0" tIns="0" rIns="0" bIns="0" rtlCol="0" anchor="ctr"/>
          <a:lstStyle/>
          <a:p>
            <a:pPr indent="0" marL="0">
              <a:buNone/>
            </a:pPr>
            <a:r>
              <a:rPr lang="en-US" sz="2500" b="1" dirty="0">
                <a:solidFill>
                  <a:srgbClr val="FF8A3D"/>
                </a:solidFill>
                <a:latin typeface="Cambria" pitchFamily="34" charset="0"/>
                <a:ea typeface="Cambria" pitchFamily="34" charset="-122"/>
                <a:cs typeface="Cambria" pitchFamily="34" charset="-120"/>
              </a:rPr>
              <a:t>9</a:t>
            </a:r>
            <a:endParaRPr lang="en-US" sz="2500" dirty="0"/>
          </a:p>
        </p:txBody>
      </p:sp>
      <p:sp>
        <p:nvSpPr>
          <p:cNvPr id="8" name="Text 6"/>
          <p:cNvSpPr/>
          <p:nvPr/>
        </p:nvSpPr>
        <p:spPr>
          <a:xfrm>
            <a:off x="868680" y="2889504"/>
            <a:ext cx="2157984" cy="274320"/>
          </a:xfrm>
          <a:prstGeom prst="rect">
            <a:avLst/>
          </a:prstGeom>
          <a:noFill/>
          <a:ln/>
        </p:spPr>
        <p:txBody>
          <a:bodyPr wrap="square" lIns="0" tIns="0" rIns="0" bIns="0" rtlCol="0" anchor="ctr"/>
          <a:lstStyle/>
          <a:p>
            <a:pPr indent="0" marL="0">
              <a:buNone/>
            </a:pPr>
            <a:r>
              <a:rPr lang="en-US" sz="1050" b="1" spc="120" kern="0" dirty="0">
                <a:solidFill>
                  <a:srgbClr val="93A1AF"/>
                </a:solidFill>
                <a:latin typeface="Calibri" pitchFamily="34" charset="0"/>
                <a:ea typeface="Calibri" pitchFamily="34" charset="-122"/>
                <a:cs typeface="Calibri" pitchFamily="34" charset="-120"/>
              </a:rPr>
              <a:t>GOVERNED ACTIONS</a:t>
            </a:r>
            <a:endParaRPr lang="en-US" sz="1050" dirty="0"/>
          </a:p>
        </p:txBody>
      </p:sp>
      <p:sp>
        <p:nvSpPr>
          <p:cNvPr id="9" name="Shape 7"/>
          <p:cNvSpPr/>
          <p:nvPr/>
        </p:nvSpPr>
        <p:spPr>
          <a:xfrm>
            <a:off x="3429000" y="2331720"/>
            <a:ext cx="2615184" cy="960120"/>
          </a:xfrm>
          <a:prstGeom prst="roundRect">
            <a:avLst>
              <a:gd name="adj" fmla="val 8571"/>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0" name="Text 8"/>
          <p:cNvSpPr/>
          <p:nvPr/>
        </p:nvSpPr>
        <p:spPr>
          <a:xfrm>
            <a:off x="3657600" y="2395728"/>
            <a:ext cx="2157984" cy="502920"/>
          </a:xfrm>
          <a:prstGeom prst="rect">
            <a:avLst/>
          </a:prstGeom>
          <a:noFill/>
          <a:ln/>
        </p:spPr>
        <p:txBody>
          <a:bodyPr wrap="square" lIns="0" tIns="0" rIns="0" bIns="0" rtlCol="0" anchor="ctr"/>
          <a:lstStyle/>
          <a:p>
            <a:pPr indent="0" marL="0">
              <a:buNone/>
            </a:pPr>
            <a:r>
              <a:rPr lang="en-US" sz="2500" b="1" dirty="0">
                <a:solidFill>
                  <a:srgbClr val="FF8A3D"/>
                </a:solidFill>
                <a:latin typeface="Cambria" pitchFamily="34" charset="0"/>
                <a:ea typeface="Cambria" pitchFamily="34" charset="-122"/>
                <a:cs typeface="Cambria" pitchFamily="34" charset="-120"/>
              </a:rPr>
              <a:t>8</a:t>
            </a:r>
            <a:endParaRPr lang="en-US" sz="2500" dirty="0"/>
          </a:p>
        </p:txBody>
      </p:sp>
      <p:sp>
        <p:nvSpPr>
          <p:cNvPr id="11" name="Text 9"/>
          <p:cNvSpPr/>
          <p:nvPr/>
        </p:nvSpPr>
        <p:spPr>
          <a:xfrm>
            <a:off x="3657600" y="2889504"/>
            <a:ext cx="2157984" cy="274320"/>
          </a:xfrm>
          <a:prstGeom prst="rect">
            <a:avLst/>
          </a:prstGeom>
          <a:noFill/>
          <a:ln/>
        </p:spPr>
        <p:txBody>
          <a:bodyPr wrap="square" lIns="0" tIns="0" rIns="0" bIns="0" rtlCol="0" anchor="ctr"/>
          <a:lstStyle/>
          <a:p>
            <a:pPr indent="0" marL="0">
              <a:buNone/>
            </a:pPr>
            <a:r>
              <a:rPr lang="en-US" sz="1050" b="1" spc="120" kern="0" dirty="0">
                <a:solidFill>
                  <a:srgbClr val="93A1AF"/>
                </a:solidFill>
                <a:latin typeface="Calibri" pitchFamily="34" charset="0"/>
                <a:ea typeface="Calibri" pitchFamily="34" charset="-122"/>
                <a:cs typeface="Calibri" pitchFamily="34" charset="-120"/>
              </a:rPr>
              <a:t>GRANTED</a:t>
            </a:r>
            <a:endParaRPr lang="en-US" sz="1050" dirty="0"/>
          </a:p>
        </p:txBody>
      </p:sp>
      <p:sp>
        <p:nvSpPr>
          <p:cNvPr id="12" name="Shape 10"/>
          <p:cNvSpPr/>
          <p:nvPr/>
        </p:nvSpPr>
        <p:spPr>
          <a:xfrm>
            <a:off x="6217920" y="2331720"/>
            <a:ext cx="2615184" cy="960120"/>
          </a:xfrm>
          <a:prstGeom prst="roundRect">
            <a:avLst>
              <a:gd name="adj" fmla="val 8571"/>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3" name="Text 11"/>
          <p:cNvSpPr/>
          <p:nvPr/>
        </p:nvSpPr>
        <p:spPr>
          <a:xfrm>
            <a:off x="6446520" y="2395728"/>
            <a:ext cx="2157984" cy="502920"/>
          </a:xfrm>
          <a:prstGeom prst="rect">
            <a:avLst/>
          </a:prstGeom>
          <a:noFill/>
          <a:ln/>
        </p:spPr>
        <p:txBody>
          <a:bodyPr wrap="square" lIns="0" tIns="0" rIns="0" bIns="0" rtlCol="0" anchor="ctr"/>
          <a:lstStyle/>
          <a:p>
            <a:pPr indent="0" marL="0">
              <a:buNone/>
            </a:pPr>
            <a:r>
              <a:rPr lang="en-US" sz="2500" b="1" dirty="0">
                <a:solidFill>
                  <a:srgbClr val="F85149"/>
                </a:solidFill>
                <a:latin typeface="Cambria" pitchFamily="34" charset="0"/>
                <a:ea typeface="Cambria" pitchFamily="34" charset="-122"/>
                <a:cs typeface="Cambria" pitchFamily="34" charset="-120"/>
              </a:rPr>
              <a:t>1</a:t>
            </a:r>
            <a:endParaRPr lang="en-US" sz="2500" dirty="0"/>
          </a:p>
        </p:txBody>
      </p:sp>
      <p:sp>
        <p:nvSpPr>
          <p:cNvPr id="14" name="Text 12"/>
          <p:cNvSpPr/>
          <p:nvPr/>
        </p:nvSpPr>
        <p:spPr>
          <a:xfrm>
            <a:off x="6446520" y="2889504"/>
            <a:ext cx="2157984" cy="274320"/>
          </a:xfrm>
          <a:prstGeom prst="rect">
            <a:avLst/>
          </a:prstGeom>
          <a:noFill/>
          <a:ln/>
        </p:spPr>
        <p:txBody>
          <a:bodyPr wrap="square" lIns="0" tIns="0" rIns="0" bIns="0" rtlCol="0" anchor="ctr"/>
          <a:lstStyle/>
          <a:p>
            <a:pPr indent="0" marL="0">
              <a:buNone/>
            </a:pPr>
            <a:r>
              <a:rPr lang="en-US" sz="1050" b="1" spc="120" kern="0" dirty="0">
                <a:solidFill>
                  <a:srgbClr val="93A1AF"/>
                </a:solidFill>
                <a:latin typeface="Calibri" pitchFamily="34" charset="0"/>
                <a:ea typeface="Calibri" pitchFamily="34" charset="-122"/>
                <a:cs typeface="Calibri" pitchFamily="34" charset="-120"/>
              </a:rPr>
              <a:t>DENIED</a:t>
            </a:r>
            <a:endParaRPr lang="en-US" sz="1050" dirty="0"/>
          </a:p>
        </p:txBody>
      </p:sp>
      <p:sp>
        <p:nvSpPr>
          <p:cNvPr id="15" name="Shape 13"/>
          <p:cNvSpPr/>
          <p:nvPr/>
        </p:nvSpPr>
        <p:spPr>
          <a:xfrm>
            <a:off x="9006840" y="2331720"/>
            <a:ext cx="2615184" cy="960120"/>
          </a:xfrm>
          <a:prstGeom prst="roundRect">
            <a:avLst>
              <a:gd name="adj" fmla="val 8571"/>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6" name="Text 14"/>
          <p:cNvSpPr/>
          <p:nvPr/>
        </p:nvSpPr>
        <p:spPr>
          <a:xfrm>
            <a:off x="9235440" y="2395728"/>
            <a:ext cx="2157984" cy="502920"/>
          </a:xfrm>
          <a:prstGeom prst="rect">
            <a:avLst/>
          </a:prstGeom>
          <a:noFill/>
          <a:ln/>
        </p:spPr>
        <p:txBody>
          <a:bodyPr wrap="square" lIns="0" tIns="0" rIns="0" bIns="0" rtlCol="0" anchor="ctr"/>
          <a:lstStyle/>
          <a:p>
            <a:pPr indent="0" marL="0">
              <a:buNone/>
            </a:pPr>
            <a:r>
              <a:rPr lang="en-US" sz="2500" b="1" dirty="0">
                <a:solidFill>
                  <a:srgbClr val="FF8A3D"/>
                </a:solidFill>
                <a:latin typeface="Cambria" pitchFamily="34" charset="0"/>
                <a:ea typeface="Cambria" pitchFamily="34" charset="-122"/>
                <a:cs typeface="Cambria" pitchFamily="34" charset="-120"/>
              </a:rPr>
              <a:t>3 ms</a:t>
            </a:r>
            <a:endParaRPr lang="en-US" sz="2500" dirty="0"/>
          </a:p>
        </p:txBody>
      </p:sp>
      <p:sp>
        <p:nvSpPr>
          <p:cNvPr id="17" name="Text 15"/>
          <p:cNvSpPr/>
          <p:nvPr/>
        </p:nvSpPr>
        <p:spPr>
          <a:xfrm>
            <a:off x="9235440" y="2889504"/>
            <a:ext cx="2157984" cy="274320"/>
          </a:xfrm>
          <a:prstGeom prst="rect">
            <a:avLst/>
          </a:prstGeom>
          <a:noFill/>
          <a:ln/>
        </p:spPr>
        <p:txBody>
          <a:bodyPr wrap="square" lIns="0" tIns="0" rIns="0" bIns="0" rtlCol="0" anchor="ctr"/>
          <a:lstStyle/>
          <a:p>
            <a:pPr indent="0" marL="0">
              <a:buNone/>
            </a:pPr>
            <a:r>
              <a:rPr lang="en-US" sz="1050" b="1" spc="120" kern="0" dirty="0">
                <a:solidFill>
                  <a:srgbClr val="93A1AF"/>
                </a:solidFill>
                <a:latin typeface="Calibri" pitchFamily="34" charset="0"/>
                <a:ea typeface="Calibri" pitchFamily="34" charset="-122"/>
                <a:cs typeface="Calibri" pitchFamily="34" charset="-120"/>
              </a:rPr>
              <a:t>P50 LATENCY</a:t>
            </a:r>
            <a:endParaRPr lang="en-US" sz="1050" dirty="0"/>
          </a:p>
        </p:txBody>
      </p:sp>
      <p:sp>
        <p:nvSpPr>
          <p:cNvPr id="18" name="Text 16"/>
          <p:cNvSpPr/>
          <p:nvPr/>
        </p:nvSpPr>
        <p:spPr>
          <a:xfrm>
            <a:off x="640080" y="3364992"/>
            <a:ext cx="10881360" cy="256032"/>
          </a:xfrm>
          <a:prstGeom prst="rect">
            <a:avLst/>
          </a:prstGeom>
          <a:noFill/>
          <a:ln/>
        </p:spPr>
        <p:txBody>
          <a:bodyPr wrap="square" lIns="0" tIns="0" rIns="0" bIns="0" rtlCol="0" anchor="ctr"/>
          <a:lstStyle/>
          <a:p>
            <a:pPr indent="0" marL="0">
              <a:buNone/>
            </a:pPr>
            <a:r>
              <a:rPr lang="en-US" sz="1150" i="1" dirty="0">
                <a:solidFill>
                  <a:srgbClr val="6C7C8A"/>
                </a:solidFill>
                <a:latin typeface="Calibri" pitchFamily="34" charset="0"/>
                <a:ea typeface="Calibri" pitchFamily="34" charset="-122"/>
                <a:cs typeface="Calibri" pitchFamily="34" charset="-120"/>
              </a:rPr>
              <a:t>a live Trust Center reading — refusals and timings included</a:t>
            </a:r>
            <a:endParaRPr lang="en-US" sz="1150" dirty="0"/>
          </a:p>
        </p:txBody>
      </p:sp>
      <p:sp>
        <p:nvSpPr>
          <p:cNvPr id="19" name="Shape 17"/>
          <p:cNvSpPr/>
          <p:nvPr/>
        </p:nvSpPr>
        <p:spPr>
          <a:xfrm>
            <a:off x="640080" y="3675888"/>
            <a:ext cx="5257800" cy="1051560"/>
          </a:xfrm>
          <a:prstGeom prst="roundRect">
            <a:avLst>
              <a:gd name="adj" fmla="val 7826"/>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0" name="Shape 18"/>
          <p:cNvSpPr/>
          <p:nvPr/>
        </p:nvSpPr>
        <p:spPr>
          <a:xfrm>
            <a:off x="914400" y="3895344"/>
            <a:ext cx="146304" cy="146304"/>
          </a:xfrm>
          <a:prstGeom prst="ellipse">
            <a:avLst/>
          </a:prstGeom>
          <a:solidFill>
            <a:srgbClr val="FF6C00"/>
          </a:solidFill>
          <a:ln/>
        </p:spPr>
      </p:sp>
      <p:sp>
        <p:nvSpPr>
          <p:cNvPr id="21" name="Text 19"/>
          <p:cNvSpPr/>
          <p:nvPr/>
        </p:nvSpPr>
        <p:spPr>
          <a:xfrm>
            <a:off x="1188720" y="3785616"/>
            <a:ext cx="4480560" cy="292608"/>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Append-only</a:t>
            </a:r>
            <a:endParaRPr lang="en-US" sz="1400" dirty="0"/>
          </a:p>
        </p:txBody>
      </p:sp>
      <p:sp>
        <p:nvSpPr>
          <p:cNvPr id="22" name="Text 20"/>
          <p:cNvSpPr/>
          <p:nvPr/>
        </p:nvSpPr>
        <p:spPr>
          <a:xfrm>
            <a:off x="1188720" y="4078224"/>
            <a:ext cx="4480560" cy="585216"/>
          </a:xfrm>
          <a:prstGeom prst="rect">
            <a:avLst/>
          </a:prstGeom>
          <a:noFill/>
          <a:ln/>
        </p:spPr>
        <p:txBody>
          <a:bodyPr wrap="square" lIns="0" tIns="0" rIns="0" bIns="0" rtlCol="0" anchor="ctr"/>
          <a:lstStyle/>
          <a:p>
            <a:pPr indent="0" marL="0">
              <a:lnSpc>
                <a:spcPct val="103000"/>
              </a:lnSpc>
              <a:buNone/>
            </a:pPr>
            <a:r>
              <a:rPr lang="en-US" sz="1100" dirty="0">
                <a:solidFill>
                  <a:srgbClr val="93A1AF"/>
                </a:solidFill>
                <a:latin typeface="Calibri" pitchFamily="34" charset="0"/>
                <a:ea typeface="Calibri" pitchFamily="34" charset="-122"/>
                <a:cs typeface="Calibri" pitchFamily="34" charset="-120"/>
              </a:rPr>
              <a:t>Records are never rewritten. A log you can edit in place is not evidence — and it can be tailed straight to a SIEM.</a:t>
            </a:r>
            <a:endParaRPr lang="en-US" sz="1100" dirty="0"/>
          </a:p>
        </p:txBody>
      </p:sp>
      <p:sp>
        <p:nvSpPr>
          <p:cNvPr id="23" name="Shape 21"/>
          <p:cNvSpPr/>
          <p:nvPr/>
        </p:nvSpPr>
        <p:spPr>
          <a:xfrm>
            <a:off x="6217920" y="3675888"/>
            <a:ext cx="5257800" cy="1051560"/>
          </a:xfrm>
          <a:prstGeom prst="roundRect">
            <a:avLst>
              <a:gd name="adj" fmla="val 7826"/>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4" name="Shape 22"/>
          <p:cNvSpPr/>
          <p:nvPr/>
        </p:nvSpPr>
        <p:spPr>
          <a:xfrm>
            <a:off x="6492240" y="3895344"/>
            <a:ext cx="146304" cy="146304"/>
          </a:xfrm>
          <a:prstGeom prst="ellipse">
            <a:avLst/>
          </a:prstGeom>
          <a:solidFill>
            <a:srgbClr val="FF6C00"/>
          </a:solidFill>
          <a:ln/>
        </p:spPr>
      </p:sp>
      <p:sp>
        <p:nvSpPr>
          <p:cNvPr id="25" name="Text 23"/>
          <p:cNvSpPr/>
          <p:nvPr/>
        </p:nvSpPr>
        <p:spPr>
          <a:xfrm>
            <a:off x="6766560" y="3785616"/>
            <a:ext cx="4480560" cy="292608"/>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It records who</a:t>
            </a:r>
            <a:endParaRPr lang="en-US" sz="1400" dirty="0"/>
          </a:p>
        </p:txBody>
      </p:sp>
      <p:sp>
        <p:nvSpPr>
          <p:cNvPr id="26" name="Text 24"/>
          <p:cNvSpPr/>
          <p:nvPr/>
        </p:nvSpPr>
        <p:spPr>
          <a:xfrm>
            <a:off x="6766560" y="4078224"/>
            <a:ext cx="4480560" cy="585216"/>
          </a:xfrm>
          <a:prstGeom prst="rect">
            <a:avLst/>
          </a:prstGeom>
          <a:noFill/>
          <a:ln/>
        </p:spPr>
        <p:txBody>
          <a:bodyPr wrap="square" lIns="0" tIns="0" rIns="0" bIns="0" rtlCol="0" anchor="ctr"/>
          <a:lstStyle/>
          <a:p>
            <a:pPr indent="0" marL="0">
              <a:lnSpc>
                <a:spcPct val="103000"/>
              </a:lnSpc>
              <a:buNone/>
            </a:pPr>
            <a:r>
              <a:rPr lang="en-US" sz="1100" dirty="0">
                <a:solidFill>
                  <a:srgbClr val="93A1AF"/>
                </a:solidFill>
                <a:latin typeface="Calibri" pitchFamily="34" charset="0"/>
                <a:ea typeface="Calibri" pitchFamily="34" charset="-122"/>
                <a:cs typeface="Calibri" pitchFamily="34" charset="-120"/>
              </a:rPr>
              <a:t>Each row names the calling principal and their role, so “who ran this?” is a query, not an investigation.</a:t>
            </a:r>
            <a:endParaRPr lang="en-US" sz="1100" dirty="0"/>
          </a:p>
        </p:txBody>
      </p:sp>
      <p:sp>
        <p:nvSpPr>
          <p:cNvPr id="27" name="Shape 25"/>
          <p:cNvSpPr/>
          <p:nvPr/>
        </p:nvSpPr>
        <p:spPr>
          <a:xfrm>
            <a:off x="640080" y="4892040"/>
            <a:ext cx="5257800" cy="1051560"/>
          </a:xfrm>
          <a:prstGeom prst="roundRect">
            <a:avLst>
              <a:gd name="adj" fmla="val 7826"/>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8" name="Shape 26"/>
          <p:cNvSpPr/>
          <p:nvPr/>
        </p:nvSpPr>
        <p:spPr>
          <a:xfrm>
            <a:off x="914400" y="5111496"/>
            <a:ext cx="146304" cy="146304"/>
          </a:xfrm>
          <a:prstGeom prst="ellipse">
            <a:avLst/>
          </a:prstGeom>
          <a:solidFill>
            <a:srgbClr val="FF6C00"/>
          </a:solidFill>
          <a:ln/>
        </p:spPr>
      </p:sp>
      <p:sp>
        <p:nvSpPr>
          <p:cNvPr id="29" name="Text 27"/>
          <p:cNvSpPr/>
          <p:nvPr/>
        </p:nvSpPr>
        <p:spPr>
          <a:xfrm>
            <a:off x="1188720" y="5001768"/>
            <a:ext cx="4480560" cy="292608"/>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Refusals are the point</a:t>
            </a:r>
            <a:endParaRPr lang="en-US" sz="1400" dirty="0"/>
          </a:p>
        </p:txBody>
      </p:sp>
      <p:sp>
        <p:nvSpPr>
          <p:cNvPr id="30" name="Text 28"/>
          <p:cNvSpPr/>
          <p:nvPr/>
        </p:nvSpPr>
        <p:spPr>
          <a:xfrm>
            <a:off x="1188720" y="5294376"/>
            <a:ext cx="4480560" cy="585216"/>
          </a:xfrm>
          <a:prstGeom prst="rect">
            <a:avLst/>
          </a:prstGeom>
          <a:noFill/>
          <a:ln/>
        </p:spPr>
        <p:txBody>
          <a:bodyPr wrap="square" lIns="0" tIns="0" rIns="0" bIns="0" rtlCol="0" anchor="ctr"/>
          <a:lstStyle/>
          <a:p>
            <a:pPr indent="0" marL="0">
              <a:lnSpc>
                <a:spcPct val="103000"/>
              </a:lnSpc>
              <a:buNone/>
            </a:pPr>
            <a:r>
              <a:rPr lang="en-US" sz="1100" dirty="0">
                <a:solidFill>
                  <a:srgbClr val="93A1AF"/>
                </a:solidFill>
                <a:latin typeface="Calibri" pitchFamily="34" charset="0"/>
                <a:ea typeface="Calibri" pitchFamily="34" charset="-122"/>
                <a:cs typeface="Calibri" pitchFamily="34" charset="-120"/>
              </a:rPr>
              <a:t>A denial is the control working. It is kept with the control that made it and the request that triggered it.</a:t>
            </a:r>
            <a:endParaRPr lang="en-US" sz="1100" dirty="0"/>
          </a:p>
        </p:txBody>
      </p:sp>
      <p:sp>
        <p:nvSpPr>
          <p:cNvPr id="31" name="Shape 29"/>
          <p:cNvSpPr/>
          <p:nvPr/>
        </p:nvSpPr>
        <p:spPr>
          <a:xfrm>
            <a:off x="6217920" y="4892040"/>
            <a:ext cx="5257800" cy="1051560"/>
          </a:xfrm>
          <a:prstGeom prst="roundRect">
            <a:avLst>
              <a:gd name="adj" fmla="val 7826"/>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32" name="Shape 30"/>
          <p:cNvSpPr/>
          <p:nvPr/>
        </p:nvSpPr>
        <p:spPr>
          <a:xfrm>
            <a:off x="6492240" y="5111496"/>
            <a:ext cx="146304" cy="146304"/>
          </a:xfrm>
          <a:prstGeom prst="ellipse">
            <a:avLst/>
          </a:prstGeom>
          <a:solidFill>
            <a:srgbClr val="FF6C00"/>
          </a:solidFill>
          <a:ln/>
        </p:spPr>
      </p:sp>
      <p:sp>
        <p:nvSpPr>
          <p:cNvPr id="33" name="Text 31"/>
          <p:cNvSpPr/>
          <p:nvPr/>
        </p:nvSpPr>
        <p:spPr>
          <a:xfrm>
            <a:off x="6766560" y="5001768"/>
            <a:ext cx="4480560" cy="292608"/>
          </a:xfrm>
          <a:prstGeom prst="rect">
            <a:avLst/>
          </a:prstGeom>
          <a:noFill/>
          <a:ln/>
        </p:spPr>
        <p:txBody>
          <a:bodyPr wrap="square" lIns="0" tIns="0" rIns="0" bIns="0" rtlCol="0" anchor="ctr"/>
          <a:lstStyle/>
          <a:p>
            <a:pPr indent="0" marL="0">
              <a:buNone/>
            </a:pPr>
            <a:r>
              <a:rPr lang="en-US" sz="1400" b="1" dirty="0">
                <a:solidFill>
                  <a:srgbClr val="E9EEF3"/>
                </a:solidFill>
                <a:latin typeface="Calibri" pitchFamily="34" charset="0"/>
                <a:ea typeface="Calibri" pitchFamily="34" charset="-122"/>
                <a:cs typeface="Calibri" pitchFamily="34" charset="-120"/>
              </a:rPr>
              <a:t>Cost is measured</a:t>
            </a:r>
            <a:endParaRPr lang="en-US" sz="1400" dirty="0"/>
          </a:p>
        </p:txBody>
      </p:sp>
      <p:sp>
        <p:nvSpPr>
          <p:cNvPr id="34" name="Text 32"/>
          <p:cNvSpPr/>
          <p:nvPr/>
        </p:nvSpPr>
        <p:spPr>
          <a:xfrm>
            <a:off x="6766560" y="5294376"/>
            <a:ext cx="4480560" cy="585216"/>
          </a:xfrm>
          <a:prstGeom prst="rect">
            <a:avLst/>
          </a:prstGeom>
          <a:noFill/>
          <a:ln/>
        </p:spPr>
        <p:txBody>
          <a:bodyPr wrap="square" lIns="0" tIns="0" rIns="0" bIns="0" rtlCol="0" anchor="ctr"/>
          <a:lstStyle/>
          <a:p>
            <a:pPr indent="0" marL="0">
              <a:lnSpc>
                <a:spcPct val="103000"/>
              </a:lnSpc>
              <a:buNone/>
            </a:pPr>
            <a:r>
              <a:rPr lang="en-US" sz="1100" dirty="0">
                <a:solidFill>
                  <a:srgbClr val="93A1AF"/>
                </a:solidFill>
                <a:latin typeface="Calibri" pitchFamily="34" charset="0"/>
                <a:ea typeface="Calibri" pitchFamily="34" charset="-122"/>
                <a:cs typeface="Calibri" pitchFamily="34" charset="-120"/>
              </a:rPr>
              <a:t>Every call is timed. p50, p95 and the slowest call sit beside the decisions — performance evidence, not a claim.</a:t>
            </a:r>
            <a:endParaRPr lang="en-US" sz="1100" dirty="0"/>
          </a:p>
        </p:txBody>
      </p:sp>
      <p:sp>
        <p:nvSpPr>
          <p:cNvPr id="35" name="Text 33"/>
          <p:cNvSpPr/>
          <p:nvPr/>
        </p:nvSpPr>
        <p:spPr>
          <a:xfrm>
            <a:off x="640080" y="6053328"/>
            <a:ext cx="10881360" cy="274320"/>
          </a:xfrm>
          <a:prstGeom prst="rect">
            <a:avLst/>
          </a:prstGeom>
          <a:noFill/>
          <a:ln/>
        </p:spPr>
        <p:txBody>
          <a:bodyPr wrap="square" lIns="0" tIns="0" rIns="0" bIns="0" rtlCol="0" anchor="ctr"/>
          <a:lstStyle/>
          <a:p>
            <a:pPr indent="0" marL="0">
              <a:buNone/>
            </a:pPr>
            <a:r>
              <a:rPr lang="en-US" sz="1400" i="1" dirty="0">
                <a:solidFill>
                  <a:srgbClr val="FF8A3D"/>
                </a:solidFill>
                <a:latin typeface="Calibri" pitchFamily="34" charset="0"/>
                <a:ea typeface="Calibri" pitchFamily="34" charset="-122"/>
                <a:cs typeface="Calibri" pitchFamily="34" charset="-120"/>
              </a:rPr>
              <a:t>Kill the process, restart it, reload — the trail is unchanged. That is the difference between logging and evidence.</a:t>
            </a:r>
            <a:endParaRPr lang="en-US" sz="1400" dirty="0"/>
          </a:p>
        </p:txBody>
      </p:sp>
      <p:sp>
        <p:nvSpPr>
          <p:cNvPr id="36" name="Text 34"/>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10</a:t>
            </a:r>
            <a:endParaRPr lang="en-US" sz="1000" dirty="0"/>
          </a:p>
        </p:txBody>
      </p:sp>
      <p:sp>
        <p:nvSpPr>
          <p:cNvPr id="37" name="Text 35"/>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621"/>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UNDER THE HOOD</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Why the answers hold up</a:t>
            </a:r>
            <a:endParaRPr lang="en-US" sz="3200" dirty="0"/>
          </a:p>
        </p:txBody>
      </p:sp>
      <p:pic>
        <p:nvPicPr>
          <p:cNvPr id="5" name="Image 0" descr="/private/tmp/claude-501/-Users-atharvvani-Downloads-DataBricks/437ba0b1-41b9-48e1-95cf-333721d11260/scratchpad/deck_assets/latency_dist.png">    </p:cNvPr>
          <p:cNvPicPr>
            <a:picLocks noChangeAspect="1"/>
          </p:cNvPicPr>
          <p:nvPr/>
        </p:nvPicPr>
        <p:blipFill>
          <a:blip r:embed="rId1"/>
          <a:stretch>
            <a:fillRect/>
          </a:stretch>
        </p:blipFill>
        <p:spPr>
          <a:xfrm>
            <a:off x="640080" y="1828800"/>
            <a:ext cx="6766560" cy="2926080"/>
          </a:xfrm>
          <a:prstGeom prst="rect">
            <a:avLst/>
          </a:prstGeom>
        </p:spPr>
      </p:pic>
      <p:sp>
        <p:nvSpPr>
          <p:cNvPr id="6" name="Shape 3"/>
          <p:cNvSpPr/>
          <p:nvPr/>
        </p:nvSpPr>
        <p:spPr>
          <a:xfrm>
            <a:off x="7772400" y="1764792"/>
            <a:ext cx="146304" cy="146304"/>
          </a:xfrm>
          <a:prstGeom prst="ellipse">
            <a:avLst/>
          </a:prstGeom>
          <a:solidFill>
            <a:srgbClr val="FF6C00"/>
          </a:solidFill>
          <a:ln/>
        </p:spPr>
      </p:sp>
      <p:sp>
        <p:nvSpPr>
          <p:cNvPr id="7" name="Text 4"/>
          <p:cNvSpPr/>
          <p:nvPr/>
        </p:nvSpPr>
        <p:spPr>
          <a:xfrm>
            <a:off x="8046720" y="1645920"/>
            <a:ext cx="3474720" cy="365760"/>
          </a:xfrm>
          <a:prstGeom prst="rect">
            <a:avLst/>
          </a:prstGeom>
          <a:noFill/>
          <a:ln/>
        </p:spPr>
        <p:txBody>
          <a:bodyPr wrap="square" lIns="0" tIns="0" rIns="0" bIns="0" rtlCol="0" anchor="ctr"/>
          <a:lstStyle/>
          <a:p>
            <a:pPr indent="0" marL="0">
              <a:buNone/>
            </a:pPr>
            <a:r>
              <a:rPr lang="en-US" sz="1550" b="1" dirty="0">
                <a:solidFill>
                  <a:srgbClr val="E9EEF3"/>
                </a:solidFill>
                <a:latin typeface="Calibri" pitchFamily="34" charset="0"/>
                <a:ea typeface="Calibri" pitchFamily="34" charset="-122"/>
                <a:cs typeface="Calibri" pitchFamily="34" charset="-120"/>
              </a:rPr>
              <a:t>Statistical, not hard-coded</a:t>
            </a:r>
            <a:endParaRPr lang="en-US" sz="1550" dirty="0"/>
          </a:p>
        </p:txBody>
      </p:sp>
      <p:sp>
        <p:nvSpPr>
          <p:cNvPr id="8" name="Text 5"/>
          <p:cNvSpPr/>
          <p:nvPr/>
        </p:nvSpPr>
        <p:spPr>
          <a:xfrm>
            <a:off x="8046720" y="2029968"/>
            <a:ext cx="3474720" cy="822960"/>
          </a:xfrm>
          <a:prstGeom prst="rect">
            <a:avLst/>
          </a:prstGeom>
          <a:noFill/>
          <a:ln/>
        </p:spPr>
        <p:txBody>
          <a:bodyPr wrap="square" lIns="0" tIns="0" rIns="0" bIns="0" rtlCol="0" anchor="ctr"/>
          <a:lstStyle/>
          <a:p>
            <a:pPr indent="0" marL="0">
              <a:lnSpc>
                <a:spcPct val="108000"/>
              </a:lnSpc>
              <a:buNone/>
            </a:pPr>
            <a:r>
              <a:rPr lang="en-US" sz="1250" dirty="0">
                <a:solidFill>
                  <a:srgbClr val="93A1AF"/>
                </a:solidFill>
                <a:latin typeface="Calibri" pitchFamily="34" charset="0"/>
                <a:ea typeface="Calibri" pitchFamily="34" charset="-122"/>
                <a:cs typeface="Calibri" pitchFamily="34" charset="-120"/>
              </a:rPr>
              <a:t>Anomalies are events beyond 3σ of the live population — the threshold moves with the data, not a magic number.</a:t>
            </a:r>
            <a:endParaRPr lang="en-US" sz="1250" dirty="0"/>
          </a:p>
        </p:txBody>
      </p:sp>
      <p:sp>
        <p:nvSpPr>
          <p:cNvPr id="9" name="Shape 6"/>
          <p:cNvSpPr/>
          <p:nvPr/>
        </p:nvSpPr>
        <p:spPr>
          <a:xfrm>
            <a:off x="7772400" y="3099816"/>
            <a:ext cx="146304" cy="146304"/>
          </a:xfrm>
          <a:prstGeom prst="ellipse">
            <a:avLst/>
          </a:prstGeom>
          <a:solidFill>
            <a:srgbClr val="FF6C00"/>
          </a:solidFill>
          <a:ln/>
        </p:spPr>
      </p:sp>
      <p:sp>
        <p:nvSpPr>
          <p:cNvPr id="10" name="Text 7"/>
          <p:cNvSpPr/>
          <p:nvPr/>
        </p:nvSpPr>
        <p:spPr>
          <a:xfrm>
            <a:off x="8046720" y="2980944"/>
            <a:ext cx="3474720" cy="365760"/>
          </a:xfrm>
          <a:prstGeom prst="rect">
            <a:avLst/>
          </a:prstGeom>
          <a:noFill/>
          <a:ln/>
        </p:spPr>
        <p:txBody>
          <a:bodyPr wrap="square" lIns="0" tIns="0" rIns="0" bIns="0" rtlCol="0" anchor="ctr"/>
          <a:lstStyle/>
          <a:p>
            <a:pPr indent="0" marL="0">
              <a:buNone/>
            </a:pPr>
            <a:r>
              <a:rPr lang="en-US" sz="1550" b="1" dirty="0">
                <a:solidFill>
                  <a:srgbClr val="E9EEF3"/>
                </a:solidFill>
                <a:latin typeface="Calibri" pitchFamily="34" charset="0"/>
                <a:ea typeface="Calibri" pitchFamily="34" charset="-122"/>
                <a:cs typeface="Calibri" pitchFamily="34" charset="-120"/>
              </a:rPr>
              <a:t>Parameter-bound execution</a:t>
            </a:r>
            <a:endParaRPr lang="en-US" sz="1550" dirty="0"/>
          </a:p>
        </p:txBody>
      </p:sp>
      <p:sp>
        <p:nvSpPr>
          <p:cNvPr id="11" name="Text 8"/>
          <p:cNvSpPr/>
          <p:nvPr/>
        </p:nvSpPr>
        <p:spPr>
          <a:xfrm>
            <a:off x="8046720" y="3364992"/>
            <a:ext cx="3474720" cy="822960"/>
          </a:xfrm>
          <a:prstGeom prst="rect">
            <a:avLst/>
          </a:prstGeom>
          <a:noFill/>
          <a:ln/>
        </p:spPr>
        <p:txBody>
          <a:bodyPr wrap="square" lIns="0" tIns="0" rIns="0" bIns="0" rtlCol="0" anchor="ctr"/>
          <a:lstStyle/>
          <a:p>
            <a:pPr indent="0" marL="0">
              <a:lnSpc>
                <a:spcPct val="108000"/>
              </a:lnSpc>
              <a:buNone/>
            </a:pPr>
            <a:r>
              <a:rPr lang="en-US" sz="1250" dirty="0">
                <a:solidFill>
                  <a:srgbClr val="93A1AF"/>
                </a:solidFill>
                <a:latin typeface="Calibri" pitchFamily="34" charset="0"/>
                <a:ea typeface="Calibri" pitchFamily="34" charset="-122"/>
                <a:cs typeface="Calibri" pitchFamily="34" charset="-120"/>
              </a:rPr>
              <a:t>Values are bound, never interpolated — a hostile input matches no rows and cannot reshape a query.</a:t>
            </a:r>
            <a:endParaRPr lang="en-US" sz="1250" dirty="0"/>
          </a:p>
        </p:txBody>
      </p:sp>
      <p:sp>
        <p:nvSpPr>
          <p:cNvPr id="12" name="Shape 9"/>
          <p:cNvSpPr/>
          <p:nvPr/>
        </p:nvSpPr>
        <p:spPr>
          <a:xfrm>
            <a:off x="7772400" y="4434840"/>
            <a:ext cx="146304" cy="146304"/>
          </a:xfrm>
          <a:prstGeom prst="ellipse">
            <a:avLst/>
          </a:prstGeom>
          <a:solidFill>
            <a:srgbClr val="FF6C00"/>
          </a:solidFill>
          <a:ln/>
        </p:spPr>
      </p:sp>
      <p:sp>
        <p:nvSpPr>
          <p:cNvPr id="13" name="Text 10"/>
          <p:cNvSpPr/>
          <p:nvPr/>
        </p:nvSpPr>
        <p:spPr>
          <a:xfrm>
            <a:off x="8046720" y="4315968"/>
            <a:ext cx="3474720" cy="365760"/>
          </a:xfrm>
          <a:prstGeom prst="rect">
            <a:avLst/>
          </a:prstGeom>
          <a:noFill/>
          <a:ln/>
        </p:spPr>
        <p:txBody>
          <a:bodyPr wrap="square" lIns="0" tIns="0" rIns="0" bIns="0" rtlCol="0" anchor="ctr"/>
          <a:lstStyle/>
          <a:p>
            <a:pPr indent="0" marL="0">
              <a:buNone/>
            </a:pPr>
            <a:r>
              <a:rPr lang="en-US" sz="1550" b="1" dirty="0">
                <a:solidFill>
                  <a:srgbClr val="E9EEF3"/>
                </a:solidFill>
                <a:latin typeface="Calibri" pitchFamily="34" charset="0"/>
                <a:ea typeface="Calibri" pitchFamily="34" charset="-122"/>
                <a:cs typeface="Calibri" pitchFamily="34" charset="-120"/>
              </a:rPr>
              <a:t>Continuously verified</a:t>
            </a:r>
            <a:endParaRPr lang="en-US" sz="1550" dirty="0"/>
          </a:p>
        </p:txBody>
      </p:sp>
      <p:sp>
        <p:nvSpPr>
          <p:cNvPr id="14" name="Text 11"/>
          <p:cNvSpPr/>
          <p:nvPr/>
        </p:nvSpPr>
        <p:spPr>
          <a:xfrm>
            <a:off x="8046720" y="4700016"/>
            <a:ext cx="3474720" cy="822960"/>
          </a:xfrm>
          <a:prstGeom prst="rect">
            <a:avLst/>
          </a:prstGeom>
          <a:noFill/>
          <a:ln/>
        </p:spPr>
        <p:txBody>
          <a:bodyPr wrap="square" lIns="0" tIns="0" rIns="0" bIns="0" rtlCol="0" anchor="ctr"/>
          <a:lstStyle/>
          <a:p>
            <a:pPr indent="0" marL="0">
              <a:lnSpc>
                <a:spcPct val="108000"/>
              </a:lnSpc>
              <a:buNone/>
            </a:pPr>
            <a:r>
              <a:rPr lang="en-US" sz="1250" dirty="0">
                <a:solidFill>
                  <a:srgbClr val="93A1AF"/>
                </a:solidFill>
                <a:latin typeface="Calibri" pitchFamily="34" charset="0"/>
                <a:ea typeface="Calibri" pitchFamily="34" charset="-122"/>
                <a:cs typeface="Calibri" pitchFamily="34" charset="-120"/>
              </a:rPr>
              <a:t>77 tests across computation, governance, retrieval, abstention, audit durability, chaining and identity — run on every push.</a:t>
            </a:r>
            <a:endParaRPr lang="en-US" sz="1250" dirty="0"/>
          </a:p>
        </p:txBody>
      </p:sp>
      <p:sp>
        <p:nvSpPr>
          <p:cNvPr id="15" name="Text 12"/>
          <p:cNvSpPr/>
          <p:nvPr/>
        </p:nvSpPr>
        <p:spPr>
          <a:xfrm>
            <a:off x="640080" y="6053328"/>
            <a:ext cx="10881360" cy="274320"/>
          </a:xfrm>
          <a:prstGeom prst="rect">
            <a:avLst/>
          </a:prstGeom>
          <a:noFill/>
          <a:ln/>
        </p:spPr>
        <p:txBody>
          <a:bodyPr wrap="square" lIns="0" tIns="0" rIns="0" bIns="0" rtlCol="0" anchor="ctr"/>
          <a:lstStyle/>
          <a:p>
            <a:pPr indent="0" marL="0">
              <a:buNone/>
            </a:pPr>
            <a:r>
              <a:rPr lang="en-US" sz="1400" i="1" dirty="0">
                <a:solidFill>
                  <a:srgbClr val="FF8A3D"/>
                </a:solidFill>
                <a:latin typeface="Calibri" pitchFamily="34" charset="0"/>
                <a:ea typeface="Calibri" pitchFamily="34" charset="-122"/>
                <a:cs typeface="Calibri" pitchFamily="34" charset="-120"/>
              </a:rPr>
              <a:t>CI also asserts the demo figures still reproduce — so drift in the anomaly logic fails the build, not the demo.</a:t>
            </a:r>
            <a:endParaRPr lang="en-US" sz="1400" dirty="0"/>
          </a:p>
        </p:txBody>
      </p:sp>
      <p:sp>
        <p:nvSpPr>
          <p:cNvPr id="16" name="Text 13"/>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11</a:t>
            </a:r>
            <a:endParaRPr lang="en-US" sz="1000" dirty="0"/>
          </a:p>
        </p:txBody>
      </p:sp>
      <p:sp>
        <p:nvSpPr>
          <p:cNvPr id="17" name="Text 14"/>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621"/>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WHY IT MATTERS</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Business impact</a:t>
            </a:r>
            <a:endParaRPr lang="en-US" sz="3200" dirty="0"/>
          </a:p>
        </p:txBody>
      </p:sp>
      <p:sp>
        <p:nvSpPr>
          <p:cNvPr id="5" name="Shape 3"/>
          <p:cNvSpPr/>
          <p:nvPr/>
        </p:nvSpPr>
        <p:spPr>
          <a:xfrm>
            <a:off x="640080" y="1828800"/>
            <a:ext cx="5257800" cy="1755648"/>
          </a:xfrm>
          <a:prstGeom prst="roundRect">
            <a:avLst>
              <a:gd name="adj" fmla="val 4688"/>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6" name="Text 4"/>
          <p:cNvSpPr/>
          <p:nvPr/>
        </p:nvSpPr>
        <p:spPr>
          <a:xfrm>
            <a:off x="960120" y="2066544"/>
            <a:ext cx="4617720" cy="502920"/>
          </a:xfrm>
          <a:prstGeom prst="rect">
            <a:avLst/>
          </a:prstGeom>
          <a:noFill/>
          <a:ln/>
        </p:spPr>
        <p:txBody>
          <a:bodyPr wrap="square" lIns="0" tIns="0" rIns="0" bIns="0" rtlCol="0" anchor="ctr"/>
          <a:lstStyle/>
          <a:p>
            <a:pPr indent="0" marL="0">
              <a:buNone/>
            </a:pPr>
            <a:r>
              <a:rPr lang="en-US" sz="2600" b="1" dirty="0">
                <a:solidFill>
                  <a:srgbClr val="FF8A3D"/>
                </a:solidFill>
                <a:latin typeface="Cambria" pitchFamily="34" charset="0"/>
                <a:ea typeface="Cambria" pitchFamily="34" charset="-122"/>
                <a:cs typeface="Cambria" pitchFamily="34" charset="-120"/>
              </a:rPr>
              <a:t>Days → seconds</a:t>
            </a:r>
            <a:endParaRPr lang="en-US" sz="2600" dirty="0"/>
          </a:p>
        </p:txBody>
      </p:sp>
      <p:sp>
        <p:nvSpPr>
          <p:cNvPr id="7" name="Text 5"/>
          <p:cNvSpPr/>
          <p:nvPr/>
        </p:nvSpPr>
        <p:spPr>
          <a:xfrm>
            <a:off x="960120" y="2578608"/>
            <a:ext cx="4617720" cy="292608"/>
          </a:xfrm>
          <a:prstGeom prst="rect">
            <a:avLst/>
          </a:prstGeom>
          <a:noFill/>
          <a:ln/>
        </p:spPr>
        <p:txBody>
          <a:bodyPr wrap="square" lIns="0" tIns="0" rIns="0" bIns="0" rtlCol="0" anchor="ctr"/>
          <a:lstStyle/>
          <a:p>
            <a:pPr indent="0" marL="0">
              <a:buNone/>
            </a:pPr>
            <a:r>
              <a:rPr lang="en-US" sz="1200" b="1" spc="150" kern="0" dirty="0">
                <a:solidFill>
                  <a:srgbClr val="E9EEF3"/>
                </a:solidFill>
                <a:latin typeface="Calibri" pitchFamily="34" charset="0"/>
                <a:ea typeface="Calibri" pitchFamily="34" charset="-122"/>
                <a:cs typeface="Calibri" pitchFamily="34" charset="-120"/>
              </a:rPr>
              <a:t>TIME TO INSIGHT</a:t>
            </a:r>
            <a:endParaRPr lang="en-US" sz="1200" dirty="0"/>
          </a:p>
        </p:txBody>
      </p:sp>
      <p:sp>
        <p:nvSpPr>
          <p:cNvPr id="8" name="Text 6"/>
          <p:cNvSpPr/>
          <p:nvPr/>
        </p:nvSpPr>
        <p:spPr>
          <a:xfrm>
            <a:off x="960120" y="2871216"/>
            <a:ext cx="4709160" cy="658368"/>
          </a:xfrm>
          <a:prstGeom prst="rect">
            <a:avLst/>
          </a:prstGeom>
          <a:noFill/>
          <a:ln/>
        </p:spPr>
        <p:txBody>
          <a:bodyPr wrap="square" lIns="0" tIns="0" rIns="0" bIns="0" rtlCol="0" anchor="ctr"/>
          <a:lstStyle/>
          <a:p>
            <a:pPr indent="0" marL="0">
              <a:lnSpc>
                <a:spcPct val="105000"/>
              </a:lnSpc>
              <a:buNone/>
            </a:pPr>
            <a:r>
              <a:rPr lang="en-US" sz="1200" dirty="0">
                <a:solidFill>
                  <a:srgbClr val="93A1AF"/>
                </a:solidFill>
                <a:latin typeface="Calibri" pitchFamily="34" charset="0"/>
                <a:ea typeface="Calibri" pitchFamily="34" charset="-122"/>
                <a:cs typeface="Calibri" pitchFamily="34" charset="-120"/>
              </a:rPr>
              <a:t>A business owner asks in plain language and gets a governed answer immediately — no analyst ticket queue in between.</a:t>
            </a:r>
            <a:endParaRPr lang="en-US" sz="1200" dirty="0"/>
          </a:p>
        </p:txBody>
      </p:sp>
      <p:sp>
        <p:nvSpPr>
          <p:cNvPr id="9" name="Shape 7"/>
          <p:cNvSpPr/>
          <p:nvPr/>
        </p:nvSpPr>
        <p:spPr>
          <a:xfrm>
            <a:off x="6217920" y="1828800"/>
            <a:ext cx="5257800" cy="1755648"/>
          </a:xfrm>
          <a:prstGeom prst="roundRect">
            <a:avLst>
              <a:gd name="adj" fmla="val 4688"/>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0" name="Text 8"/>
          <p:cNvSpPr/>
          <p:nvPr/>
        </p:nvSpPr>
        <p:spPr>
          <a:xfrm>
            <a:off x="6537960" y="2066544"/>
            <a:ext cx="4617720" cy="502920"/>
          </a:xfrm>
          <a:prstGeom prst="rect">
            <a:avLst/>
          </a:prstGeom>
          <a:noFill/>
          <a:ln/>
        </p:spPr>
        <p:txBody>
          <a:bodyPr wrap="square" lIns="0" tIns="0" rIns="0" bIns="0" rtlCol="0" anchor="ctr"/>
          <a:lstStyle/>
          <a:p>
            <a:pPr indent="0" marL="0">
              <a:buNone/>
            </a:pPr>
            <a:r>
              <a:rPr lang="en-US" sz="2600" b="1" dirty="0">
                <a:solidFill>
                  <a:srgbClr val="FF8A3D"/>
                </a:solidFill>
                <a:latin typeface="Cambria" pitchFamily="34" charset="0"/>
                <a:ea typeface="Cambria" pitchFamily="34" charset="-122"/>
                <a:cs typeface="Cambria" pitchFamily="34" charset="-120"/>
              </a:rPr>
              <a:t>Unblocked</a:t>
            </a:r>
            <a:endParaRPr lang="en-US" sz="2600" dirty="0"/>
          </a:p>
        </p:txBody>
      </p:sp>
      <p:sp>
        <p:nvSpPr>
          <p:cNvPr id="11" name="Text 9"/>
          <p:cNvSpPr/>
          <p:nvPr/>
        </p:nvSpPr>
        <p:spPr>
          <a:xfrm>
            <a:off x="6537960" y="2578608"/>
            <a:ext cx="4617720" cy="292608"/>
          </a:xfrm>
          <a:prstGeom prst="rect">
            <a:avLst/>
          </a:prstGeom>
          <a:noFill/>
          <a:ln/>
        </p:spPr>
        <p:txBody>
          <a:bodyPr wrap="square" lIns="0" tIns="0" rIns="0" bIns="0" rtlCol="0" anchor="ctr"/>
          <a:lstStyle/>
          <a:p>
            <a:pPr indent="0" marL="0">
              <a:buNone/>
            </a:pPr>
            <a:r>
              <a:rPr lang="en-US" sz="1200" b="1" spc="150" kern="0" dirty="0">
                <a:solidFill>
                  <a:srgbClr val="E9EEF3"/>
                </a:solidFill>
                <a:latin typeface="Calibri" pitchFamily="34" charset="0"/>
                <a:ea typeface="Calibri" pitchFamily="34" charset="-122"/>
                <a:cs typeface="Calibri" pitchFamily="34" charset="-120"/>
              </a:rPr>
              <a:t>AI ADOPTION</a:t>
            </a:r>
            <a:endParaRPr lang="en-US" sz="1200" dirty="0"/>
          </a:p>
        </p:txBody>
      </p:sp>
      <p:sp>
        <p:nvSpPr>
          <p:cNvPr id="12" name="Text 10"/>
          <p:cNvSpPr/>
          <p:nvPr/>
        </p:nvSpPr>
        <p:spPr>
          <a:xfrm>
            <a:off x="6537960" y="2871216"/>
            <a:ext cx="4709160" cy="658368"/>
          </a:xfrm>
          <a:prstGeom prst="rect">
            <a:avLst/>
          </a:prstGeom>
          <a:noFill/>
          <a:ln/>
        </p:spPr>
        <p:txBody>
          <a:bodyPr wrap="square" lIns="0" tIns="0" rIns="0" bIns="0" rtlCol="0" anchor="ctr"/>
          <a:lstStyle/>
          <a:p>
            <a:pPr indent="0" marL="0">
              <a:lnSpc>
                <a:spcPct val="105000"/>
              </a:lnSpc>
              <a:buNone/>
            </a:pPr>
            <a:r>
              <a:rPr lang="en-US" sz="1200" dirty="0">
                <a:solidFill>
                  <a:srgbClr val="93A1AF"/>
                </a:solidFill>
                <a:latin typeface="Calibri" pitchFamily="34" charset="0"/>
                <a:ea typeface="Calibri" pitchFamily="34" charset="-122"/>
                <a:cs typeface="Calibri" pitchFamily="34" charset="-120"/>
              </a:rPr>
              <a:t>Risk stops being open-ended. Security reviews a bounded allowlist and a per-caller entitlement model instead of debating 'the model can see everything.'</a:t>
            </a:r>
            <a:endParaRPr lang="en-US" sz="1200" dirty="0"/>
          </a:p>
        </p:txBody>
      </p:sp>
      <p:sp>
        <p:nvSpPr>
          <p:cNvPr id="13" name="Shape 11"/>
          <p:cNvSpPr/>
          <p:nvPr/>
        </p:nvSpPr>
        <p:spPr>
          <a:xfrm>
            <a:off x="640080" y="3858768"/>
            <a:ext cx="5257800" cy="1755648"/>
          </a:xfrm>
          <a:prstGeom prst="roundRect">
            <a:avLst>
              <a:gd name="adj" fmla="val 4688"/>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4" name="Text 12"/>
          <p:cNvSpPr/>
          <p:nvPr/>
        </p:nvSpPr>
        <p:spPr>
          <a:xfrm>
            <a:off x="960120" y="4096512"/>
            <a:ext cx="4617720" cy="502920"/>
          </a:xfrm>
          <a:prstGeom prst="rect">
            <a:avLst/>
          </a:prstGeom>
          <a:noFill/>
          <a:ln/>
        </p:spPr>
        <p:txBody>
          <a:bodyPr wrap="square" lIns="0" tIns="0" rIns="0" bIns="0" rtlCol="0" anchor="ctr"/>
          <a:lstStyle/>
          <a:p>
            <a:pPr indent="0" marL="0">
              <a:buNone/>
            </a:pPr>
            <a:r>
              <a:rPr lang="en-US" sz="2600" b="1" dirty="0">
                <a:solidFill>
                  <a:srgbClr val="FF8A3D"/>
                </a:solidFill>
                <a:latin typeface="Cambria" pitchFamily="34" charset="0"/>
                <a:ea typeface="Cambria" pitchFamily="34" charset="-122"/>
                <a:cs typeface="Cambria" pitchFamily="34" charset="-120"/>
              </a:rPr>
              <a:t>Provable</a:t>
            </a:r>
            <a:endParaRPr lang="en-US" sz="2600" dirty="0"/>
          </a:p>
        </p:txBody>
      </p:sp>
      <p:sp>
        <p:nvSpPr>
          <p:cNvPr id="15" name="Text 13"/>
          <p:cNvSpPr/>
          <p:nvPr/>
        </p:nvSpPr>
        <p:spPr>
          <a:xfrm>
            <a:off x="960120" y="4608576"/>
            <a:ext cx="4617720" cy="292608"/>
          </a:xfrm>
          <a:prstGeom prst="rect">
            <a:avLst/>
          </a:prstGeom>
          <a:noFill/>
          <a:ln/>
        </p:spPr>
        <p:txBody>
          <a:bodyPr wrap="square" lIns="0" tIns="0" rIns="0" bIns="0" rtlCol="0" anchor="ctr"/>
          <a:lstStyle/>
          <a:p>
            <a:pPr indent="0" marL="0">
              <a:buNone/>
            </a:pPr>
            <a:r>
              <a:rPr lang="en-US" sz="1200" b="1" spc="150" kern="0" dirty="0">
                <a:solidFill>
                  <a:srgbClr val="E9EEF3"/>
                </a:solidFill>
                <a:latin typeface="Calibri" pitchFamily="34" charset="0"/>
                <a:ea typeface="Calibri" pitchFamily="34" charset="-122"/>
                <a:cs typeface="Calibri" pitchFamily="34" charset="-120"/>
              </a:rPr>
              <a:t>COMPLIANCE POSTURE</a:t>
            </a:r>
            <a:endParaRPr lang="en-US" sz="1200" dirty="0"/>
          </a:p>
        </p:txBody>
      </p:sp>
      <p:sp>
        <p:nvSpPr>
          <p:cNvPr id="16" name="Text 14"/>
          <p:cNvSpPr/>
          <p:nvPr/>
        </p:nvSpPr>
        <p:spPr>
          <a:xfrm>
            <a:off x="960120" y="4901184"/>
            <a:ext cx="4709160" cy="658368"/>
          </a:xfrm>
          <a:prstGeom prst="rect">
            <a:avLst/>
          </a:prstGeom>
          <a:noFill/>
          <a:ln/>
        </p:spPr>
        <p:txBody>
          <a:bodyPr wrap="square" lIns="0" tIns="0" rIns="0" bIns="0" rtlCol="0" anchor="ctr"/>
          <a:lstStyle/>
          <a:p>
            <a:pPr indent="0" marL="0">
              <a:lnSpc>
                <a:spcPct val="105000"/>
              </a:lnSpc>
              <a:buNone/>
            </a:pPr>
            <a:r>
              <a:rPr lang="en-US" sz="1200" dirty="0">
                <a:solidFill>
                  <a:srgbClr val="93A1AF"/>
                </a:solidFill>
                <a:latin typeface="Calibri" pitchFamily="34" charset="0"/>
                <a:ea typeface="Calibri" pitchFamily="34" charset="-122"/>
                <a:cs typeface="Calibri" pitchFamily="34" charset="-120"/>
              </a:rPr>
              <a:t>PII hashed at ingestion, no raw-row exfiltration, and a durable per-action record naming who did what.</a:t>
            </a:r>
            <a:endParaRPr lang="en-US" sz="1200" dirty="0"/>
          </a:p>
        </p:txBody>
      </p:sp>
      <p:sp>
        <p:nvSpPr>
          <p:cNvPr id="17" name="Shape 15"/>
          <p:cNvSpPr/>
          <p:nvPr/>
        </p:nvSpPr>
        <p:spPr>
          <a:xfrm>
            <a:off x="6217920" y="3858768"/>
            <a:ext cx="5257800" cy="1755648"/>
          </a:xfrm>
          <a:prstGeom prst="roundRect">
            <a:avLst>
              <a:gd name="adj" fmla="val 4688"/>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8" name="Text 16"/>
          <p:cNvSpPr/>
          <p:nvPr/>
        </p:nvSpPr>
        <p:spPr>
          <a:xfrm>
            <a:off x="6537960" y="4096512"/>
            <a:ext cx="4617720" cy="502920"/>
          </a:xfrm>
          <a:prstGeom prst="rect">
            <a:avLst/>
          </a:prstGeom>
          <a:noFill/>
          <a:ln/>
        </p:spPr>
        <p:txBody>
          <a:bodyPr wrap="square" lIns="0" tIns="0" rIns="0" bIns="0" rtlCol="0" anchor="ctr"/>
          <a:lstStyle/>
          <a:p>
            <a:pPr indent="0" marL="0">
              <a:buNone/>
            </a:pPr>
            <a:r>
              <a:rPr lang="en-US" sz="2600" b="1" dirty="0">
                <a:solidFill>
                  <a:srgbClr val="FF8A3D"/>
                </a:solidFill>
                <a:latin typeface="Cambria" pitchFamily="34" charset="0"/>
                <a:ea typeface="Cambria" pitchFamily="34" charset="-122"/>
                <a:cs typeface="Cambria" pitchFamily="34" charset="-120"/>
              </a:rPr>
              <a:t>Bounded</a:t>
            </a:r>
            <a:endParaRPr lang="en-US" sz="2600" dirty="0"/>
          </a:p>
        </p:txBody>
      </p:sp>
      <p:sp>
        <p:nvSpPr>
          <p:cNvPr id="19" name="Text 17"/>
          <p:cNvSpPr/>
          <p:nvPr/>
        </p:nvSpPr>
        <p:spPr>
          <a:xfrm>
            <a:off x="6537960" y="4608576"/>
            <a:ext cx="4617720" cy="292608"/>
          </a:xfrm>
          <a:prstGeom prst="rect">
            <a:avLst/>
          </a:prstGeom>
          <a:noFill/>
          <a:ln/>
        </p:spPr>
        <p:txBody>
          <a:bodyPr wrap="square" lIns="0" tIns="0" rIns="0" bIns="0" rtlCol="0" anchor="ctr"/>
          <a:lstStyle/>
          <a:p>
            <a:pPr indent="0" marL="0">
              <a:buNone/>
            </a:pPr>
            <a:r>
              <a:rPr lang="en-US" sz="1200" b="1" spc="150" kern="0" dirty="0">
                <a:solidFill>
                  <a:srgbClr val="E9EEF3"/>
                </a:solidFill>
                <a:latin typeface="Calibri" pitchFamily="34" charset="0"/>
                <a:ea typeface="Calibri" pitchFamily="34" charset="-122"/>
                <a:cs typeface="Calibri" pitchFamily="34" charset="-120"/>
              </a:rPr>
              <a:t>TOTAL COST OF OWNERSHIP</a:t>
            </a:r>
            <a:endParaRPr lang="en-US" sz="1200" dirty="0"/>
          </a:p>
        </p:txBody>
      </p:sp>
      <p:sp>
        <p:nvSpPr>
          <p:cNvPr id="20" name="Text 18"/>
          <p:cNvSpPr/>
          <p:nvPr/>
        </p:nvSpPr>
        <p:spPr>
          <a:xfrm>
            <a:off x="6537960" y="4901184"/>
            <a:ext cx="4709160" cy="658368"/>
          </a:xfrm>
          <a:prstGeom prst="rect">
            <a:avLst/>
          </a:prstGeom>
          <a:noFill/>
          <a:ln/>
        </p:spPr>
        <p:txBody>
          <a:bodyPr wrap="square" lIns="0" tIns="0" rIns="0" bIns="0" rtlCol="0" anchor="ctr"/>
          <a:lstStyle/>
          <a:p>
            <a:pPr indent="0" marL="0">
              <a:lnSpc>
                <a:spcPct val="105000"/>
              </a:lnSpc>
              <a:buNone/>
            </a:pPr>
            <a:r>
              <a:rPr lang="en-US" sz="1200" dirty="0">
                <a:solidFill>
                  <a:srgbClr val="93A1AF"/>
                </a:solidFill>
                <a:latin typeface="Calibri" pitchFamily="34" charset="0"/>
                <a:ea typeface="Calibri" pitchFamily="34" charset="-122"/>
                <a:cs typeface="Calibri" pitchFamily="34" charset="-120"/>
              </a:rPr>
              <a:t>No egress, no duplicate copies, no third-party inference on proprietary data. Cost scales with data scanned, not data stored.</a:t>
            </a:r>
            <a:endParaRPr lang="en-US" sz="1200" dirty="0"/>
          </a:p>
        </p:txBody>
      </p:sp>
      <p:sp>
        <p:nvSpPr>
          <p:cNvPr id="21" name="Text 19"/>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12</a:t>
            </a:r>
            <a:endParaRPr lang="en-US" sz="1000" dirty="0"/>
          </a:p>
        </p:txBody>
      </p:sp>
      <p:sp>
        <p:nvSpPr>
          <p:cNvPr id="22" name="Text 20"/>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1B"/>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STAKEHOLDERS</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One architecture, five wins</a:t>
            </a:r>
            <a:endParaRPr lang="en-US" sz="3200" dirty="0"/>
          </a:p>
        </p:txBody>
      </p:sp>
      <p:sp>
        <p:nvSpPr>
          <p:cNvPr id="5" name="Shape 3"/>
          <p:cNvSpPr/>
          <p:nvPr/>
        </p:nvSpPr>
        <p:spPr>
          <a:xfrm>
            <a:off x="640080" y="1874520"/>
            <a:ext cx="10927080" cy="713232"/>
          </a:xfrm>
          <a:prstGeom prst="roundRect">
            <a:avLst>
              <a:gd name="adj" fmla="val 11538"/>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6" name="Shape 4"/>
          <p:cNvSpPr/>
          <p:nvPr/>
        </p:nvSpPr>
        <p:spPr>
          <a:xfrm>
            <a:off x="914400" y="2020824"/>
            <a:ext cx="420624" cy="420624"/>
          </a:xfrm>
          <a:prstGeom prst="ellipse">
            <a:avLst/>
          </a:prstGeom>
          <a:solidFill>
            <a:srgbClr val="2A1B12"/>
          </a:solidFill>
          <a:ln w="15240">
            <a:solidFill>
              <a:srgbClr val="FF6C00"/>
            </a:solidFill>
            <a:prstDash val="solid"/>
          </a:ln>
        </p:spPr>
      </p:sp>
      <p:sp>
        <p:nvSpPr>
          <p:cNvPr id="7" name="Shape 5"/>
          <p:cNvSpPr/>
          <p:nvPr/>
        </p:nvSpPr>
        <p:spPr>
          <a:xfrm>
            <a:off x="1074420" y="2180844"/>
            <a:ext cx="100584" cy="100584"/>
          </a:xfrm>
          <a:prstGeom prst="ellipse">
            <a:avLst/>
          </a:prstGeom>
          <a:solidFill>
            <a:srgbClr val="FF6C00"/>
          </a:solidFill>
          <a:ln/>
        </p:spPr>
      </p:sp>
      <p:sp>
        <p:nvSpPr>
          <p:cNvPr id="8" name="Text 6"/>
          <p:cNvSpPr/>
          <p:nvPr/>
        </p:nvSpPr>
        <p:spPr>
          <a:xfrm>
            <a:off x="1554480" y="1874520"/>
            <a:ext cx="3200400" cy="713232"/>
          </a:xfrm>
          <a:prstGeom prst="rect">
            <a:avLst/>
          </a:prstGeom>
          <a:noFill/>
          <a:ln/>
        </p:spPr>
        <p:txBody>
          <a:bodyPr wrap="square" lIns="0" tIns="0" rIns="0" bIns="0" rtlCol="0" anchor="ctr"/>
          <a:lstStyle/>
          <a:p>
            <a:pPr indent="0" marL="0">
              <a:buNone/>
            </a:pPr>
            <a:r>
              <a:rPr lang="en-US" sz="1500" b="1" dirty="0">
                <a:solidFill>
                  <a:srgbClr val="E9EEF3"/>
                </a:solidFill>
                <a:latin typeface="Calibri" pitchFamily="34" charset="0"/>
                <a:ea typeface="Calibri" pitchFamily="34" charset="-122"/>
                <a:cs typeface="Calibri" pitchFamily="34" charset="-120"/>
              </a:rPr>
              <a:t>CISO / Security</a:t>
            </a:r>
            <a:endParaRPr lang="en-US" sz="1500" dirty="0"/>
          </a:p>
        </p:txBody>
      </p:sp>
      <p:sp>
        <p:nvSpPr>
          <p:cNvPr id="9" name="Text 7"/>
          <p:cNvSpPr/>
          <p:nvPr/>
        </p:nvSpPr>
        <p:spPr>
          <a:xfrm>
            <a:off x="4846320" y="1874520"/>
            <a:ext cx="6492240" cy="713232"/>
          </a:xfrm>
          <a:prstGeom prst="rect">
            <a:avLst/>
          </a:prstGeom>
          <a:noFill/>
          <a:ln/>
        </p:spPr>
        <p:txBody>
          <a:bodyPr wrap="square" lIns="0" tIns="0" rIns="0" bIns="0" rtlCol="0" anchor="ctr"/>
          <a:lstStyle/>
          <a:p>
            <a:pPr indent="0" marL="0">
              <a:lnSpc>
                <a:spcPct val="105000"/>
              </a:lnSpc>
              <a:buNone/>
            </a:pPr>
            <a:r>
              <a:rPr lang="en-US" sz="1250" dirty="0">
                <a:solidFill>
                  <a:srgbClr val="93A1AF"/>
                </a:solidFill>
                <a:latin typeface="Calibri" pitchFamily="34" charset="0"/>
                <a:ea typeface="Calibri" pitchFamily="34" charset="-122"/>
                <a:cs typeface="Calibri" pitchFamily="34" charset="-120"/>
              </a:rPr>
              <a:t>A bounded, auditable AI risk surface. Injection and exfiltration prevented by construction; access scoped per caller.</a:t>
            </a:r>
            <a:endParaRPr lang="en-US" sz="1250" dirty="0"/>
          </a:p>
        </p:txBody>
      </p:sp>
      <p:sp>
        <p:nvSpPr>
          <p:cNvPr id="10" name="Shape 8"/>
          <p:cNvSpPr/>
          <p:nvPr/>
        </p:nvSpPr>
        <p:spPr>
          <a:xfrm>
            <a:off x="640080" y="2715768"/>
            <a:ext cx="10927080" cy="713232"/>
          </a:xfrm>
          <a:prstGeom prst="roundRect">
            <a:avLst>
              <a:gd name="adj" fmla="val 11538"/>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1" name="Shape 9"/>
          <p:cNvSpPr/>
          <p:nvPr/>
        </p:nvSpPr>
        <p:spPr>
          <a:xfrm>
            <a:off x="914400" y="2862072"/>
            <a:ext cx="420624" cy="420624"/>
          </a:xfrm>
          <a:prstGeom prst="ellipse">
            <a:avLst/>
          </a:prstGeom>
          <a:solidFill>
            <a:srgbClr val="2A1B12"/>
          </a:solidFill>
          <a:ln w="15240">
            <a:solidFill>
              <a:srgbClr val="FF6C00"/>
            </a:solidFill>
            <a:prstDash val="solid"/>
          </a:ln>
        </p:spPr>
      </p:sp>
      <p:sp>
        <p:nvSpPr>
          <p:cNvPr id="12" name="Shape 10"/>
          <p:cNvSpPr/>
          <p:nvPr/>
        </p:nvSpPr>
        <p:spPr>
          <a:xfrm>
            <a:off x="1074420" y="3022092"/>
            <a:ext cx="100584" cy="100584"/>
          </a:xfrm>
          <a:prstGeom prst="ellipse">
            <a:avLst/>
          </a:prstGeom>
          <a:solidFill>
            <a:srgbClr val="FF6C00"/>
          </a:solidFill>
          <a:ln/>
        </p:spPr>
      </p:sp>
      <p:sp>
        <p:nvSpPr>
          <p:cNvPr id="13" name="Text 11"/>
          <p:cNvSpPr/>
          <p:nvPr/>
        </p:nvSpPr>
        <p:spPr>
          <a:xfrm>
            <a:off x="1554480" y="2715768"/>
            <a:ext cx="3200400" cy="713232"/>
          </a:xfrm>
          <a:prstGeom prst="rect">
            <a:avLst/>
          </a:prstGeom>
          <a:noFill/>
          <a:ln/>
        </p:spPr>
        <p:txBody>
          <a:bodyPr wrap="square" lIns="0" tIns="0" rIns="0" bIns="0" rtlCol="0" anchor="ctr"/>
          <a:lstStyle/>
          <a:p>
            <a:pPr indent="0" marL="0">
              <a:buNone/>
            </a:pPr>
            <a:r>
              <a:rPr lang="en-US" sz="1500" b="1" dirty="0">
                <a:solidFill>
                  <a:srgbClr val="E9EEF3"/>
                </a:solidFill>
                <a:latin typeface="Calibri" pitchFamily="34" charset="0"/>
                <a:ea typeface="Calibri" pitchFamily="34" charset="-122"/>
                <a:cs typeface="Calibri" pitchFamily="34" charset="-120"/>
              </a:rPr>
              <a:t>CDO / Data leadership</a:t>
            </a:r>
            <a:endParaRPr lang="en-US" sz="1500" dirty="0"/>
          </a:p>
        </p:txBody>
      </p:sp>
      <p:sp>
        <p:nvSpPr>
          <p:cNvPr id="14" name="Text 12"/>
          <p:cNvSpPr/>
          <p:nvPr/>
        </p:nvSpPr>
        <p:spPr>
          <a:xfrm>
            <a:off x="4846320" y="2715768"/>
            <a:ext cx="6492240" cy="713232"/>
          </a:xfrm>
          <a:prstGeom prst="rect">
            <a:avLst/>
          </a:prstGeom>
          <a:noFill/>
          <a:ln/>
        </p:spPr>
        <p:txBody>
          <a:bodyPr wrap="square" lIns="0" tIns="0" rIns="0" bIns="0" rtlCol="0" anchor="ctr"/>
          <a:lstStyle/>
          <a:p>
            <a:pPr indent="0" marL="0">
              <a:lnSpc>
                <a:spcPct val="105000"/>
              </a:lnSpc>
              <a:buNone/>
            </a:pPr>
            <a:r>
              <a:rPr lang="en-US" sz="1250" dirty="0">
                <a:solidFill>
                  <a:srgbClr val="93A1AF"/>
                </a:solidFill>
                <a:latin typeface="Calibri" pitchFamily="34" charset="0"/>
                <a:ea typeface="Calibri" pitchFamily="34" charset="-122"/>
                <a:cs typeface="Calibri" pitchFamily="34" charset="-120"/>
              </a:rPr>
              <a:t>Self-service analytics for the business without widening data access. Analysts redeployed from lookups to modelling.</a:t>
            </a:r>
            <a:endParaRPr lang="en-US" sz="1250" dirty="0"/>
          </a:p>
        </p:txBody>
      </p:sp>
      <p:sp>
        <p:nvSpPr>
          <p:cNvPr id="15" name="Shape 13"/>
          <p:cNvSpPr/>
          <p:nvPr/>
        </p:nvSpPr>
        <p:spPr>
          <a:xfrm>
            <a:off x="640080" y="3557016"/>
            <a:ext cx="10927080" cy="713232"/>
          </a:xfrm>
          <a:prstGeom prst="roundRect">
            <a:avLst>
              <a:gd name="adj" fmla="val 11538"/>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6" name="Shape 14"/>
          <p:cNvSpPr/>
          <p:nvPr/>
        </p:nvSpPr>
        <p:spPr>
          <a:xfrm>
            <a:off x="914400" y="3703320"/>
            <a:ext cx="420624" cy="420624"/>
          </a:xfrm>
          <a:prstGeom prst="ellipse">
            <a:avLst/>
          </a:prstGeom>
          <a:solidFill>
            <a:srgbClr val="2A1B12"/>
          </a:solidFill>
          <a:ln w="15240">
            <a:solidFill>
              <a:srgbClr val="FF6C00"/>
            </a:solidFill>
            <a:prstDash val="solid"/>
          </a:ln>
        </p:spPr>
      </p:sp>
      <p:sp>
        <p:nvSpPr>
          <p:cNvPr id="17" name="Shape 15"/>
          <p:cNvSpPr/>
          <p:nvPr/>
        </p:nvSpPr>
        <p:spPr>
          <a:xfrm>
            <a:off x="1074420" y="3863340"/>
            <a:ext cx="100584" cy="100584"/>
          </a:xfrm>
          <a:prstGeom prst="ellipse">
            <a:avLst/>
          </a:prstGeom>
          <a:solidFill>
            <a:srgbClr val="FF6C00"/>
          </a:solidFill>
          <a:ln/>
        </p:spPr>
      </p:sp>
      <p:sp>
        <p:nvSpPr>
          <p:cNvPr id="18" name="Text 16"/>
          <p:cNvSpPr/>
          <p:nvPr/>
        </p:nvSpPr>
        <p:spPr>
          <a:xfrm>
            <a:off x="1554480" y="3557016"/>
            <a:ext cx="3200400" cy="713232"/>
          </a:xfrm>
          <a:prstGeom prst="rect">
            <a:avLst/>
          </a:prstGeom>
          <a:noFill/>
          <a:ln/>
        </p:spPr>
        <p:txBody>
          <a:bodyPr wrap="square" lIns="0" tIns="0" rIns="0" bIns="0" rtlCol="0" anchor="ctr"/>
          <a:lstStyle/>
          <a:p>
            <a:pPr indent="0" marL="0">
              <a:buNone/>
            </a:pPr>
            <a:r>
              <a:rPr lang="en-US" sz="1500" b="1" dirty="0">
                <a:solidFill>
                  <a:srgbClr val="E9EEF3"/>
                </a:solidFill>
                <a:latin typeface="Calibri" pitchFamily="34" charset="0"/>
                <a:ea typeface="Calibri" pitchFamily="34" charset="-122"/>
                <a:cs typeface="Calibri" pitchFamily="34" charset="-120"/>
              </a:rPr>
              <a:t>Compliance / Legal</a:t>
            </a:r>
            <a:endParaRPr lang="en-US" sz="1500" dirty="0"/>
          </a:p>
        </p:txBody>
      </p:sp>
      <p:sp>
        <p:nvSpPr>
          <p:cNvPr id="19" name="Text 17"/>
          <p:cNvSpPr/>
          <p:nvPr/>
        </p:nvSpPr>
        <p:spPr>
          <a:xfrm>
            <a:off x="4846320" y="3557016"/>
            <a:ext cx="6492240" cy="713232"/>
          </a:xfrm>
          <a:prstGeom prst="rect">
            <a:avLst/>
          </a:prstGeom>
          <a:noFill/>
          <a:ln/>
        </p:spPr>
        <p:txBody>
          <a:bodyPr wrap="square" lIns="0" tIns="0" rIns="0" bIns="0" rtlCol="0" anchor="ctr"/>
          <a:lstStyle/>
          <a:p>
            <a:pPr indent="0" marL="0">
              <a:lnSpc>
                <a:spcPct val="105000"/>
              </a:lnSpc>
              <a:buNone/>
            </a:pPr>
            <a:r>
              <a:rPr lang="en-US" sz="1250" dirty="0">
                <a:solidFill>
                  <a:srgbClr val="93A1AF"/>
                </a:solidFill>
                <a:latin typeface="Calibri" pitchFamily="34" charset="0"/>
                <a:ea typeface="Calibri" pitchFamily="34" charset="-122"/>
                <a:cs typeface="Calibri" pitchFamily="34" charset="-120"/>
              </a:rPr>
              <a:t>A durable, queryable record of every AI action — who asked, what was refused — that shortens review and audit cycles.</a:t>
            </a:r>
            <a:endParaRPr lang="en-US" sz="1250" dirty="0"/>
          </a:p>
        </p:txBody>
      </p:sp>
      <p:sp>
        <p:nvSpPr>
          <p:cNvPr id="20" name="Shape 18"/>
          <p:cNvSpPr/>
          <p:nvPr/>
        </p:nvSpPr>
        <p:spPr>
          <a:xfrm>
            <a:off x="640080" y="4398264"/>
            <a:ext cx="10927080" cy="713232"/>
          </a:xfrm>
          <a:prstGeom prst="roundRect">
            <a:avLst>
              <a:gd name="adj" fmla="val 11538"/>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1" name="Shape 19"/>
          <p:cNvSpPr/>
          <p:nvPr/>
        </p:nvSpPr>
        <p:spPr>
          <a:xfrm>
            <a:off x="914400" y="4544568"/>
            <a:ext cx="420624" cy="420624"/>
          </a:xfrm>
          <a:prstGeom prst="ellipse">
            <a:avLst/>
          </a:prstGeom>
          <a:solidFill>
            <a:srgbClr val="2A1B12"/>
          </a:solidFill>
          <a:ln w="15240">
            <a:solidFill>
              <a:srgbClr val="FF6C00"/>
            </a:solidFill>
            <a:prstDash val="solid"/>
          </a:ln>
        </p:spPr>
      </p:sp>
      <p:sp>
        <p:nvSpPr>
          <p:cNvPr id="22" name="Shape 20"/>
          <p:cNvSpPr/>
          <p:nvPr/>
        </p:nvSpPr>
        <p:spPr>
          <a:xfrm>
            <a:off x="1074420" y="4704588"/>
            <a:ext cx="100584" cy="100584"/>
          </a:xfrm>
          <a:prstGeom prst="ellipse">
            <a:avLst/>
          </a:prstGeom>
          <a:solidFill>
            <a:srgbClr val="FF6C00"/>
          </a:solidFill>
          <a:ln/>
        </p:spPr>
      </p:sp>
      <p:sp>
        <p:nvSpPr>
          <p:cNvPr id="23" name="Text 21"/>
          <p:cNvSpPr/>
          <p:nvPr/>
        </p:nvSpPr>
        <p:spPr>
          <a:xfrm>
            <a:off x="1554480" y="4398264"/>
            <a:ext cx="3200400" cy="713232"/>
          </a:xfrm>
          <a:prstGeom prst="rect">
            <a:avLst/>
          </a:prstGeom>
          <a:noFill/>
          <a:ln/>
        </p:spPr>
        <p:txBody>
          <a:bodyPr wrap="square" lIns="0" tIns="0" rIns="0" bIns="0" rtlCol="0" anchor="ctr"/>
          <a:lstStyle/>
          <a:p>
            <a:pPr indent="0" marL="0">
              <a:buNone/>
            </a:pPr>
            <a:r>
              <a:rPr lang="en-US" sz="1500" b="1" dirty="0">
                <a:solidFill>
                  <a:srgbClr val="E9EEF3"/>
                </a:solidFill>
                <a:latin typeface="Calibri" pitchFamily="34" charset="0"/>
                <a:ea typeface="Calibri" pitchFamily="34" charset="-122"/>
                <a:cs typeface="Calibri" pitchFamily="34" charset="-120"/>
              </a:rPr>
              <a:t>Business units</a:t>
            </a:r>
            <a:endParaRPr lang="en-US" sz="1500" dirty="0"/>
          </a:p>
        </p:txBody>
      </p:sp>
      <p:sp>
        <p:nvSpPr>
          <p:cNvPr id="24" name="Text 22"/>
          <p:cNvSpPr/>
          <p:nvPr/>
        </p:nvSpPr>
        <p:spPr>
          <a:xfrm>
            <a:off x="4846320" y="4398264"/>
            <a:ext cx="6492240" cy="713232"/>
          </a:xfrm>
          <a:prstGeom prst="rect">
            <a:avLst/>
          </a:prstGeom>
          <a:noFill/>
          <a:ln/>
        </p:spPr>
        <p:txBody>
          <a:bodyPr wrap="square" lIns="0" tIns="0" rIns="0" bIns="0" rtlCol="0" anchor="ctr"/>
          <a:lstStyle/>
          <a:p>
            <a:pPr indent="0" marL="0">
              <a:lnSpc>
                <a:spcPct val="105000"/>
              </a:lnSpc>
              <a:buNone/>
            </a:pPr>
            <a:r>
              <a:rPr lang="en-US" sz="1250" dirty="0">
                <a:solidFill>
                  <a:srgbClr val="93A1AF"/>
                </a:solidFill>
                <a:latin typeface="Calibri" pitchFamily="34" charset="0"/>
                <a:ea typeface="Calibri" pitchFamily="34" charset="-122"/>
                <a:cs typeface="Calibri" pitchFamily="34" charset="-120"/>
              </a:rPr>
              <a:t>Answers grounded in live, governed enterprise data — in plain language, in seconds.</a:t>
            </a:r>
            <a:endParaRPr lang="en-US" sz="1250" dirty="0"/>
          </a:p>
        </p:txBody>
      </p:sp>
      <p:sp>
        <p:nvSpPr>
          <p:cNvPr id="25" name="Shape 23"/>
          <p:cNvSpPr/>
          <p:nvPr/>
        </p:nvSpPr>
        <p:spPr>
          <a:xfrm>
            <a:off x="640080" y="5239512"/>
            <a:ext cx="10927080" cy="713232"/>
          </a:xfrm>
          <a:prstGeom prst="roundRect">
            <a:avLst>
              <a:gd name="adj" fmla="val 11538"/>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6" name="Shape 24"/>
          <p:cNvSpPr/>
          <p:nvPr/>
        </p:nvSpPr>
        <p:spPr>
          <a:xfrm>
            <a:off x="914400" y="5385816"/>
            <a:ext cx="420624" cy="420624"/>
          </a:xfrm>
          <a:prstGeom prst="ellipse">
            <a:avLst/>
          </a:prstGeom>
          <a:solidFill>
            <a:srgbClr val="2A1B12"/>
          </a:solidFill>
          <a:ln w="15240">
            <a:solidFill>
              <a:srgbClr val="FF6C00"/>
            </a:solidFill>
            <a:prstDash val="solid"/>
          </a:ln>
        </p:spPr>
      </p:sp>
      <p:sp>
        <p:nvSpPr>
          <p:cNvPr id="27" name="Shape 25"/>
          <p:cNvSpPr/>
          <p:nvPr/>
        </p:nvSpPr>
        <p:spPr>
          <a:xfrm>
            <a:off x="1074420" y="5545836"/>
            <a:ext cx="100584" cy="100584"/>
          </a:xfrm>
          <a:prstGeom prst="ellipse">
            <a:avLst/>
          </a:prstGeom>
          <a:solidFill>
            <a:srgbClr val="FF6C00"/>
          </a:solidFill>
          <a:ln/>
        </p:spPr>
      </p:sp>
      <p:sp>
        <p:nvSpPr>
          <p:cNvPr id="28" name="Text 26"/>
          <p:cNvSpPr/>
          <p:nvPr/>
        </p:nvSpPr>
        <p:spPr>
          <a:xfrm>
            <a:off x="1554480" y="5239512"/>
            <a:ext cx="3200400" cy="713232"/>
          </a:xfrm>
          <a:prstGeom prst="rect">
            <a:avLst/>
          </a:prstGeom>
          <a:noFill/>
          <a:ln/>
        </p:spPr>
        <p:txBody>
          <a:bodyPr wrap="square" lIns="0" tIns="0" rIns="0" bIns="0" rtlCol="0" anchor="ctr"/>
          <a:lstStyle/>
          <a:p>
            <a:pPr indent="0" marL="0">
              <a:buNone/>
            </a:pPr>
            <a:r>
              <a:rPr lang="en-US" sz="1500" b="1" dirty="0">
                <a:solidFill>
                  <a:srgbClr val="E9EEF3"/>
                </a:solidFill>
                <a:latin typeface="Calibri" pitchFamily="34" charset="0"/>
                <a:ea typeface="Calibri" pitchFamily="34" charset="-122"/>
                <a:cs typeface="Calibri" pitchFamily="34" charset="-120"/>
              </a:rPr>
              <a:t>Finance / CFO</a:t>
            </a:r>
            <a:endParaRPr lang="en-US" sz="1500" dirty="0"/>
          </a:p>
        </p:txBody>
      </p:sp>
      <p:sp>
        <p:nvSpPr>
          <p:cNvPr id="29" name="Text 27"/>
          <p:cNvSpPr/>
          <p:nvPr/>
        </p:nvSpPr>
        <p:spPr>
          <a:xfrm>
            <a:off x="4846320" y="5239512"/>
            <a:ext cx="6492240" cy="713232"/>
          </a:xfrm>
          <a:prstGeom prst="rect">
            <a:avLst/>
          </a:prstGeom>
          <a:noFill/>
          <a:ln/>
        </p:spPr>
        <p:txBody>
          <a:bodyPr wrap="square" lIns="0" tIns="0" rIns="0" bIns="0" rtlCol="0" anchor="ctr"/>
          <a:lstStyle/>
          <a:p>
            <a:pPr indent="0" marL="0">
              <a:lnSpc>
                <a:spcPct val="105000"/>
              </a:lnSpc>
              <a:buNone/>
            </a:pPr>
            <a:r>
              <a:rPr lang="en-US" sz="1250" dirty="0">
                <a:solidFill>
                  <a:srgbClr val="93A1AF"/>
                </a:solidFill>
                <a:latin typeface="Calibri" pitchFamily="34" charset="0"/>
                <a:ea typeface="Calibri" pitchFamily="34" charset="-122"/>
                <a:cs typeface="Calibri" pitchFamily="34" charset="-120"/>
              </a:rPr>
              <a:t>AI value captured without egress, duplication, or third-party inference costs.</a:t>
            </a:r>
            <a:endParaRPr lang="en-US" sz="1250" dirty="0"/>
          </a:p>
        </p:txBody>
      </p:sp>
      <p:sp>
        <p:nvSpPr>
          <p:cNvPr id="30" name="Text 28"/>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13</a:t>
            </a:r>
            <a:endParaRPr lang="en-US" sz="1000" dirty="0"/>
          </a:p>
        </p:txBody>
      </p:sp>
      <p:sp>
        <p:nvSpPr>
          <p:cNvPr id="31" name="Text 29"/>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621"/>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ellipse">
            <a:avLst/>
          </a:prstGeom>
          <a:solidFill>
            <a:srgbClr val="FF6C00"/>
          </a:solidFill>
          <a:ln/>
        </p:spPr>
      </p:sp>
      <p:sp>
        <p:nvSpPr>
          <p:cNvPr id="3" name="Text 1"/>
          <p:cNvSpPr/>
          <p:nvPr/>
        </p:nvSpPr>
        <p:spPr>
          <a:xfrm>
            <a:off x="896112" y="457200"/>
            <a:ext cx="9144000" cy="365760"/>
          </a:xfrm>
          <a:prstGeom prst="rect">
            <a:avLst/>
          </a:prstGeom>
          <a:noFill/>
          <a:ln/>
        </p:spPr>
        <p:txBody>
          <a:bodyPr wrap="square" lIns="0" tIns="0" rIns="0" bIns="0" rtlCol="0" anchor="ctr"/>
          <a:lstStyle/>
          <a:p>
            <a:pPr indent="0" marL="0">
              <a:buNone/>
            </a:pPr>
            <a:r>
              <a:rPr lang="en-US" sz="1200" b="1" spc="200" kern="0" dirty="0">
                <a:solidFill>
                  <a:srgbClr val="FF8A3D"/>
                </a:solidFill>
                <a:latin typeface="Calibri" pitchFamily="34" charset="0"/>
                <a:ea typeface="Calibri" pitchFamily="34" charset="-122"/>
                <a:cs typeface="Calibri" pitchFamily="34" charset="-120"/>
              </a:rPr>
              <a:t>PATH TO PRODUCTION</a:t>
            </a:r>
            <a:endParaRPr lang="en-US" sz="1200" dirty="0"/>
          </a:p>
        </p:txBody>
      </p:sp>
      <p:sp>
        <p:nvSpPr>
          <p:cNvPr id="4" name="Text 2"/>
          <p:cNvSpPr/>
          <p:nvPr/>
        </p:nvSpPr>
        <p:spPr>
          <a:xfrm>
            <a:off x="640080" y="841248"/>
            <a:ext cx="10881360" cy="914400"/>
          </a:xfrm>
          <a:prstGeom prst="rect">
            <a:avLst/>
          </a:prstGeom>
          <a:noFill/>
          <a:ln/>
        </p:spPr>
        <p:txBody>
          <a:bodyPr wrap="square" lIns="0" tIns="0" rIns="0" bIns="0" rtlCol="0" anchor="t"/>
          <a:lstStyle/>
          <a:p>
            <a:pPr indent="0" marL="0">
              <a:buNone/>
            </a:pPr>
            <a:r>
              <a:rPr lang="en-US" sz="3200" b="1" dirty="0">
                <a:solidFill>
                  <a:srgbClr val="E9EEF3"/>
                </a:solidFill>
                <a:latin typeface="Cambria" pitchFamily="34" charset="0"/>
                <a:ea typeface="Cambria" pitchFamily="34" charset="-122"/>
                <a:cs typeface="Cambria" pitchFamily="34" charset="-120"/>
              </a:rPr>
              <a:t>The demo IS the architecture</a:t>
            </a:r>
            <a:endParaRPr lang="en-US" sz="3200" dirty="0"/>
          </a:p>
        </p:txBody>
      </p:sp>
      <p:sp>
        <p:nvSpPr>
          <p:cNvPr id="5" name="Text 3"/>
          <p:cNvSpPr/>
          <p:nvPr/>
        </p:nvSpPr>
        <p:spPr>
          <a:xfrm>
            <a:off x="640080" y="1783080"/>
            <a:ext cx="10789920" cy="640080"/>
          </a:xfrm>
          <a:prstGeom prst="rect">
            <a:avLst/>
          </a:prstGeom>
          <a:noFill/>
          <a:ln/>
        </p:spPr>
        <p:txBody>
          <a:bodyPr wrap="square" lIns="0" tIns="0" rIns="0" bIns="0" rtlCol="0" anchor="ctr"/>
          <a:lstStyle/>
          <a:p>
            <a:pPr indent="0" marL="0">
              <a:lnSpc>
                <a:spcPct val="110000"/>
              </a:lnSpc>
              <a:buNone/>
            </a:pPr>
            <a:r>
              <a:rPr lang="en-US" sz="1550" dirty="0">
                <a:solidFill>
                  <a:srgbClr val="93A1AF"/>
                </a:solidFill>
                <a:latin typeface="Calibri" pitchFamily="34" charset="0"/>
                <a:ea typeface="Calibri" pitchFamily="34" charset="-122"/>
                <a:cs typeface="Calibri" pitchFamily="34" charset="-120"/>
              </a:rPr>
              <a:t>Nothing here is throwaway. Each local component swaps for its Databricks counterpart with the same contract — same medallion, same function signature, same governance model.</a:t>
            </a:r>
            <a:endParaRPr lang="en-US" sz="1550" dirty="0"/>
          </a:p>
        </p:txBody>
      </p:sp>
      <p:sp>
        <p:nvSpPr>
          <p:cNvPr id="6" name="Text 4"/>
          <p:cNvSpPr/>
          <p:nvPr/>
        </p:nvSpPr>
        <p:spPr>
          <a:xfrm>
            <a:off x="777240" y="2395728"/>
            <a:ext cx="4480560" cy="292608"/>
          </a:xfrm>
          <a:prstGeom prst="rect">
            <a:avLst/>
          </a:prstGeom>
          <a:noFill/>
          <a:ln/>
        </p:spPr>
        <p:txBody>
          <a:bodyPr wrap="square" lIns="0" tIns="0" rIns="0" bIns="0" rtlCol="0" anchor="ctr"/>
          <a:lstStyle/>
          <a:p>
            <a:pPr indent="0" marL="0">
              <a:buNone/>
            </a:pPr>
            <a:r>
              <a:rPr lang="en-US" sz="1150" b="1" spc="150" kern="0" dirty="0">
                <a:solidFill>
                  <a:srgbClr val="6C7C8A"/>
                </a:solidFill>
                <a:latin typeface="Calibri" pitchFamily="34" charset="0"/>
                <a:ea typeface="Calibri" pitchFamily="34" charset="-122"/>
                <a:cs typeface="Calibri" pitchFamily="34" charset="-120"/>
              </a:rPr>
              <a:t>SANDBOX (RUNS ON A LAPTOP)</a:t>
            </a:r>
            <a:endParaRPr lang="en-US" sz="1150" dirty="0"/>
          </a:p>
        </p:txBody>
      </p:sp>
      <p:sp>
        <p:nvSpPr>
          <p:cNvPr id="7" name="Text 5"/>
          <p:cNvSpPr/>
          <p:nvPr/>
        </p:nvSpPr>
        <p:spPr>
          <a:xfrm>
            <a:off x="5623560" y="2395728"/>
            <a:ext cx="6080760" cy="292608"/>
          </a:xfrm>
          <a:prstGeom prst="rect">
            <a:avLst/>
          </a:prstGeom>
          <a:noFill/>
          <a:ln/>
        </p:spPr>
        <p:txBody>
          <a:bodyPr wrap="square" lIns="0" tIns="0" rIns="0" bIns="0" rtlCol="0" anchor="ctr"/>
          <a:lstStyle/>
          <a:p>
            <a:pPr indent="0" marL="0">
              <a:buNone/>
            </a:pPr>
            <a:r>
              <a:rPr lang="en-US" sz="1150" b="1" spc="150" kern="0" dirty="0">
                <a:solidFill>
                  <a:srgbClr val="FF8A3D"/>
                </a:solidFill>
                <a:latin typeface="Calibri" pitchFamily="34" charset="0"/>
                <a:ea typeface="Calibri" pitchFamily="34" charset="-122"/>
                <a:cs typeface="Calibri" pitchFamily="34" charset="-120"/>
              </a:rPr>
              <a:t>PRODUCTION DATABRICKS</a:t>
            </a:r>
            <a:endParaRPr lang="en-US" sz="1150" dirty="0"/>
          </a:p>
        </p:txBody>
      </p:sp>
      <p:sp>
        <p:nvSpPr>
          <p:cNvPr id="8" name="Shape 6"/>
          <p:cNvSpPr/>
          <p:nvPr/>
        </p:nvSpPr>
        <p:spPr>
          <a:xfrm>
            <a:off x="640080" y="2761488"/>
            <a:ext cx="4480560" cy="384048"/>
          </a:xfrm>
          <a:prstGeom prst="roundRect">
            <a:avLst>
              <a:gd name="adj" fmla="val 21429"/>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9" name="Text 7"/>
          <p:cNvSpPr/>
          <p:nvPr/>
        </p:nvSpPr>
        <p:spPr>
          <a:xfrm>
            <a:off x="896112" y="2761488"/>
            <a:ext cx="40690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DuckDB medallion engine</a:t>
            </a:r>
            <a:endParaRPr lang="en-US" sz="1150" dirty="0"/>
          </a:p>
        </p:txBody>
      </p:sp>
      <p:sp>
        <p:nvSpPr>
          <p:cNvPr id="10" name="Shape 8"/>
          <p:cNvSpPr/>
          <p:nvPr/>
        </p:nvSpPr>
        <p:spPr>
          <a:xfrm>
            <a:off x="5184648" y="2889504"/>
            <a:ext cx="237744" cy="128016"/>
          </a:xfrm>
          <a:prstGeom prst="rightArrow">
            <a:avLst/>
          </a:prstGeom>
          <a:solidFill>
            <a:srgbClr val="FF6C00"/>
          </a:solidFill>
          <a:ln/>
        </p:spPr>
      </p:sp>
      <p:sp>
        <p:nvSpPr>
          <p:cNvPr id="11" name="Shape 9"/>
          <p:cNvSpPr/>
          <p:nvPr/>
        </p:nvSpPr>
        <p:spPr>
          <a:xfrm>
            <a:off x="5486400" y="2761488"/>
            <a:ext cx="6080760" cy="384048"/>
          </a:xfrm>
          <a:prstGeom prst="roundRect">
            <a:avLst>
              <a:gd name="adj" fmla="val 21429"/>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2" name="Text 10"/>
          <p:cNvSpPr/>
          <p:nvPr/>
        </p:nvSpPr>
        <p:spPr>
          <a:xfrm>
            <a:off x="5742432" y="2761488"/>
            <a:ext cx="56692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Serverless SQL Warehouse over Delta + Unity Catalog</a:t>
            </a:r>
            <a:endParaRPr lang="en-US" sz="1150" dirty="0"/>
          </a:p>
        </p:txBody>
      </p:sp>
      <p:sp>
        <p:nvSpPr>
          <p:cNvPr id="13" name="Shape 11"/>
          <p:cNvSpPr/>
          <p:nvPr/>
        </p:nvSpPr>
        <p:spPr>
          <a:xfrm>
            <a:off x="640080" y="3218688"/>
            <a:ext cx="4480560" cy="384048"/>
          </a:xfrm>
          <a:prstGeom prst="roundRect">
            <a:avLst>
              <a:gd name="adj" fmla="val 21429"/>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4" name="Text 12"/>
          <p:cNvSpPr/>
          <p:nvPr/>
        </p:nvSpPr>
        <p:spPr>
          <a:xfrm>
            <a:off x="896112" y="3218688"/>
            <a:ext cx="40690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TF-IDF vector index</a:t>
            </a:r>
            <a:endParaRPr lang="en-US" sz="1150" dirty="0"/>
          </a:p>
        </p:txBody>
      </p:sp>
      <p:sp>
        <p:nvSpPr>
          <p:cNvPr id="15" name="Shape 13"/>
          <p:cNvSpPr/>
          <p:nvPr/>
        </p:nvSpPr>
        <p:spPr>
          <a:xfrm>
            <a:off x="5184648" y="3346704"/>
            <a:ext cx="237744" cy="128016"/>
          </a:xfrm>
          <a:prstGeom prst="rightArrow">
            <a:avLst/>
          </a:prstGeom>
          <a:solidFill>
            <a:srgbClr val="FF6C00"/>
          </a:solidFill>
          <a:ln/>
        </p:spPr>
      </p:sp>
      <p:sp>
        <p:nvSpPr>
          <p:cNvPr id="16" name="Shape 14"/>
          <p:cNvSpPr/>
          <p:nvPr/>
        </p:nvSpPr>
        <p:spPr>
          <a:xfrm>
            <a:off x="5486400" y="3218688"/>
            <a:ext cx="6080760" cy="384048"/>
          </a:xfrm>
          <a:prstGeom prst="roundRect">
            <a:avLst>
              <a:gd name="adj" fmla="val 21429"/>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7" name="Text 15"/>
          <p:cNvSpPr/>
          <p:nvPr/>
        </p:nvSpPr>
        <p:spPr>
          <a:xfrm>
            <a:off x="5742432" y="3218688"/>
            <a:ext cx="56692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Mosaic AI Vector Search (bge-large embeddings)</a:t>
            </a:r>
            <a:endParaRPr lang="en-US" sz="1150" dirty="0"/>
          </a:p>
        </p:txBody>
      </p:sp>
      <p:sp>
        <p:nvSpPr>
          <p:cNvPr id="18" name="Shape 16"/>
          <p:cNvSpPr/>
          <p:nvPr/>
        </p:nvSpPr>
        <p:spPr>
          <a:xfrm>
            <a:off x="640080" y="3675888"/>
            <a:ext cx="4480560" cy="384048"/>
          </a:xfrm>
          <a:prstGeom prst="roundRect">
            <a:avLst>
              <a:gd name="adj" fmla="val 21429"/>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19" name="Text 17"/>
          <p:cNvSpPr/>
          <p:nvPr/>
        </p:nvSpPr>
        <p:spPr>
          <a:xfrm>
            <a:off x="896112" y="3675888"/>
            <a:ext cx="40690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In-code function allowlist</a:t>
            </a:r>
            <a:endParaRPr lang="en-US" sz="1150" dirty="0"/>
          </a:p>
        </p:txBody>
      </p:sp>
      <p:sp>
        <p:nvSpPr>
          <p:cNvPr id="20" name="Shape 18"/>
          <p:cNvSpPr/>
          <p:nvPr/>
        </p:nvSpPr>
        <p:spPr>
          <a:xfrm>
            <a:off x="5184648" y="3803904"/>
            <a:ext cx="237744" cy="128016"/>
          </a:xfrm>
          <a:prstGeom prst="rightArrow">
            <a:avLst/>
          </a:prstGeom>
          <a:solidFill>
            <a:srgbClr val="FF6C00"/>
          </a:solidFill>
          <a:ln/>
        </p:spPr>
      </p:sp>
      <p:sp>
        <p:nvSpPr>
          <p:cNvPr id="21" name="Shape 19"/>
          <p:cNvSpPr/>
          <p:nvPr/>
        </p:nvSpPr>
        <p:spPr>
          <a:xfrm>
            <a:off x="5486400" y="3675888"/>
            <a:ext cx="6080760" cy="384048"/>
          </a:xfrm>
          <a:prstGeom prst="roundRect">
            <a:avLst>
              <a:gd name="adj" fmla="val 21429"/>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2" name="Text 20"/>
          <p:cNvSpPr/>
          <p:nvPr/>
        </p:nvSpPr>
        <p:spPr>
          <a:xfrm>
            <a:off x="5742432" y="3675888"/>
            <a:ext cx="56692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GRANT EXECUTE ON FUNCTION</a:t>
            </a:r>
            <a:endParaRPr lang="en-US" sz="1150" dirty="0"/>
          </a:p>
        </p:txBody>
      </p:sp>
      <p:sp>
        <p:nvSpPr>
          <p:cNvPr id="23" name="Shape 21"/>
          <p:cNvSpPr/>
          <p:nvPr/>
        </p:nvSpPr>
        <p:spPr>
          <a:xfrm>
            <a:off x="640080" y="4133088"/>
            <a:ext cx="4480560" cy="384048"/>
          </a:xfrm>
          <a:prstGeom prst="roundRect">
            <a:avLst>
              <a:gd name="adj" fmla="val 21429"/>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4" name="Text 22"/>
          <p:cNvSpPr/>
          <p:nvPr/>
        </p:nvSpPr>
        <p:spPr>
          <a:xfrm>
            <a:off x="896112" y="4133088"/>
            <a:ext cx="40690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Principal directory + row scopes</a:t>
            </a:r>
            <a:endParaRPr lang="en-US" sz="1150" dirty="0"/>
          </a:p>
        </p:txBody>
      </p:sp>
      <p:sp>
        <p:nvSpPr>
          <p:cNvPr id="25" name="Shape 23"/>
          <p:cNvSpPr/>
          <p:nvPr/>
        </p:nvSpPr>
        <p:spPr>
          <a:xfrm>
            <a:off x="5184648" y="4261104"/>
            <a:ext cx="237744" cy="128016"/>
          </a:xfrm>
          <a:prstGeom prst="rightArrow">
            <a:avLst/>
          </a:prstGeom>
          <a:solidFill>
            <a:srgbClr val="FF6C00"/>
          </a:solidFill>
          <a:ln/>
        </p:spPr>
      </p:sp>
      <p:sp>
        <p:nvSpPr>
          <p:cNvPr id="26" name="Shape 24"/>
          <p:cNvSpPr/>
          <p:nvPr/>
        </p:nvSpPr>
        <p:spPr>
          <a:xfrm>
            <a:off x="5486400" y="4133088"/>
            <a:ext cx="6080760" cy="384048"/>
          </a:xfrm>
          <a:prstGeom prst="roundRect">
            <a:avLst>
              <a:gd name="adj" fmla="val 21429"/>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7" name="Text 25"/>
          <p:cNvSpPr/>
          <p:nvPr/>
        </p:nvSpPr>
        <p:spPr>
          <a:xfrm>
            <a:off x="5742432" y="4133088"/>
            <a:ext cx="56692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Workspace identities + Unity Catalog row filters</a:t>
            </a:r>
            <a:endParaRPr lang="en-US" sz="1150" dirty="0"/>
          </a:p>
        </p:txBody>
      </p:sp>
      <p:sp>
        <p:nvSpPr>
          <p:cNvPr id="28" name="Shape 26"/>
          <p:cNvSpPr/>
          <p:nvPr/>
        </p:nvSpPr>
        <p:spPr>
          <a:xfrm>
            <a:off x="640080" y="4590288"/>
            <a:ext cx="4480560" cy="384048"/>
          </a:xfrm>
          <a:prstGeom prst="roundRect">
            <a:avLst>
              <a:gd name="adj" fmla="val 21429"/>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29" name="Text 27"/>
          <p:cNvSpPr/>
          <p:nvPr/>
        </p:nvSpPr>
        <p:spPr>
          <a:xfrm>
            <a:off x="896112" y="4590288"/>
            <a:ext cx="40690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Append-only audit log</a:t>
            </a:r>
            <a:endParaRPr lang="en-US" sz="1150" dirty="0"/>
          </a:p>
        </p:txBody>
      </p:sp>
      <p:sp>
        <p:nvSpPr>
          <p:cNvPr id="30" name="Shape 28"/>
          <p:cNvSpPr/>
          <p:nvPr/>
        </p:nvSpPr>
        <p:spPr>
          <a:xfrm>
            <a:off x="5184648" y="4718304"/>
            <a:ext cx="237744" cy="128016"/>
          </a:xfrm>
          <a:prstGeom prst="rightArrow">
            <a:avLst/>
          </a:prstGeom>
          <a:solidFill>
            <a:srgbClr val="FF6C00"/>
          </a:solidFill>
          <a:ln/>
        </p:spPr>
      </p:sp>
      <p:sp>
        <p:nvSpPr>
          <p:cNvPr id="31" name="Shape 29"/>
          <p:cNvSpPr/>
          <p:nvPr/>
        </p:nvSpPr>
        <p:spPr>
          <a:xfrm>
            <a:off x="5486400" y="4590288"/>
            <a:ext cx="6080760" cy="384048"/>
          </a:xfrm>
          <a:prstGeom prst="roundRect">
            <a:avLst>
              <a:gd name="adj" fmla="val 21429"/>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32" name="Text 30"/>
          <p:cNvSpPr/>
          <p:nvPr/>
        </p:nvSpPr>
        <p:spPr>
          <a:xfrm>
            <a:off x="5742432" y="4590288"/>
            <a:ext cx="56692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Delta audit table with retention, or your SIEM</a:t>
            </a:r>
            <a:endParaRPr lang="en-US" sz="1150" dirty="0"/>
          </a:p>
        </p:txBody>
      </p:sp>
      <p:sp>
        <p:nvSpPr>
          <p:cNvPr id="33" name="Shape 31"/>
          <p:cNvSpPr/>
          <p:nvPr/>
        </p:nvSpPr>
        <p:spPr>
          <a:xfrm>
            <a:off x="640080" y="5047488"/>
            <a:ext cx="4480560" cy="384048"/>
          </a:xfrm>
          <a:prstGeom prst="roundRect">
            <a:avLst>
              <a:gd name="adj" fmla="val 21429"/>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34" name="Text 32"/>
          <p:cNvSpPr/>
          <p:nvPr/>
        </p:nvSpPr>
        <p:spPr>
          <a:xfrm>
            <a:off x="896112" y="5047488"/>
            <a:ext cx="40690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Local deterministic planner</a:t>
            </a:r>
            <a:endParaRPr lang="en-US" sz="1150" dirty="0"/>
          </a:p>
        </p:txBody>
      </p:sp>
      <p:sp>
        <p:nvSpPr>
          <p:cNvPr id="35" name="Shape 33"/>
          <p:cNvSpPr/>
          <p:nvPr/>
        </p:nvSpPr>
        <p:spPr>
          <a:xfrm>
            <a:off x="5184648" y="5175504"/>
            <a:ext cx="237744" cy="128016"/>
          </a:xfrm>
          <a:prstGeom prst="rightArrow">
            <a:avLst/>
          </a:prstGeom>
          <a:solidFill>
            <a:srgbClr val="FF6C00"/>
          </a:solidFill>
          <a:ln/>
        </p:spPr>
      </p:sp>
      <p:sp>
        <p:nvSpPr>
          <p:cNvPr id="36" name="Shape 34"/>
          <p:cNvSpPr/>
          <p:nvPr/>
        </p:nvSpPr>
        <p:spPr>
          <a:xfrm>
            <a:off x="5486400" y="5047488"/>
            <a:ext cx="6080760" cy="384048"/>
          </a:xfrm>
          <a:prstGeom prst="roundRect">
            <a:avLst>
              <a:gd name="adj" fmla="val 21429"/>
            </a:avLst>
          </a:prstGeom>
          <a:solidFill>
            <a:srgbClr val="1F2C3A"/>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37" name="Text 35"/>
          <p:cNvSpPr/>
          <p:nvPr/>
        </p:nvSpPr>
        <p:spPr>
          <a:xfrm>
            <a:off x="5742432" y="5047488"/>
            <a:ext cx="56692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Databricks Model Serving (Llama 3 / DBRX) in your VPC</a:t>
            </a:r>
            <a:endParaRPr lang="en-US" sz="1150" dirty="0"/>
          </a:p>
        </p:txBody>
      </p:sp>
      <p:sp>
        <p:nvSpPr>
          <p:cNvPr id="38" name="Shape 36"/>
          <p:cNvSpPr/>
          <p:nvPr/>
        </p:nvSpPr>
        <p:spPr>
          <a:xfrm>
            <a:off x="640080" y="5504688"/>
            <a:ext cx="4480560" cy="384048"/>
          </a:xfrm>
          <a:prstGeom prst="roundRect">
            <a:avLst>
              <a:gd name="adj" fmla="val 21429"/>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39" name="Text 37"/>
          <p:cNvSpPr/>
          <p:nvPr/>
        </p:nvSpPr>
        <p:spPr>
          <a:xfrm>
            <a:off x="896112" y="5504688"/>
            <a:ext cx="40690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Synthetic JSON generator</a:t>
            </a:r>
            <a:endParaRPr lang="en-US" sz="1150" dirty="0"/>
          </a:p>
        </p:txBody>
      </p:sp>
      <p:sp>
        <p:nvSpPr>
          <p:cNvPr id="40" name="Shape 38"/>
          <p:cNvSpPr/>
          <p:nvPr/>
        </p:nvSpPr>
        <p:spPr>
          <a:xfrm>
            <a:off x="5184648" y="5632704"/>
            <a:ext cx="237744" cy="128016"/>
          </a:xfrm>
          <a:prstGeom prst="rightArrow">
            <a:avLst/>
          </a:prstGeom>
          <a:solidFill>
            <a:srgbClr val="FF6C00"/>
          </a:solidFill>
          <a:ln/>
        </p:spPr>
      </p:sp>
      <p:sp>
        <p:nvSpPr>
          <p:cNvPr id="41" name="Shape 39"/>
          <p:cNvSpPr/>
          <p:nvPr/>
        </p:nvSpPr>
        <p:spPr>
          <a:xfrm>
            <a:off x="5486400" y="5504688"/>
            <a:ext cx="6080760" cy="384048"/>
          </a:xfrm>
          <a:prstGeom prst="roundRect">
            <a:avLst>
              <a:gd name="adj" fmla="val 21429"/>
            </a:avLst>
          </a:prstGeom>
          <a:solidFill>
            <a:srgbClr val="18232F"/>
          </a:solidFill>
          <a:ln w="12700">
            <a:solidFill>
              <a:srgbClr val="2A3745"/>
            </a:solidFill>
            <a:prstDash val="solid"/>
          </a:ln>
          <a:effectLst>
            <a:outerShdw sx="100000" sy="100000" kx="0" ky="0" algn="bl" rotWithShape="0" blurRad="114300" dist="38100" dir="5400000">
              <a:srgbClr val="000000">
                <a:alpha val="28000"/>
              </a:srgbClr>
            </a:outerShdw>
          </a:effectLst>
        </p:spPr>
      </p:sp>
      <p:sp>
        <p:nvSpPr>
          <p:cNvPr id="42" name="Text 40"/>
          <p:cNvSpPr/>
          <p:nvPr/>
        </p:nvSpPr>
        <p:spPr>
          <a:xfrm>
            <a:off x="5742432" y="5504688"/>
            <a:ext cx="5669280" cy="384048"/>
          </a:xfrm>
          <a:prstGeom prst="rect">
            <a:avLst/>
          </a:prstGeom>
          <a:noFill/>
          <a:ln/>
        </p:spPr>
        <p:txBody>
          <a:bodyPr wrap="square" lIns="0" tIns="0" rIns="0" bIns="0" rtlCol="0" anchor="ctr"/>
          <a:lstStyle/>
          <a:p>
            <a:pPr indent="0" marL="0">
              <a:buNone/>
            </a:pPr>
            <a:r>
              <a:rPr lang="en-US" sz="1150" dirty="0">
                <a:solidFill>
                  <a:srgbClr val="E9EEF3"/>
                </a:solidFill>
                <a:latin typeface="Calibri" pitchFamily="34" charset="0"/>
                <a:ea typeface="Calibri" pitchFamily="34" charset="-122"/>
                <a:cs typeface="Calibri" pitchFamily="34" charset="-120"/>
              </a:rPr>
              <a:t>Kafka streams / cloud storage via Auto Loader</a:t>
            </a:r>
            <a:endParaRPr lang="en-US" sz="1150" dirty="0"/>
          </a:p>
        </p:txBody>
      </p:sp>
      <p:sp>
        <p:nvSpPr>
          <p:cNvPr id="43" name="Text 41"/>
          <p:cNvSpPr/>
          <p:nvPr/>
        </p:nvSpPr>
        <p:spPr>
          <a:xfrm>
            <a:off x="640080" y="6053328"/>
            <a:ext cx="10881360" cy="274320"/>
          </a:xfrm>
          <a:prstGeom prst="rect">
            <a:avLst/>
          </a:prstGeom>
          <a:noFill/>
          <a:ln/>
        </p:spPr>
        <p:txBody>
          <a:bodyPr wrap="square" lIns="0" tIns="0" rIns="0" bIns="0" rtlCol="0" anchor="ctr"/>
          <a:lstStyle/>
          <a:p>
            <a:pPr indent="0" marL="0">
              <a:buNone/>
            </a:pPr>
            <a:r>
              <a:rPr lang="en-US" sz="1400" i="1" dirty="0">
                <a:solidFill>
                  <a:srgbClr val="93A1AF"/>
                </a:solidFill>
                <a:latin typeface="Calibri" pitchFamily="34" charset="0"/>
                <a:ea typeface="Calibri" pitchFamily="34" charset="-122"/>
                <a:cs typeface="Calibri" pitchFamily="34" charset="-120"/>
              </a:rPr>
              <a:t>Point DATABRICKS_HOST / DATABRICKS_TOKEN at a workspace and the same call path routes to the served model.</a:t>
            </a:r>
            <a:endParaRPr lang="en-US" sz="1400" dirty="0"/>
          </a:p>
        </p:txBody>
      </p:sp>
      <p:sp>
        <p:nvSpPr>
          <p:cNvPr id="44" name="Text 42"/>
          <p:cNvSpPr/>
          <p:nvPr/>
        </p:nvSpPr>
        <p:spPr>
          <a:xfrm>
            <a:off x="11277295" y="6400800"/>
            <a:ext cx="548640" cy="274320"/>
          </a:xfrm>
          <a:prstGeom prst="rect">
            <a:avLst/>
          </a:prstGeom>
          <a:noFill/>
          <a:ln/>
        </p:spPr>
        <p:txBody>
          <a:bodyPr wrap="square" lIns="0" tIns="0" rIns="0" bIns="0" rtlCol="0" anchor="ctr"/>
          <a:lstStyle/>
          <a:p>
            <a:pPr algn="r" indent="0" marL="0">
              <a:buNone/>
            </a:pPr>
            <a:r>
              <a:rPr lang="en-US" sz="1000" dirty="0">
                <a:solidFill>
                  <a:srgbClr val="6C7C8A"/>
                </a:solidFill>
                <a:latin typeface="Calibri" pitchFamily="34" charset="0"/>
                <a:ea typeface="Calibri" pitchFamily="34" charset="-122"/>
                <a:cs typeface="Calibri" pitchFamily="34" charset="-120"/>
              </a:rPr>
              <a:t>14</a:t>
            </a:r>
            <a:endParaRPr lang="en-US" sz="1000" dirty="0"/>
          </a:p>
        </p:txBody>
      </p:sp>
      <p:sp>
        <p:nvSpPr>
          <p:cNvPr id="45" name="Text 43"/>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rgbClr val="6C7C8A"/>
                </a:solidFill>
                <a:latin typeface="Calibri" pitchFamily="34" charset="0"/>
                <a:ea typeface="Calibri" pitchFamily="34" charset="-122"/>
                <a:cs typeface="Calibri" pitchFamily="34" charset="-120"/>
              </a:rPr>
              <a:t>IntelligenceStack</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1B"/>
        </a:solidFill>
      </p:bgPr>
    </p:bg>
    <p:spTree>
      <p:nvGrpSpPr>
        <p:cNvPr id="1" name=""/>
        <p:cNvGrpSpPr/>
        <p:nvPr/>
      </p:nvGrpSpPr>
      <p:grpSpPr>
        <a:xfrm>
          <a:off x="0" y="0"/>
          <a:ext cx="0" cy="0"/>
          <a:chOff x="0" y="0"/>
          <a:chExt cx="0" cy="0"/>
        </a:xfrm>
      </p:grpSpPr>
      <p:sp>
        <p:nvSpPr>
          <p:cNvPr id="2" name="Shape 0"/>
          <p:cNvSpPr/>
          <p:nvPr/>
        </p:nvSpPr>
        <p:spPr>
          <a:xfrm>
            <a:off x="9966960" y="777240"/>
            <a:ext cx="1371600" cy="219456"/>
          </a:xfrm>
          <a:prstGeom prst="roundRect">
            <a:avLst>
              <a:gd name="adj" fmla="val 20833"/>
            </a:avLst>
          </a:prstGeom>
          <a:solidFill>
            <a:srgbClr val="FF6C00"/>
          </a:solidFill>
          <a:ln/>
        </p:spPr>
      </p:sp>
      <p:sp>
        <p:nvSpPr>
          <p:cNvPr id="3" name="Shape 1"/>
          <p:cNvSpPr/>
          <p:nvPr/>
        </p:nvSpPr>
        <p:spPr>
          <a:xfrm>
            <a:off x="9966960" y="1088136"/>
            <a:ext cx="1371600" cy="219456"/>
          </a:xfrm>
          <a:prstGeom prst="roundRect">
            <a:avLst>
              <a:gd name="adj" fmla="val 20833"/>
            </a:avLst>
          </a:prstGeom>
          <a:solidFill>
            <a:srgbClr val="FF8A3D"/>
          </a:solidFill>
          <a:ln/>
        </p:spPr>
      </p:sp>
      <p:sp>
        <p:nvSpPr>
          <p:cNvPr id="4" name="Shape 2"/>
          <p:cNvSpPr/>
          <p:nvPr/>
        </p:nvSpPr>
        <p:spPr>
          <a:xfrm>
            <a:off x="9966960" y="1399032"/>
            <a:ext cx="1371600" cy="219456"/>
          </a:xfrm>
          <a:prstGeom prst="roundRect">
            <a:avLst>
              <a:gd name="adj" fmla="val 20833"/>
            </a:avLst>
          </a:prstGeom>
          <a:solidFill>
            <a:srgbClr val="C25200"/>
          </a:solidFill>
          <a:ln/>
        </p:spPr>
      </p:sp>
      <p:sp>
        <p:nvSpPr>
          <p:cNvPr id="5" name="Text 3"/>
          <p:cNvSpPr/>
          <p:nvPr/>
        </p:nvSpPr>
        <p:spPr>
          <a:xfrm>
            <a:off x="640080" y="2011680"/>
            <a:ext cx="1005840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THE TAKEAWAY</a:t>
            </a:r>
            <a:endParaRPr lang="en-US" sz="1300" dirty="0"/>
          </a:p>
        </p:txBody>
      </p:sp>
      <p:sp>
        <p:nvSpPr>
          <p:cNvPr id="6" name="Text 4"/>
          <p:cNvSpPr/>
          <p:nvPr/>
        </p:nvSpPr>
        <p:spPr>
          <a:xfrm>
            <a:off x="640080" y="2468880"/>
            <a:ext cx="10607040" cy="1371600"/>
          </a:xfrm>
          <a:prstGeom prst="rect">
            <a:avLst/>
          </a:prstGeom>
          <a:noFill/>
          <a:ln/>
        </p:spPr>
        <p:txBody>
          <a:bodyPr wrap="square" lIns="0" tIns="0" rIns="0" bIns="0" rtlCol="0" anchor="ctr"/>
          <a:lstStyle/>
          <a:p>
            <a:pPr indent="0" marL="0">
              <a:lnSpc>
                <a:spcPct val="110000"/>
              </a:lnSpc>
              <a:buNone/>
            </a:pPr>
            <a:r>
              <a:rPr lang="en-US" sz="3400" b="1" dirty="0">
                <a:solidFill>
                  <a:srgbClr val="E9EEF3"/>
                </a:solidFill>
                <a:latin typeface="Cambria" pitchFamily="34" charset="0"/>
                <a:ea typeface="Cambria" pitchFamily="34" charset="-122"/>
                <a:cs typeface="Cambria" pitchFamily="34" charset="-120"/>
              </a:rPr>
              <a:t>Enterprises no longer have to choose between</a:t>
            </a:r>
            <a:endParaRPr lang="en-US" sz="3400" dirty="0"/>
          </a:p>
          <a:p>
            <a:pPr indent="0" marL="0">
              <a:lnSpc>
                <a:spcPct val="110000"/>
              </a:lnSpc>
              <a:buNone/>
            </a:pPr>
            <a:r>
              <a:rPr lang="en-US" sz="3400" b="1" dirty="0">
                <a:solidFill>
                  <a:srgbClr val="E9EEF3"/>
                </a:solidFill>
                <a:latin typeface="Cambria" pitchFamily="34" charset="0"/>
                <a:ea typeface="Cambria" pitchFamily="34" charset="-122"/>
                <a:cs typeface="Cambria" pitchFamily="34" charset="-120"/>
              </a:rPr>
              <a:t>agentic AI and data governance.</a:t>
            </a:r>
            <a:endParaRPr lang="en-US" sz="3400" dirty="0"/>
          </a:p>
        </p:txBody>
      </p:sp>
      <p:sp>
        <p:nvSpPr>
          <p:cNvPr id="7" name="Text 5"/>
          <p:cNvSpPr/>
          <p:nvPr/>
        </p:nvSpPr>
        <p:spPr>
          <a:xfrm>
            <a:off x="640080" y="3977640"/>
            <a:ext cx="10424160" cy="731520"/>
          </a:xfrm>
          <a:prstGeom prst="rect">
            <a:avLst/>
          </a:prstGeom>
          <a:noFill/>
          <a:ln/>
        </p:spPr>
        <p:txBody>
          <a:bodyPr wrap="square" lIns="0" tIns="0" rIns="0" bIns="0" rtlCol="0" anchor="ctr"/>
          <a:lstStyle/>
          <a:p>
            <a:pPr indent="0" marL="0">
              <a:lnSpc>
                <a:spcPct val="115000"/>
              </a:lnSpc>
              <a:buNone/>
            </a:pPr>
            <a:r>
              <a:rPr lang="en-US" sz="1700" dirty="0">
                <a:solidFill>
                  <a:srgbClr val="93A1AF"/>
                </a:solidFill>
                <a:latin typeface="Calibri" pitchFamily="34" charset="0"/>
                <a:ea typeface="Calibri" pitchFamily="34" charset="-122"/>
                <a:cs typeface="Calibri" pitchFamily="34" charset="-120"/>
              </a:rPr>
              <a:t>Proven with running code — real answers, cited guidance, an enforced boundary, per-caller entitlements, and a durable record of every decision.</a:t>
            </a:r>
            <a:endParaRPr lang="en-US" sz="1700" dirty="0"/>
          </a:p>
        </p:txBody>
      </p:sp>
      <p:sp>
        <p:nvSpPr>
          <p:cNvPr id="8" name="Shape 6"/>
          <p:cNvSpPr/>
          <p:nvPr/>
        </p:nvSpPr>
        <p:spPr>
          <a:xfrm>
            <a:off x="640080" y="4937760"/>
            <a:ext cx="10972800" cy="0"/>
          </a:xfrm>
          <a:prstGeom prst="line">
            <a:avLst/>
          </a:prstGeom>
          <a:noFill/>
          <a:ln w="12700">
            <a:solidFill>
              <a:srgbClr val="2A3745"/>
            </a:solidFill>
            <a:prstDash val="solid"/>
          </a:ln>
        </p:spPr>
      </p:sp>
      <p:sp>
        <p:nvSpPr>
          <p:cNvPr id="9" name="Text 7"/>
          <p:cNvSpPr/>
          <p:nvPr/>
        </p:nvSpPr>
        <p:spPr>
          <a:xfrm>
            <a:off x="640080" y="5166360"/>
            <a:ext cx="3520440" cy="320040"/>
          </a:xfrm>
          <a:prstGeom prst="rect">
            <a:avLst/>
          </a:prstGeom>
          <a:noFill/>
          <a:ln/>
        </p:spPr>
        <p:txBody>
          <a:bodyPr wrap="square" lIns="0" tIns="0" rIns="0" bIns="0" rtlCol="0" anchor="ctr"/>
          <a:lstStyle/>
          <a:p>
            <a:pPr indent="0" marL="0">
              <a:buNone/>
            </a:pPr>
            <a:r>
              <a:rPr lang="en-US" sz="1250" b="1" dirty="0">
                <a:solidFill>
                  <a:srgbClr val="FF8A3D"/>
                </a:solidFill>
                <a:latin typeface="Calibri" pitchFamily="34" charset="0"/>
                <a:ea typeface="Calibri" pitchFamily="34" charset="-122"/>
                <a:cs typeface="Calibri" pitchFamily="34" charset="-120"/>
              </a:rPr>
              <a:t>NEXT: PILOT</a:t>
            </a:r>
            <a:endParaRPr lang="en-US" sz="1250" dirty="0"/>
          </a:p>
        </p:txBody>
      </p:sp>
      <p:sp>
        <p:nvSpPr>
          <p:cNvPr id="10" name="Text 8"/>
          <p:cNvSpPr/>
          <p:nvPr/>
        </p:nvSpPr>
        <p:spPr>
          <a:xfrm>
            <a:off x="640080" y="5468112"/>
            <a:ext cx="3429000" cy="731520"/>
          </a:xfrm>
          <a:prstGeom prst="rect">
            <a:avLst/>
          </a:prstGeom>
          <a:noFill/>
          <a:ln/>
        </p:spPr>
        <p:txBody>
          <a:bodyPr wrap="square" lIns="0" tIns="0" rIns="0" bIns="0" rtlCol="0" anchor="ctr"/>
          <a:lstStyle/>
          <a:p>
            <a:pPr indent="0" marL="0">
              <a:lnSpc>
                <a:spcPct val="108000"/>
              </a:lnSpc>
              <a:buNone/>
            </a:pPr>
            <a:r>
              <a:rPr lang="en-US" sz="1300" dirty="0">
                <a:solidFill>
                  <a:srgbClr val="93A1AF"/>
                </a:solidFill>
                <a:latin typeface="Calibri" pitchFamily="34" charset="0"/>
                <a:ea typeface="Calibri" pitchFamily="34" charset="-122"/>
                <a:cs typeface="Calibri" pitchFamily="34" charset="-120"/>
              </a:rPr>
              <a:t>Point it at one governed dataset in a workspace</a:t>
            </a:r>
            <a:endParaRPr lang="en-US" sz="1300" dirty="0"/>
          </a:p>
        </p:txBody>
      </p:sp>
      <p:sp>
        <p:nvSpPr>
          <p:cNvPr id="11" name="Text 9"/>
          <p:cNvSpPr/>
          <p:nvPr/>
        </p:nvSpPr>
        <p:spPr>
          <a:xfrm>
            <a:off x="4343400" y="5166360"/>
            <a:ext cx="3520440" cy="320040"/>
          </a:xfrm>
          <a:prstGeom prst="rect">
            <a:avLst/>
          </a:prstGeom>
          <a:noFill/>
          <a:ln/>
        </p:spPr>
        <p:txBody>
          <a:bodyPr wrap="square" lIns="0" tIns="0" rIns="0" bIns="0" rtlCol="0" anchor="ctr"/>
          <a:lstStyle/>
          <a:p>
            <a:pPr indent="0" marL="0">
              <a:buNone/>
            </a:pPr>
            <a:r>
              <a:rPr lang="en-US" sz="1250" b="1" dirty="0">
                <a:solidFill>
                  <a:srgbClr val="FF8A3D"/>
                </a:solidFill>
                <a:latin typeface="Calibri" pitchFamily="34" charset="0"/>
                <a:ea typeface="Calibri" pitchFamily="34" charset="-122"/>
                <a:cs typeface="Calibri" pitchFamily="34" charset="-120"/>
              </a:rPr>
              <a:t>NEXT: EXTEND</a:t>
            </a:r>
            <a:endParaRPr lang="en-US" sz="1250" dirty="0"/>
          </a:p>
        </p:txBody>
      </p:sp>
      <p:sp>
        <p:nvSpPr>
          <p:cNvPr id="12" name="Text 10"/>
          <p:cNvSpPr/>
          <p:nvPr/>
        </p:nvSpPr>
        <p:spPr>
          <a:xfrm>
            <a:off x="4343400" y="5468112"/>
            <a:ext cx="3429000" cy="731520"/>
          </a:xfrm>
          <a:prstGeom prst="rect">
            <a:avLst/>
          </a:prstGeom>
          <a:noFill/>
          <a:ln/>
        </p:spPr>
        <p:txBody>
          <a:bodyPr wrap="square" lIns="0" tIns="0" rIns="0" bIns="0" rtlCol="0" anchor="ctr"/>
          <a:lstStyle/>
          <a:p>
            <a:pPr indent="0" marL="0">
              <a:lnSpc>
                <a:spcPct val="108000"/>
              </a:lnSpc>
              <a:buNone/>
            </a:pPr>
            <a:r>
              <a:rPr lang="en-US" sz="1300" dirty="0">
                <a:solidFill>
                  <a:srgbClr val="93A1AF"/>
                </a:solidFill>
                <a:latin typeface="Calibri" pitchFamily="34" charset="0"/>
                <a:ea typeface="Calibri" pitchFamily="34" charset="-122"/>
                <a:cs typeface="Calibri" pitchFamily="34" charset="-120"/>
              </a:rPr>
              <a:t>Register the next approved function on the allowlist</a:t>
            </a:r>
            <a:endParaRPr lang="en-US" sz="1300" dirty="0"/>
          </a:p>
        </p:txBody>
      </p:sp>
      <p:sp>
        <p:nvSpPr>
          <p:cNvPr id="13" name="Text 11"/>
          <p:cNvSpPr/>
          <p:nvPr/>
        </p:nvSpPr>
        <p:spPr>
          <a:xfrm>
            <a:off x="8046720" y="5166360"/>
            <a:ext cx="3520440" cy="320040"/>
          </a:xfrm>
          <a:prstGeom prst="rect">
            <a:avLst/>
          </a:prstGeom>
          <a:noFill/>
          <a:ln/>
        </p:spPr>
        <p:txBody>
          <a:bodyPr wrap="square" lIns="0" tIns="0" rIns="0" bIns="0" rtlCol="0" anchor="ctr"/>
          <a:lstStyle/>
          <a:p>
            <a:pPr indent="0" marL="0">
              <a:buNone/>
            </a:pPr>
            <a:r>
              <a:rPr lang="en-US" sz="1250" b="1" dirty="0">
                <a:solidFill>
                  <a:srgbClr val="FF8A3D"/>
                </a:solidFill>
                <a:latin typeface="Calibri" pitchFamily="34" charset="0"/>
                <a:ea typeface="Calibri" pitchFamily="34" charset="-122"/>
                <a:cs typeface="Calibri" pitchFamily="34" charset="-120"/>
              </a:rPr>
              <a:t>NEXT: REVIEW</a:t>
            </a:r>
            <a:endParaRPr lang="en-US" sz="1250" dirty="0"/>
          </a:p>
        </p:txBody>
      </p:sp>
      <p:sp>
        <p:nvSpPr>
          <p:cNvPr id="14" name="Text 12"/>
          <p:cNvSpPr/>
          <p:nvPr/>
        </p:nvSpPr>
        <p:spPr>
          <a:xfrm>
            <a:off x="8046720" y="5468112"/>
            <a:ext cx="3429000" cy="731520"/>
          </a:xfrm>
          <a:prstGeom prst="rect">
            <a:avLst/>
          </a:prstGeom>
          <a:noFill/>
          <a:ln/>
        </p:spPr>
        <p:txBody>
          <a:bodyPr wrap="square" lIns="0" tIns="0" rIns="0" bIns="0" rtlCol="0" anchor="ctr"/>
          <a:lstStyle/>
          <a:p>
            <a:pPr indent="0" marL="0">
              <a:lnSpc>
                <a:spcPct val="108000"/>
              </a:lnSpc>
              <a:buNone/>
            </a:pPr>
            <a:r>
              <a:rPr lang="en-US" sz="1300" dirty="0">
                <a:solidFill>
                  <a:srgbClr val="93A1AF"/>
                </a:solidFill>
                <a:latin typeface="Calibri" pitchFamily="34" charset="0"/>
                <a:ea typeface="Calibri" pitchFamily="34" charset="-122"/>
                <a:cs typeface="Calibri" pitchFamily="34" charset="-120"/>
              </a:rPr>
              <a:t>Walk security through the boundary and the audit trail</a:t>
            </a:r>
            <a:endParaRPr lang="en-US" sz="1300" dirty="0"/>
          </a:p>
        </p:txBody>
      </p:sp>
      <p:sp>
        <p:nvSpPr>
          <p:cNvPr id="15" name="Text 13"/>
          <p:cNvSpPr/>
          <p:nvPr/>
        </p:nvSpPr>
        <p:spPr>
          <a:xfrm>
            <a:off x="640080" y="6355080"/>
            <a:ext cx="10972800" cy="320040"/>
          </a:xfrm>
          <a:prstGeom prst="rect">
            <a:avLst/>
          </a:prstGeom>
          <a:noFill/>
          <a:ln/>
        </p:spPr>
        <p:txBody>
          <a:bodyPr wrap="square" lIns="0" tIns="0" rIns="0" bIns="0" rtlCol="0" anchor="ctr"/>
          <a:lstStyle/>
          <a:p>
            <a:pPr indent="0" marL="0">
              <a:buNone/>
            </a:pPr>
            <a:r>
              <a:rPr lang="en-US" sz="1250" dirty="0">
                <a:solidFill>
                  <a:srgbClr val="6C7C8A"/>
                </a:solidFill>
                <a:latin typeface="Calibri" pitchFamily="34" charset="0"/>
                <a:ea typeface="Calibri" pitchFamily="34" charset="-122"/>
                <a:cs typeface="Calibri" pitchFamily="34" charset="-120"/>
              </a:rPr>
              <a:t>github.com/atharvvani464/IntelligenceStack   ·   runs locally in four commands   ·   77 tests, green in CI</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IntelligenceStack — Executive Briefing</dc:title>
  <dc:subject>PptxGenJS Presentation</dc:subject>
  <dc:creator>Atharv Vani</dc:creator>
  <cp:lastModifiedBy>Atharv Vani</cp:lastModifiedBy>
  <cp:revision>1</cp:revision>
  <dcterms:created xsi:type="dcterms:W3CDTF">2026-08-16T08:29:51Z</dcterms:created>
  <dcterms:modified xsi:type="dcterms:W3CDTF">2026-08-16T08:29:51Z</dcterms:modified>
</cp:coreProperties>
</file>